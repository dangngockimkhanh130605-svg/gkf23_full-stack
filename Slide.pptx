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Calibri (MS) Bold" charset="1" panose="020F0702030404030204"/>
      <p:regular r:id="rId26"/>
    </p:embeddedFont>
    <p:embeddedFont>
      <p:font typeface="Calibri (MS)" charset="1" panose="020F0502020204030204"/>
      <p:regular r:id="rId27"/>
    </p:embeddedFont>
    <p:embeddedFont>
      <p:font typeface="Consolas" charset="1" panose="020B0609020204030204"/>
      <p:regular r:id="rId28"/>
    </p:embeddedFont>
    <p:embeddedFont>
      <p:font typeface="Consolas Bold" charset="1" panose="020B070902020403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88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03303" y="-12697"/>
            <a:ext cx="4597403" cy="10312403"/>
            <a:chOff x="0" y="0"/>
            <a:chExt cx="6129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609600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976D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297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6129782">
                  <a:moveTo>
                    <a:pt x="16891" y="0"/>
                  </a:moveTo>
                  <a:lnTo>
                    <a:pt x="6112891" y="0"/>
                  </a:lnTo>
                  <a:cubicBezTo>
                    <a:pt x="6122289" y="0"/>
                    <a:pt x="6129782" y="7620"/>
                    <a:pt x="6129782" y="16891"/>
                  </a:cubicBezTo>
                  <a:lnTo>
                    <a:pt x="6129782" y="13732890"/>
                  </a:lnTo>
                  <a:cubicBezTo>
                    <a:pt x="6129782" y="13742290"/>
                    <a:pt x="6122162" y="13749782"/>
                    <a:pt x="611289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6112891" y="13716000"/>
                  </a:lnTo>
                  <a:lnTo>
                    <a:pt x="6112891" y="13732890"/>
                  </a:lnTo>
                  <a:lnTo>
                    <a:pt x="6096000" y="13732890"/>
                  </a:lnTo>
                  <a:lnTo>
                    <a:pt x="6096000" y="16891"/>
                  </a:lnTo>
                  <a:lnTo>
                    <a:pt x="6112891" y="16891"/>
                  </a:lnTo>
                  <a:lnTo>
                    <a:pt x="6112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976D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5532103" y="-12697"/>
            <a:ext cx="2768603" cy="10312403"/>
            <a:chOff x="0" y="0"/>
            <a:chExt cx="3691471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365760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913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13732890"/>
                  </a:lnTo>
                  <a:cubicBezTo>
                    <a:pt x="3691382" y="13742290"/>
                    <a:pt x="3683762" y="13749782"/>
                    <a:pt x="367449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674491" y="13716000"/>
                  </a:lnTo>
                  <a:lnTo>
                    <a:pt x="3674491" y="13732890"/>
                  </a:lnTo>
                  <a:lnTo>
                    <a:pt x="3657600" y="13732890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88E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97280" y="3243082"/>
            <a:ext cx="4414523" cy="793499"/>
            <a:chOff x="0" y="0"/>
            <a:chExt cx="5886031" cy="105799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5886031" cy="1057999"/>
              <a:chOff x="0" y="0"/>
              <a:chExt cx="5886031" cy="105799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16891" y="16891"/>
                <a:ext cx="5852160" cy="1024128"/>
              </a:xfrm>
              <a:custGeom>
                <a:avLst/>
                <a:gdLst/>
                <a:ahLst/>
                <a:cxnLst/>
                <a:rect r="r" b="b" t="t" l="l"/>
                <a:pathLst>
                  <a:path h="1024128" w="5852160">
                    <a:moveTo>
                      <a:pt x="0" y="146304"/>
                    </a:moveTo>
                    <a:cubicBezTo>
                      <a:pt x="0" y="65532"/>
                      <a:pt x="67310" y="0"/>
                      <a:pt x="150241" y="0"/>
                    </a:cubicBezTo>
                    <a:lnTo>
                      <a:pt x="5701919" y="0"/>
                    </a:lnTo>
                    <a:cubicBezTo>
                      <a:pt x="5784977" y="0"/>
                      <a:pt x="5852160" y="65532"/>
                      <a:pt x="5852160" y="146304"/>
                    </a:cubicBezTo>
                    <a:lnTo>
                      <a:pt x="5852160" y="877824"/>
                    </a:lnTo>
                    <a:cubicBezTo>
                      <a:pt x="5852160" y="958596"/>
                      <a:pt x="5784850" y="1024128"/>
                      <a:pt x="5701919" y="1024128"/>
                    </a:cubicBezTo>
                    <a:lnTo>
                      <a:pt x="150368" y="1024128"/>
                    </a:lnTo>
                    <a:cubicBezTo>
                      <a:pt x="67310" y="1024128"/>
                      <a:pt x="127" y="958596"/>
                      <a:pt x="127" y="877824"/>
                    </a:cubicBezTo>
                    <a:close/>
                  </a:path>
                </a:pathLst>
              </a:custGeom>
              <a:solidFill>
                <a:srgbClr val="0097A7"/>
              </a:solidFill>
            </p:spPr>
          </p:sp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5886069" cy="1057910"/>
              </a:xfrm>
              <a:custGeom>
                <a:avLst/>
                <a:gdLst/>
                <a:ahLst/>
                <a:cxnLst/>
                <a:rect r="r" b="b" t="t" l="l"/>
                <a:pathLst>
                  <a:path h="1057910" w="5886069">
                    <a:moveTo>
                      <a:pt x="0" y="163195"/>
                    </a:moveTo>
                    <a:cubicBezTo>
                      <a:pt x="0" y="72644"/>
                      <a:pt x="75311" y="0"/>
                      <a:pt x="167259" y="0"/>
                    </a:cubicBezTo>
                    <a:lnTo>
                      <a:pt x="5718810" y="0"/>
                    </a:lnTo>
                    <a:lnTo>
                      <a:pt x="5718810" y="16891"/>
                    </a:lnTo>
                    <a:lnTo>
                      <a:pt x="5718810" y="0"/>
                    </a:lnTo>
                    <a:cubicBezTo>
                      <a:pt x="5810758" y="0"/>
                      <a:pt x="5886069" y="72644"/>
                      <a:pt x="5886069" y="163195"/>
                    </a:cubicBezTo>
                    <a:lnTo>
                      <a:pt x="5869178" y="163195"/>
                    </a:lnTo>
                    <a:lnTo>
                      <a:pt x="5886069" y="163195"/>
                    </a:lnTo>
                    <a:lnTo>
                      <a:pt x="5886069" y="894715"/>
                    </a:lnTo>
                    <a:lnTo>
                      <a:pt x="5869178" y="894715"/>
                    </a:lnTo>
                    <a:lnTo>
                      <a:pt x="5886069" y="894715"/>
                    </a:lnTo>
                    <a:cubicBezTo>
                      <a:pt x="5886069" y="985266"/>
                      <a:pt x="5810758" y="1057910"/>
                      <a:pt x="5718810" y="1057910"/>
                    </a:cubicBezTo>
                    <a:lnTo>
                      <a:pt x="5718810" y="1041019"/>
                    </a:lnTo>
                    <a:lnTo>
                      <a:pt x="5718810" y="1057910"/>
                    </a:lnTo>
                    <a:lnTo>
                      <a:pt x="167259" y="1057910"/>
                    </a:lnTo>
                    <a:lnTo>
                      <a:pt x="167259" y="1041019"/>
                    </a:lnTo>
                    <a:lnTo>
                      <a:pt x="167259" y="1057910"/>
                    </a:lnTo>
                    <a:cubicBezTo>
                      <a:pt x="75311" y="1058037"/>
                      <a:pt x="0" y="985393"/>
                      <a:pt x="0" y="894715"/>
                    </a:cubicBezTo>
                    <a:lnTo>
                      <a:pt x="0" y="163195"/>
                    </a:lnTo>
                    <a:lnTo>
                      <a:pt x="16891" y="163195"/>
                    </a:lnTo>
                    <a:lnTo>
                      <a:pt x="0" y="163195"/>
                    </a:lnTo>
                    <a:moveTo>
                      <a:pt x="33909" y="163195"/>
                    </a:moveTo>
                    <a:lnTo>
                      <a:pt x="33909" y="894715"/>
                    </a:lnTo>
                    <a:lnTo>
                      <a:pt x="16891" y="894715"/>
                    </a:lnTo>
                    <a:lnTo>
                      <a:pt x="33909" y="894715"/>
                    </a:lnTo>
                    <a:cubicBezTo>
                      <a:pt x="33909" y="965708"/>
                      <a:pt x="93218" y="1024128"/>
                      <a:pt x="167259" y="1024128"/>
                    </a:cubicBezTo>
                    <a:lnTo>
                      <a:pt x="5718810" y="1024128"/>
                    </a:lnTo>
                    <a:cubicBezTo>
                      <a:pt x="5792851" y="1024128"/>
                      <a:pt x="5852160" y="965835"/>
                      <a:pt x="5852160" y="894715"/>
                    </a:cubicBezTo>
                    <a:lnTo>
                      <a:pt x="5852160" y="163195"/>
                    </a:lnTo>
                    <a:cubicBezTo>
                      <a:pt x="5852160" y="92202"/>
                      <a:pt x="5792851" y="33782"/>
                      <a:pt x="5718810" y="33782"/>
                    </a:cubicBezTo>
                    <a:lnTo>
                      <a:pt x="167259" y="33782"/>
                    </a:lnTo>
                    <a:lnTo>
                      <a:pt x="167259" y="16891"/>
                    </a:lnTo>
                    <a:lnTo>
                      <a:pt x="167259" y="33909"/>
                    </a:lnTo>
                    <a:cubicBezTo>
                      <a:pt x="93218" y="33909"/>
                      <a:pt x="33909" y="92202"/>
                      <a:pt x="33909" y="163322"/>
                    </a:cubicBezTo>
                    <a:close/>
                  </a:path>
                </a:pathLst>
              </a:custGeom>
              <a:solidFill>
                <a:srgbClr val="0097A7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16935" y="16935"/>
              <a:ext cx="5852160" cy="1024128"/>
              <a:chOff x="0" y="0"/>
              <a:chExt cx="5852160" cy="102412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852160" cy="1024128"/>
              </a:xfrm>
              <a:custGeom>
                <a:avLst/>
                <a:gdLst/>
                <a:ahLst/>
                <a:cxnLst/>
                <a:rect r="r" b="b" t="t" l="l"/>
                <a:pathLst>
                  <a:path h="1024128" w="5852160">
                    <a:moveTo>
                      <a:pt x="0" y="0"/>
                    </a:moveTo>
                    <a:lnTo>
                      <a:pt x="5852160" y="0"/>
                    </a:lnTo>
                    <a:lnTo>
                      <a:pt x="5852160" y="1024128"/>
                    </a:lnTo>
                    <a:lnTo>
                      <a:pt x="0" y="1024128"/>
                    </a:lnTo>
                    <a:close/>
                  </a:path>
                </a:pathLst>
              </a:custGeom>
              <a:solidFill>
                <a:srgbClr val="0097A7">
                  <a:alpha val="0"/>
                </a:srgbClr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5852160" cy="107175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999"/>
                  </a:lnSpc>
                </a:pPr>
                <a:r>
                  <a:rPr lang="en-US" sz="2499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BÁO CÁO GIỮA KỲ</a:t>
                </a: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1097280" y="4187122"/>
            <a:ext cx="12070080" cy="2377440"/>
            <a:chOff x="0" y="0"/>
            <a:chExt cx="16093440" cy="3169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093439" cy="3169920"/>
            </a:xfrm>
            <a:custGeom>
              <a:avLst/>
              <a:gdLst/>
              <a:ahLst/>
              <a:cxnLst/>
              <a:rect r="r" b="b" t="t" l="l"/>
              <a:pathLst>
                <a:path h="3169920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924" r="0" b="-4892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09550"/>
              <a:ext cx="16093440" cy="3379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480"/>
                </a:lnSpc>
              </a:pPr>
              <a:r>
                <a:rPr lang="en-US" sz="10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React-Bootstrap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97280" y="6466007"/>
            <a:ext cx="7340603" cy="98555"/>
            <a:chOff x="0" y="0"/>
            <a:chExt cx="9787471" cy="13140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6891" y="16891"/>
              <a:ext cx="9753600" cy="97536"/>
            </a:xfrm>
            <a:custGeom>
              <a:avLst/>
              <a:gdLst/>
              <a:ahLst/>
              <a:cxnLst/>
              <a:rect r="r" b="b" t="t" l="l"/>
              <a:pathLst>
                <a:path h="9753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97A7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787382" cy="131320"/>
            </a:xfrm>
            <a:custGeom>
              <a:avLst/>
              <a:gdLst/>
              <a:ahLst/>
              <a:cxnLst/>
              <a:rect r="r" b="b" t="t" l="l"/>
              <a:pathLst>
                <a:path h="131320" w="9787382">
                  <a:moveTo>
                    <a:pt x="16891" y="0"/>
                  </a:moveTo>
                  <a:lnTo>
                    <a:pt x="9770491" y="0"/>
                  </a:lnTo>
                  <a:cubicBezTo>
                    <a:pt x="9779889" y="0"/>
                    <a:pt x="9787382" y="7620"/>
                    <a:pt x="9787382" y="16891"/>
                  </a:cubicBezTo>
                  <a:lnTo>
                    <a:pt x="9787382" y="114427"/>
                  </a:lnTo>
                  <a:cubicBezTo>
                    <a:pt x="9787382" y="123825"/>
                    <a:pt x="9779762" y="131318"/>
                    <a:pt x="977049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9770491" y="97536"/>
                  </a:lnTo>
                  <a:lnTo>
                    <a:pt x="9770491" y="114427"/>
                  </a:lnTo>
                  <a:lnTo>
                    <a:pt x="9753600" y="114427"/>
                  </a:lnTo>
                  <a:lnTo>
                    <a:pt x="9753600" y="16891"/>
                  </a:lnTo>
                  <a:lnTo>
                    <a:pt x="9770491" y="16891"/>
                  </a:lnTo>
                  <a:lnTo>
                    <a:pt x="9770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97A7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97280" y="7205333"/>
            <a:ext cx="5605656" cy="1239016"/>
            <a:chOff x="0" y="0"/>
            <a:chExt cx="7954652" cy="175821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954652" cy="1758214"/>
            </a:xfrm>
            <a:custGeom>
              <a:avLst/>
              <a:gdLst/>
              <a:ahLst/>
              <a:cxnLst/>
              <a:rect r="r" b="b" t="t" l="l"/>
              <a:pathLst>
                <a:path h="1758214" w="7954652">
                  <a:moveTo>
                    <a:pt x="0" y="0"/>
                  </a:moveTo>
                  <a:lnTo>
                    <a:pt x="7954652" y="0"/>
                  </a:lnTo>
                  <a:lnTo>
                    <a:pt x="7954652" y="1758214"/>
                  </a:lnTo>
                  <a:lnTo>
                    <a:pt x="0" y="175821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3686" r="-114576" b="-14463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7954652" cy="18153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Đặng Ngọc Kim Khánh - 52300208</a:t>
              </a:r>
            </a:p>
            <a:p>
              <a:pPr algn="l">
                <a:lnSpc>
                  <a:spcPts val="3599"/>
                </a:lnSpc>
              </a:pPr>
              <a:r>
                <a:rPr lang="en-US" sz="29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Vũ Khánh Huyền - 52300206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479106" y="457211"/>
            <a:ext cx="2436829" cy="1359547"/>
          </a:xfrm>
          <a:custGeom>
            <a:avLst/>
            <a:gdLst/>
            <a:ahLst/>
            <a:cxnLst/>
            <a:rect r="r" b="b" t="t" l="l"/>
            <a:pathLst>
              <a:path h="1359547" w="2436829">
                <a:moveTo>
                  <a:pt x="0" y="0"/>
                </a:moveTo>
                <a:lnTo>
                  <a:pt x="2436829" y="0"/>
                </a:lnTo>
                <a:lnTo>
                  <a:pt x="2436829" y="1359548"/>
                </a:lnTo>
                <a:lnTo>
                  <a:pt x="0" y="13595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27847" y="1396016"/>
            <a:ext cx="6713571" cy="1287066"/>
            <a:chOff x="0" y="0"/>
            <a:chExt cx="8951428" cy="17160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951428" cy="1716088"/>
            </a:xfrm>
            <a:custGeom>
              <a:avLst/>
              <a:gdLst/>
              <a:ahLst/>
              <a:cxnLst/>
              <a:rect r="r" b="b" t="t" l="l"/>
              <a:pathLst>
                <a:path h="1716088" w="8951428">
                  <a:moveTo>
                    <a:pt x="0" y="0"/>
                  </a:moveTo>
                  <a:lnTo>
                    <a:pt x="8951428" y="0"/>
                  </a:lnTo>
                  <a:lnTo>
                    <a:pt x="8951428" y="1716088"/>
                  </a:lnTo>
                  <a:lnTo>
                    <a:pt x="0" y="17160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2998" r="-145163" b="-19535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8951428" cy="1839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Nội dung trình bày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47561" y="2759282"/>
            <a:ext cx="16484603" cy="80267"/>
            <a:chOff x="0" y="0"/>
            <a:chExt cx="21979471" cy="1070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1945599" cy="73152"/>
            </a:xfrm>
            <a:custGeom>
              <a:avLst/>
              <a:gdLst/>
              <a:ahLst/>
              <a:cxnLst/>
              <a:rect r="r" b="b" t="t" l="l"/>
              <a:pathLst>
                <a:path h="73152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E3E8F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79382" cy="106936"/>
            </a:xfrm>
            <a:custGeom>
              <a:avLst/>
              <a:gdLst/>
              <a:ahLst/>
              <a:cxnLst/>
              <a:rect r="r" b="b" t="t" l="l"/>
              <a:pathLst>
                <a:path h="106936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90043"/>
                  </a:lnTo>
                  <a:cubicBezTo>
                    <a:pt x="21979382" y="99441"/>
                    <a:pt x="21971763" y="106934"/>
                    <a:pt x="2196249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21962490" y="73152"/>
                  </a:lnTo>
                  <a:lnTo>
                    <a:pt x="21962490" y="90043"/>
                  </a:lnTo>
                  <a:lnTo>
                    <a:pt x="21945600" y="9004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3E8F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47561" y="3125042"/>
            <a:ext cx="8346443" cy="1945643"/>
            <a:chOff x="0" y="0"/>
            <a:chExt cx="11128591" cy="25941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109472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F0F4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28501" cy="2594102"/>
            </a:xfrm>
            <a:custGeom>
              <a:avLst/>
              <a:gdLst/>
              <a:ahLst/>
              <a:cxnLst/>
              <a:rect r="r" b="b" t="t" l="l"/>
              <a:pathLst>
                <a:path h="259410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2577211"/>
                  </a:lnTo>
                  <a:cubicBezTo>
                    <a:pt x="11128501" y="2586609"/>
                    <a:pt x="11120882" y="2594102"/>
                    <a:pt x="11111611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11111611" y="2560320"/>
                  </a:lnTo>
                  <a:lnTo>
                    <a:pt x="11111611" y="2577211"/>
                  </a:lnTo>
                  <a:lnTo>
                    <a:pt x="11094720" y="25772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AE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47561" y="3125042"/>
            <a:ext cx="1031243" cy="1945643"/>
            <a:chOff x="0" y="0"/>
            <a:chExt cx="1374991" cy="25941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34112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74902" cy="2594102"/>
            </a:xfrm>
            <a:custGeom>
              <a:avLst/>
              <a:gdLst/>
              <a:ahLst/>
              <a:cxnLst/>
              <a:rect r="r" b="b" t="t" l="l"/>
              <a:pathLst>
                <a:path h="2594102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2577211"/>
                  </a:lnTo>
                  <a:cubicBezTo>
                    <a:pt x="1374902" y="2586609"/>
                    <a:pt x="1367282" y="2594102"/>
                    <a:pt x="1358011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1358011" y="2560320"/>
                  </a:lnTo>
                  <a:lnTo>
                    <a:pt x="1358011" y="2577211"/>
                  </a:lnTo>
                  <a:lnTo>
                    <a:pt x="1341120" y="257721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60258" y="3137739"/>
            <a:ext cx="1005840" cy="1920240"/>
            <a:chOff x="0" y="0"/>
            <a:chExt cx="1341120" cy="25603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112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43" t="0" r="-19494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341120" cy="2626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048978" y="3284043"/>
            <a:ext cx="6949440" cy="694944"/>
            <a:chOff x="0" y="0"/>
            <a:chExt cx="9265920" cy="9265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265920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2659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Khái niệm &amp; Giới thiệu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048978" y="4052139"/>
            <a:ext cx="6949440" cy="640080"/>
            <a:chOff x="0" y="0"/>
            <a:chExt cx="9265920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265920" cy="853440"/>
            </a:xfrm>
            <a:custGeom>
              <a:avLst/>
              <a:gdLst/>
              <a:ahLst/>
              <a:cxnLst/>
              <a:rect r="r" b="b" t="t" l="l"/>
              <a:pathLst>
                <a:path h="85344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551" r="0" b="-16155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2659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React-Bootstrap là gì?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625801" y="3125042"/>
            <a:ext cx="8346443" cy="1945643"/>
            <a:chOff x="0" y="0"/>
            <a:chExt cx="11128591" cy="25941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109472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F0F4F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128501" cy="2594102"/>
            </a:xfrm>
            <a:custGeom>
              <a:avLst/>
              <a:gdLst/>
              <a:ahLst/>
              <a:cxnLst/>
              <a:rect r="r" b="b" t="t" l="l"/>
              <a:pathLst>
                <a:path h="259410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2577211"/>
                  </a:lnTo>
                  <a:cubicBezTo>
                    <a:pt x="11128501" y="2586609"/>
                    <a:pt x="11120882" y="2594102"/>
                    <a:pt x="11111611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11111611" y="2560320"/>
                  </a:lnTo>
                  <a:lnTo>
                    <a:pt x="11111611" y="2577211"/>
                  </a:lnTo>
                  <a:lnTo>
                    <a:pt x="11094720" y="25772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AEC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625801" y="3125042"/>
            <a:ext cx="1031243" cy="1945643"/>
            <a:chOff x="0" y="0"/>
            <a:chExt cx="1374991" cy="25941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34112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74902" cy="2594102"/>
            </a:xfrm>
            <a:custGeom>
              <a:avLst/>
              <a:gdLst/>
              <a:ahLst/>
              <a:cxnLst/>
              <a:rect r="r" b="b" t="t" l="l"/>
              <a:pathLst>
                <a:path h="2594102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2577211"/>
                  </a:lnTo>
                  <a:cubicBezTo>
                    <a:pt x="1374902" y="2586609"/>
                    <a:pt x="1367282" y="2594102"/>
                    <a:pt x="1358011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1358011" y="2560320"/>
                  </a:lnTo>
                  <a:lnTo>
                    <a:pt x="1358011" y="2577211"/>
                  </a:lnTo>
                  <a:lnTo>
                    <a:pt x="1341120" y="257721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638498" y="3137739"/>
            <a:ext cx="1005840" cy="1920240"/>
            <a:chOff x="0" y="0"/>
            <a:chExt cx="1341120" cy="25603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4112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43" t="0" r="-19494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1341120" cy="2626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827218" y="3284043"/>
            <a:ext cx="6949440" cy="694944"/>
            <a:chOff x="0" y="0"/>
            <a:chExt cx="9265920" cy="9265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265920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2659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Cách cài đặt &amp; Sử dụng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827218" y="4052139"/>
            <a:ext cx="6949440" cy="640080"/>
            <a:chOff x="0" y="0"/>
            <a:chExt cx="9265920" cy="853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265920" cy="853440"/>
            </a:xfrm>
            <a:custGeom>
              <a:avLst/>
              <a:gdLst/>
              <a:ahLst/>
              <a:cxnLst/>
              <a:rect r="r" b="b" t="t" l="l"/>
              <a:pathLst>
                <a:path h="85344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551" r="0" b="-16155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92659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Setup project &amp; import component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47561" y="5411042"/>
            <a:ext cx="8346443" cy="1945643"/>
            <a:chOff x="0" y="0"/>
            <a:chExt cx="11128591" cy="259419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109472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F0F4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128501" cy="2594102"/>
            </a:xfrm>
            <a:custGeom>
              <a:avLst/>
              <a:gdLst/>
              <a:ahLst/>
              <a:cxnLst/>
              <a:rect r="r" b="b" t="t" l="l"/>
              <a:pathLst>
                <a:path h="259410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2577211"/>
                  </a:lnTo>
                  <a:cubicBezTo>
                    <a:pt x="11128501" y="2586609"/>
                    <a:pt x="11120882" y="2594102"/>
                    <a:pt x="11111611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11111611" y="2560320"/>
                  </a:lnTo>
                  <a:lnTo>
                    <a:pt x="11111611" y="2577211"/>
                  </a:lnTo>
                  <a:lnTo>
                    <a:pt x="11094720" y="25772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AEC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847561" y="5411042"/>
            <a:ext cx="1031243" cy="1945643"/>
            <a:chOff x="0" y="0"/>
            <a:chExt cx="1374991" cy="259419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34112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74902" cy="2594102"/>
            </a:xfrm>
            <a:custGeom>
              <a:avLst/>
              <a:gdLst/>
              <a:ahLst/>
              <a:cxnLst/>
              <a:rect r="r" b="b" t="t" l="l"/>
              <a:pathLst>
                <a:path h="2594102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2577211"/>
                  </a:lnTo>
                  <a:cubicBezTo>
                    <a:pt x="1374902" y="2586609"/>
                    <a:pt x="1367282" y="2594102"/>
                    <a:pt x="1358011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1358011" y="2560320"/>
                  </a:lnTo>
                  <a:lnTo>
                    <a:pt x="1358011" y="2577211"/>
                  </a:lnTo>
                  <a:lnTo>
                    <a:pt x="1341120" y="257721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60258" y="5423739"/>
            <a:ext cx="1005840" cy="1920240"/>
            <a:chOff x="0" y="0"/>
            <a:chExt cx="1341120" cy="25603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34112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43" t="0" r="-19494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1341120" cy="2626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048978" y="5570043"/>
            <a:ext cx="6949440" cy="694944"/>
            <a:chOff x="0" y="0"/>
            <a:chExt cx="9265920" cy="926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265920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92659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Các Component chính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048978" y="6338139"/>
            <a:ext cx="6949440" cy="640080"/>
            <a:chOff x="0" y="0"/>
            <a:chExt cx="9265920" cy="853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265920" cy="853440"/>
            </a:xfrm>
            <a:custGeom>
              <a:avLst/>
              <a:gdLst/>
              <a:ahLst/>
              <a:cxnLst/>
              <a:rect r="r" b="b" t="t" l="l"/>
              <a:pathLst>
                <a:path h="85344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551" r="0" b="-16155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92659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Navbar, Table, Form, Modal, Alert…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625801" y="5411042"/>
            <a:ext cx="8346443" cy="1945643"/>
            <a:chOff x="0" y="0"/>
            <a:chExt cx="11128591" cy="259419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109472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F0F4FF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128501" cy="2594102"/>
            </a:xfrm>
            <a:custGeom>
              <a:avLst/>
              <a:gdLst/>
              <a:ahLst/>
              <a:cxnLst/>
              <a:rect r="r" b="b" t="t" l="l"/>
              <a:pathLst>
                <a:path h="259410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2577211"/>
                  </a:lnTo>
                  <a:cubicBezTo>
                    <a:pt x="11128501" y="2586609"/>
                    <a:pt x="11120882" y="2594102"/>
                    <a:pt x="11111611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11111611" y="2560320"/>
                  </a:lnTo>
                  <a:lnTo>
                    <a:pt x="11111611" y="2577211"/>
                  </a:lnTo>
                  <a:lnTo>
                    <a:pt x="11094720" y="25772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AEC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625801" y="5411042"/>
            <a:ext cx="1031243" cy="1945643"/>
            <a:chOff x="0" y="0"/>
            <a:chExt cx="1374991" cy="259419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34112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374902" cy="2594102"/>
            </a:xfrm>
            <a:custGeom>
              <a:avLst/>
              <a:gdLst/>
              <a:ahLst/>
              <a:cxnLst/>
              <a:rect r="r" b="b" t="t" l="l"/>
              <a:pathLst>
                <a:path h="2594102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2577211"/>
                  </a:lnTo>
                  <a:cubicBezTo>
                    <a:pt x="1374902" y="2586609"/>
                    <a:pt x="1367282" y="2594102"/>
                    <a:pt x="1358011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1358011" y="2560320"/>
                  </a:lnTo>
                  <a:lnTo>
                    <a:pt x="1358011" y="2577211"/>
                  </a:lnTo>
                  <a:lnTo>
                    <a:pt x="1341120" y="257721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638498" y="5423739"/>
            <a:ext cx="1005840" cy="1920240"/>
            <a:chOff x="0" y="0"/>
            <a:chExt cx="1341120" cy="25603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34112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43" t="0" r="-19494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66675"/>
              <a:ext cx="1341120" cy="2626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827218" y="5570043"/>
            <a:ext cx="6949440" cy="694944"/>
            <a:chOff x="0" y="0"/>
            <a:chExt cx="9265920" cy="9265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265920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92659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Mini-App Minh hoạ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827218" y="6338139"/>
            <a:ext cx="6949440" cy="640080"/>
            <a:chOff x="0" y="0"/>
            <a:chExt cx="9265920" cy="8534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265920" cy="853440"/>
            </a:xfrm>
            <a:custGeom>
              <a:avLst/>
              <a:gdLst/>
              <a:ahLst/>
              <a:cxnLst/>
              <a:rect r="r" b="b" t="t" l="l"/>
              <a:pathLst>
                <a:path h="85344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551" r="0" b="-16155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92659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Ứng dụng quản lý sản phẩm CRUD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847561" y="7697042"/>
            <a:ext cx="8346443" cy="1945643"/>
            <a:chOff x="0" y="0"/>
            <a:chExt cx="11128591" cy="259419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109472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F0F4FF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128501" cy="2594102"/>
            </a:xfrm>
            <a:custGeom>
              <a:avLst/>
              <a:gdLst/>
              <a:ahLst/>
              <a:cxnLst/>
              <a:rect r="r" b="b" t="t" l="l"/>
              <a:pathLst>
                <a:path h="259410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2577211"/>
                  </a:lnTo>
                  <a:cubicBezTo>
                    <a:pt x="11128501" y="2586609"/>
                    <a:pt x="11120882" y="2594102"/>
                    <a:pt x="11111611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11111611" y="2560320"/>
                  </a:lnTo>
                  <a:lnTo>
                    <a:pt x="11111611" y="2577211"/>
                  </a:lnTo>
                  <a:lnTo>
                    <a:pt x="11094720" y="25772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AEC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847561" y="7697042"/>
            <a:ext cx="1031243" cy="1945643"/>
            <a:chOff x="0" y="0"/>
            <a:chExt cx="1374991" cy="259419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34112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374902" cy="2594102"/>
            </a:xfrm>
            <a:custGeom>
              <a:avLst/>
              <a:gdLst/>
              <a:ahLst/>
              <a:cxnLst/>
              <a:rect r="r" b="b" t="t" l="l"/>
              <a:pathLst>
                <a:path h="2594102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2577211"/>
                  </a:lnTo>
                  <a:cubicBezTo>
                    <a:pt x="1374902" y="2586609"/>
                    <a:pt x="1367282" y="2594102"/>
                    <a:pt x="1358011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1358011" y="2560320"/>
                  </a:lnTo>
                  <a:lnTo>
                    <a:pt x="1358011" y="2577211"/>
                  </a:lnTo>
                  <a:lnTo>
                    <a:pt x="1341120" y="257721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860258" y="7709739"/>
            <a:ext cx="1005840" cy="1920240"/>
            <a:chOff x="0" y="0"/>
            <a:chExt cx="1341120" cy="25603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34112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43" t="0" r="-194943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66675"/>
              <a:ext cx="1341120" cy="2626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2048978" y="7856043"/>
            <a:ext cx="6949440" cy="694944"/>
            <a:chOff x="0" y="0"/>
            <a:chExt cx="9265920" cy="92659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265920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92659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Bài tập ứng dụng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2048978" y="8624139"/>
            <a:ext cx="6949440" cy="640080"/>
            <a:chOff x="0" y="0"/>
            <a:chExt cx="9265920" cy="8534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265920" cy="853440"/>
            </a:xfrm>
            <a:custGeom>
              <a:avLst/>
              <a:gdLst/>
              <a:ahLst/>
              <a:cxnLst/>
              <a:rect r="r" b="b" t="t" l="l"/>
              <a:pathLst>
                <a:path h="85344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551" r="0" b="-161551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92659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 bài tập có hướng dẫn chi tiết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625801" y="7697042"/>
            <a:ext cx="8346443" cy="1945643"/>
            <a:chOff x="0" y="0"/>
            <a:chExt cx="11128591" cy="259419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1109472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F0F4FF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1128501" cy="2594102"/>
            </a:xfrm>
            <a:custGeom>
              <a:avLst/>
              <a:gdLst/>
              <a:ahLst/>
              <a:cxnLst/>
              <a:rect r="r" b="b" t="t" l="l"/>
              <a:pathLst>
                <a:path h="259410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2577211"/>
                  </a:lnTo>
                  <a:cubicBezTo>
                    <a:pt x="11128501" y="2586609"/>
                    <a:pt x="11120882" y="2594102"/>
                    <a:pt x="11111611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11111611" y="2560320"/>
                  </a:lnTo>
                  <a:lnTo>
                    <a:pt x="11111611" y="2577211"/>
                  </a:lnTo>
                  <a:lnTo>
                    <a:pt x="11094720" y="25772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AEC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625801" y="7697042"/>
            <a:ext cx="1031243" cy="1945643"/>
            <a:chOff x="0" y="0"/>
            <a:chExt cx="1374991" cy="259419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134112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374902" cy="2594102"/>
            </a:xfrm>
            <a:custGeom>
              <a:avLst/>
              <a:gdLst/>
              <a:ahLst/>
              <a:cxnLst/>
              <a:rect r="r" b="b" t="t" l="l"/>
              <a:pathLst>
                <a:path h="2594102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2577211"/>
                  </a:lnTo>
                  <a:cubicBezTo>
                    <a:pt x="1374902" y="2586609"/>
                    <a:pt x="1367282" y="2594102"/>
                    <a:pt x="1358011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1358011" y="2560320"/>
                  </a:lnTo>
                  <a:lnTo>
                    <a:pt x="1358011" y="2577211"/>
                  </a:lnTo>
                  <a:lnTo>
                    <a:pt x="1341120" y="257721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638498" y="7709739"/>
            <a:ext cx="1005840" cy="1920240"/>
            <a:chOff x="0" y="0"/>
            <a:chExt cx="1341120" cy="25603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34112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4943" t="0" r="-194943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66675"/>
              <a:ext cx="1341120" cy="2626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0827218" y="7856043"/>
            <a:ext cx="6949440" cy="694944"/>
            <a:chOff x="0" y="0"/>
            <a:chExt cx="9265920" cy="92659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265920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926592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Kết luận &amp; Tài liệu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827218" y="8624139"/>
            <a:ext cx="6949440" cy="640080"/>
            <a:chOff x="0" y="0"/>
            <a:chExt cx="9265920" cy="8534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265920" cy="853440"/>
            </a:xfrm>
            <a:custGeom>
              <a:avLst/>
              <a:gdLst/>
              <a:ahLst/>
              <a:cxnLst/>
              <a:rect r="r" b="b" t="t" l="l"/>
              <a:pathLst>
                <a:path h="85344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551" r="0" b="-161551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92659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Tổng kết &amp; nguồn tham khảo</a:t>
              </a:r>
            </a:p>
          </p:txBody>
        </p:sp>
      </p:grpSp>
      <p:sp>
        <p:nvSpPr>
          <p:cNvPr name="Freeform 98" id="98"/>
          <p:cNvSpPr/>
          <p:nvPr/>
        </p:nvSpPr>
        <p:spPr>
          <a:xfrm flipH="false" flipV="false" rot="0">
            <a:off x="387867" y="348926"/>
            <a:ext cx="2436829" cy="1359547"/>
          </a:xfrm>
          <a:custGeom>
            <a:avLst/>
            <a:gdLst/>
            <a:ahLst/>
            <a:cxnLst/>
            <a:rect r="r" b="b" t="t" l="l"/>
            <a:pathLst>
              <a:path h="1359547" w="2436829">
                <a:moveTo>
                  <a:pt x="0" y="0"/>
                </a:moveTo>
                <a:lnTo>
                  <a:pt x="2436829" y="0"/>
                </a:lnTo>
                <a:lnTo>
                  <a:pt x="2436829" y="1359548"/>
                </a:lnTo>
                <a:lnTo>
                  <a:pt x="0" y="13595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76127" y="985672"/>
            <a:ext cx="7955280" cy="1123801"/>
            <a:chOff x="0" y="0"/>
            <a:chExt cx="10607040" cy="1498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07040" cy="1498402"/>
            </a:xfrm>
            <a:custGeom>
              <a:avLst/>
              <a:gdLst/>
              <a:ahLst/>
              <a:cxnLst/>
              <a:rect r="r" b="b" t="t" l="l"/>
              <a:pathLst>
                <a:path h="1498402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6557" r="-106896" b="-2341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060704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01 - React-Bootstrap là gì?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1466" y="2204723"/>
            <a:ext cx="16484603" cy="80267"/>
            <a:chOff x="0" y="0"/>
            <a:chExt cx="21979471" cy="1070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1945599" cy="73152"/>
            </a:xfrm>
            <a:custGeom>
              <a:avLst/>
              <a:gdLst/>
              <a:ahLst/>
              <a:cxnLst/>
              <a:rect r="r" b="b" t="t" l="l"/>
              <a:pathLst>
                <a:path h="73152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E3E8F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79382" cy="106936"/>
            </a:xfrm>
            <a:custGeom>
              <a:avLst/>
              <a:gdLst/>
              <a:ahLst/>
              <a:cxnLst/>
              <a:rect r="r" b="b" t="t" l="l"/>
              <a:pathLst>
                <a:path h="106936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90043"/>
                  </a:lnTo>
                  <a:cubicBezTo>
                    <a:pt x="21979382" y="99441"/>
                    <a:pt x="21971763" y="106934"/>
                    <a:pt x="2196249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21962490" y="73152"/>
                  </a:lnTo>
                  <a:lnTo>
                    <a:pt x="21962490" y="90043"/>
                  </a:lnTo>
                  <a:lnTo>
                    <a:pt x="21945600" y="9004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3E8F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11466" y="2479043"/>
            <a:ext cx="8255003" cy="3865883"/>
            <a:chOff x="0" y="0"/>
            <a:chExt cx="11006671" cy="51545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0972800" cy="5120640"/>
            </a:xfrm>
            <a:custGeom>
              <a:avLst/>
              <a:gdLst/>
              <a:ahLst/>
              <a:cxnLst/>
              <a:rect r="r" b="b" t="t" l="l"/>
              <a:pathLst>
                <a:path h="5120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0F4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06582" cy="5154422"/>
            </a:xfrm>
            <a:custGeom>
              <a:avLst/>
              <a:gdLst/>
              <a:ahLst/>
              <a:cxnLst/>
              <a:rect r="r" b="b" t="t" l="l"/>
              <a:pathLst>
                <a:path h="515442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5137531"/>
                  </a:lnTo>
                  <a:cubicBezTo>
                    <a:pt x="11006582" y="5146929"/>
                    <a:pt x="10998962" y="5154422"/>
                    <a:pt x="1098969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10989691" y="5120640"/>
                  </a:lnTo>
                  <a:lnTo>
                    <a:pt x="10989691" y="5137531"/>
                  </a:lnTo>
                  <a:lnTo>
                    <a:pt x="10972800" y="513753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AE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98483" y="2674620"/>
            <a:ext cx="7680960" cy="640080"/>
            <a:chOff x="0" y="0"/>
            <a:chExt cx="10241280" cy="853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02412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97A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Định nghĩa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98483" y="3705225"/>
            <a:ext cx="7680960" cy="1724663"/>
            <a:chOff x="0" y="0"/>
            <a:chExt cx="10241280" cy="22995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2299551"/>
            </a:xfrm>
            <a:custGeom>
              <a:avLst/>
              <a:gdLst/>
              <a:ahLst/>
              <a:cxnLst/>
              <a:rect r="r" b="b" t="t" l="l"/>
              <a:pathLst>
                <a:path h="2299551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299551"/>
                  </a:lnTo>
                  <a:lnTo>
                    <a:pt x="0" y="22995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00" r="0" b="-6365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0241280" cy="23567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Thư viện UI mã nguồn mở kết hợp React và Bootstrap — cung cấp các component hoàn chỉnh, không phụ thuộc jQuery, dễ tích hợp với React state &amp; props.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89706" y="2661923"/>
            <a:ext cx="2951483" cy="1397003"/>
            <a:chOff x="0" y="0"/>
            <a:chExt cx="3935311" cy="18626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39014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61DAFB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35222" cy="1862582"/>
            </a:xfrm>
            <a:custGeom>
              <a:avLst/>
              <a:gdLst/>
              <a:ahLst/>
              <a:cxnLst/>
              <a:rect r="r" b="b" t="t" l="l"/>
              <a:pathLst>
                <a:path h="1862582" w="3935222">
                  <a:moveTo>
                    <a:pt x="16891" y="0"/>
                  </a:moveTo>
                  <a:lnTo>
                    <a:pt x="3918331" y="0"/>
                  </a:lnTo>
                  <a:cubicBezTo>
                    <a:pt x="3927729" y="0"/>
                    <a:pt x="3935222" y="7620"/>
                    <a:pt x="3935222" y="16891"/>
                  </a:cubicBezTo>
                  <a:lnTo>
                    <a:pt x="3935222" y="1845691"/>
                  </a:lnTo>
                  <a:cubicBezTo>
                    <a:pt x="3935222" y="1855089"/>
                    <a:pt x="3927602" y="1862582"/>
                    <a:pt x="391833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3918331" y="1828800"/>
                  </a:lnTo>
                  <a:lnTo>
                    <a:pt x="3918331" y="1845691"/>
                  </a:lnTo>
                  <a:lnTo>
                    <a:pt x="3901440" y="1845691"/>
                  </a:lnTo>
                  <a:lnTo>
                    <a:pt x="3901440" y="16891"/>
                  </a:lnTo>
                  <a:lnTo>
                    <a:pt x="3918331" y="16891"/>
                  </a:lnTo>
                  <a:lnTo>
                    <a:pt x="3918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1DAFB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602403" y="2674620"/>
            <a:ext cx="2926080" cy="1371600"/>
            <a:chOff x="0" y="0"/>
            <a:chExt cx="3901440" cy="1828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9014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142" t="0" r="-10142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390144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React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424346" y="2661923"/>
            <a:ext cx="1031243" cy="1397003"/>
            <a:chOff x="0" y="0"/>
            <a:chExt cx="1374991" cy="186267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3411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74902" cy="1862582"/>
            </a:xfrm>
            <a:custGeom>
              <a:avLst/>
              <a:gdLst/>
              <a:ahLst/>
              <a:cxnLst/>
              <a:rect r="r" b="b" t="t" l="l"/>
              <a:pathLst>
                <a:path h="1862582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1845691"/>
                  </a:lnTo>
                  <a:cubicBezTo>
                    <a:pt x="1374902" y="1855089"/>
                    <a:pt x="1367282" y="1862582"/>
                    <a:pt x="135801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1358011" y="1828800"/>
                  </a:lnTo>
                  <a:lnTo>
                    <a:pt x="1358011" y="1845691"/>
                  </a:lnTo>
                  <a:lnTo>
                    <a:pt x="1341120" y="1845691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437043" y="2674620"/>
            <a:ext cx="1005840" cy="1371600"/>
            <a:chOff x="0" y="0"/>
            <a:chExt cx="1341120" cy="1828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411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24959" t="0" r="-124959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76200"/>
              <a:ext cx="134112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455589" y="2681926"/>
            <a:ext cx="2951483" cy="1356998"/>
            <a:chOff x="0" y="0"/>
            <a:chExt cx="3935311" cy="180933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407"/>
              <a:ext cx="3901440" cy="1776430"/>
            </a:xfrm>
            <a:custGeom>
              <a:avLst/>
              <a:gdLst/>
              <a:ahLst/>
              <a:cxnLst/>
              <a:rect r="r" b="b" t="t" l="l"/>
              <a:pathLst>
                <a:path h="177643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776430"/>
                  </a:lnTo>
                  <a:lnTo>
                    <a:pt x="0" y="1776430"/>
                  </a:lnTo>
                  <a:close/>
                </a:path>
              </a:pathLst>
            </a:custGeom>
            <a:solidFill>
              <a:srgbClr val="7952B3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935222" cy="1809245"/>
            </a:xfrm>
            <a:custGeom>
              <a:avLst/>
              <a:gdLst/>
              <a:ahLst/>
              <a:cxnLst/>
              <a:rect r="r" b="b" t="t" l="l"/>
              <a:pathLst>
                <a:path h="1809245" w="3935222">
                  <a:moveTo>
                    <a:pt x="16891" y="0"/>
                  </a:moveTo>
                  <a:lnTo>
                    <a:pt x="3918331" y="0"/>
                  </a:lnTo>
                  <a:cubicBezTo>
                    <a:pt x="3927729" y="0"/>
                    <a:pt x="3935222" y="7402"/>
                    <a:pt x="3935222" y="16407"/>
                  </a:cubicBezTo>
                  <a:lnTo>
                    <a:pt x="3935222" y="1792837"/>
                  </a:lnTo>
                  <a:cubicBezTo>
                    <a:pt x="3935222" y="1801966"/>
                    <a:pt x="3927602" y="1809245"/>
                    <a:pt x="3918331" y="1809245"/>
                  </a:cubicBezTo>
                  <a:lnTo>
                    <a:pt x="16891" y="1809245"/>
                  </a:lnTo>
                  <a:cubicBezTo>
                    <a:pt x="7493" y="1809245"/>
                    <a:pt x="0" y="1801843"/>
                    <a:pt x="0" y="1792837"/>
                  </a:cubicBezTo>
                  <a:lnTo>
                    <a:pt x="0" y="16407"/>
                  </a:lnTo>
                  <a:cubicBezTo>
                    <a:pt x="0" y="7402"/>
                    <a:pt x="7620" y="0"/>
                    <a:pt x="16891" y="0"/>
                  </a:cubicBezTo>
                  <a:moveTo>
                    <a:pt x="16891" y="32938"/>
                  </a:moveTo>
                  <a:lnTo>
                    <a:pt x="16891" y="16407"/>
                  </a:lnTo>
                  <a:lnTo>
                    <a:pt x="33909" y="16407"/>
                  </a:lnTo>
                  <a:lnTo>
                    <a:pt x="33909" y="1792837"/>
                  </a:lnTo>
                  <a:lnTo>
                    <a:pt x="16891" y="1792837"/>
                  </a:lnTo>
                  <a:lnTo>
                    <a:pt x="16891" y="1776430"/>
                  </a:lnTo>
                  <a:lnTo>
                    <a:pt x="3918331" y="1776430"/>
                  </a:lnTo>
                  <a:lnTo>
                    <a:pt x="3918331" y="1792837"/>
                  </a:lnTo>
                  <a:lnTo>
                    <a:pt x="3901440" y="1792837"/>
                  </a:lnTo>
                  <a:lnTo>
                    <a:pt x="3901440" y="16407"/>
                  </a:lnTo>
                  <a:lnTo>
                    <a:pt x="3918331" y="16407"/>
                  </a:lnTo>
                  <a:lnTo>
                    <a:pt x="3918331" y="32938"/>
                  </a:lnTo>
                  <a:lnTo>
                    <a:pt x="16891" y="32938"/>
                  </a:lnTo>
                  <a:close/>
                </a:path>
              </a:pathLst>
            </a:custGeom>
            <a:solidFill>
              <a:srgbClr val="7952B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442883" y="2660018"/>
            <a:ext cx="2926080" cy="1371600"/>
            <a:chOff x="0" y="0"/>
            <a:chExt cx="3901440" cy="1828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014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142" t="0" r="-10142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390144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Bootstrap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876723" y="5286375"/>
            <a:ext cx="6550666" cy="1397003"/>
            <a:chOff x="0" y="0"/>
            <a:chExt cx="8734222" cy="1862671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165951" y="0"/>
              <a:ext cx="8568271" cy="1862671"/>
              <a:chOff x="0" y="0"/>
              <a:chExt cx="8568271" cy="1862671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16891" y="16891"/>
                <a:ext cx="8534400" cy="1828800"/>
              </a:xfrm>
              <a:custGeom>
                <a:avLst/>
                <a:gdLst/>
                <a:ahLst/>
                <a:cxnLst/>
                <a:rect r="r" b="b" t="t" l="l"/>
                <a:pathLst>
                  <a:path h="1828800" w="8534400">
                    <a:moveTo>
                      <a:pt x="0" y="0"/>
                    </a:moveTo>
                    <a:lnTo>
                      <a:pt x="8534400" y="0"/>
                    </a:lnTo>
                    <a:lnTo>
                      <a:pt x="8534400" y="1828800"/>
                    </a:lnTo>
                    <a:lnTo>
                      <a:pt x="0" y="1828800"/>
                    </a:lnTo>
                    <a:close/>
                  </a:path>
                </a:pathLst>
              </a:custGeom>
              <a:solidFill>
                <a:srgbClr val="1565C0"/>
              </a:solidFill>
            </p:spPr>
          </p:sp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568182" cy="1862582"/>
              </a:xfrm>
              <a:custGeom>
                <a:avLst/>
                <a:gdLst/>
                <a:ahLst/>
                <a:cxnLst/>
                <a:rect r="r" b="b" t="t" l="l"/>
                <a:pathLst>
                  <a:path h="1862582" w="8568182">
                    <a:moveTo>
                      <a:pt x="16891" y="0"/>
                    </a:moveTo>
                    <a:lnTo>
                      <a:pt x="8551291" y="0"/>
                    </a:lnTo>
                    <a:cubicBezTo>
                      <a:pt x="8560689" y="0"/>
                      <a:pt x="8568182" y="7620"/>
                      <a:pt x="8568182" y="16891"/>
                    </a:cubicBezTo>
                    <a:lnTo>
                      <a:pt x="8568182" y="1845691"/>
                    </a:lnTo>
                    <a:cubicBezTo>
                      <a:pt x="8568182" y="1855089"/>
                      <a:pt x="8560562" y="1862582"/>
                      <a:pt x="8551291" y="1862582"/>
                    </a:cubicBezTo>
                    <a:lnTo>
                      <a:pt x="16891" y="1862582"/>
                    </a:lnTo>
                    <a:cubicBezTo>
                      <a:pt x="7493" y="1862582"/>
                      <a:pt x="0" y="1854962"/>
                      <a:pt x="0" y="184569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845691"/>
                    </a:lnTo>
                    <a:lnTo>
                      <a:pt x="16891" y="1845691"/>
                    </a:lnTo>
                    <a:lnTo>
                      <a:pt x="16891" y="1828800"/>
                    </a:lnTo>
                    <a:lnTo>
                      <a:pt x="8551291" y="1828800"/>
                    </a:lnTo>
                    <a:lnTo>
                      <a:pt x="8551291" y="1845691"/>
                    </a:lnTo>
                    <a:lnTo>
                      <a:pt x="8534400" y="1845691"/>
                    </a:lnTo>
                    <a:lnTo>
                      <a:pt x="8534400" y="16891"/>
                    </a:lnTo>
                    <a:lnTo>
                      <a:pt x="8551291" y="16891"/>
                    </a:lnTo>
                    <a:lnTo>
                      <a:pt x="85512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565C0"/>
              </a:solidFill>
            </p:spPr>
          </p:sp>
        </p:grpSp>
        <p:grpSp>
          <p:nvGrpSpPr>
            <p:cNvPr name="Group 39" id="39"/>
            <p:cNvGrpSpPr/>
            <p:nvPr/>
          </p:nvGrpSpPr>
          <p:grpSpPr>
            <a:xfrm rot="0">
              <a:off x="0" y="16935"/>
              <a:ext cx="8534400" cy="1828800"/>
              <a:chOff x="0" y="0"/>
              <a:chExt cx="8534400" cy="1828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534400" cy="1828800"/>
              </a:xfrm>
              <a:custGeom>
                <a:avLst/>
                <a:gdLst/>
                <a:ahLst/>
                <a:cxnLst/>
                <a:rect r="r" b="b" t="t" l="l"/>
                <a:pathLst>
                  <a:path h="1828800" w="8534400">
                    <a:moveTo>
                      <a:pt x="0" y="0"/>
                    </a:moveTo>
                    <a:lnTo>
                      <a:pt x="8534400" y="0"/>
                    </a:lnTo>
                    <a:lnTo>
                      <a:pt x="8534400" y="1828800"/>
                    </a:lnTo>
                    <a:lnTo>
                      <a:pt x="0" y="182880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40930" r="0" b="-40930"/>
                </a:stretch>
              </a:blip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66675"/>
                <a:ext cx="8534400" cy="189547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React-Bootstrap</a:t>
                </a:r>
              </a:p>
            </p:txBody>
          </p:sp>
        </p:grpSp>
      </p:grpSp>
      <p:grpSp>
        <p:nvGrpSpPr>
          <p:cNvPr name="Group 42" id="42"/>
          <p:cNvGrpSpPr/>
          <p:nvPr/>
        </p:nvGrpSpPr>
        <p:grpSpPr>
          <a:xfrm rot="0">
            <a:off x="811466" y="6959603"/>
            <a:ext cx="8346443" cy="1305563"/>
            <a:chOff x="0" y="0"/>
            <a:chExt cx="11128591" cy="174075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6891" y="16891"/>
              <a:ext cx="110947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0F4FF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128501" cy="1740662"/>
            </a:xfrm>
            <a:custGeom>
              <a:avLst/>
              <a:gdLst/>
              <a:ahLst/>
              <a:cxnLst/>
              <a:rect r="r" b="b" t="t" l="l"/>
              <a:pathLst>
                <a:path h="174066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723771"/>
                  </a:lnTo>
                  <a:cubicBezTo>
                    <a:pt x="11128501" y="1733169"/>
                    <a:pt x="11120882" y="1740662"/>
                    <a:pt x="11111611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11111611" y="1706880"/>
                  </a:lnTo>
                  <a:lnTo>
                    <a:pt x="11111611" y="1723771"/>
                  </a:lnTo>
                  <a:lnTo>
                    <a:pt x="11094720" y="172377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AEC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98483" y="6972300"/>
            <a:ext cx="7772400" cy="1280160"/>
            <a:chOff x="0" y="0"/>
            <a:chExt cx="10363200" cy="17068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3632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036320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Xây dựng UI nhanh, không cần viết CSS từ đầu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589706" y="6959603"/>
            <a:ext cx="8346443" cy="1305563"/>
            <a:chOff x="0" y="0"/>
            <a:chExt cx="11128591" cy="174075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6891" y="16891"/>
              <a:ext cx="110947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0F4FF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128501" cy="1740662"/>
            </a:xfrm>
            <a:custGeom>
              <a:avLst/>
              <a:gdLst/>
              <a:ahLst/>
              <a:cxnLst/>
              <a:rect r="r" b="b" t="t" l="l"/>
              <a:pathLst>
                <a:path h="174066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723771"/>
                  </a:lnTo>
                  <a:cubicBezTo>
                    <a:pt x="11128501" y="1733169"/>
                    <a:pt x="11120882" y="1740662"/>
                    <a:pt x="11111611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11111611" y="1706880"/>
                  </a:lnTo>
                  <a:lnTo>
                    <a:pt x="11111611" y="1723771"/>
                  </a:lnTo>
                  <a:lnTo>
                    <a:pt x="11094720" y="172377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AEC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876723" y="6972300"/>
            <a:ext cx="7772400" cy="1280160"/>
            <a:chOff x="0" y="0"/>
            <a:chExt cx="10363200" cy="17068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3632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036320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Tái sử dụng component linh hoạt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811466" y="8514083"/>
            <a:ext cx="8346443" cy="1305563"/>
            <a:chOff x="0" y="0"/>
            <a:chExt cx="11128591" cy="174075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110947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0F4FF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128501" cy="1740662"/>
            </a:xfrm>
            <a:custGeom>
              <a:avLst/>
              <a:gdLst/>
              <a:ahLst/>
              <a:cxnLst/>
              <a:rect r="r" b="b" t="t" l="l"/>
              <a:pathLst>
                <a:path h="174066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723771"/>
                  </a:lnTo>
                  <a:cubicBezTo>
                    <a:pt x="11128501" y="1733169"/>
                    <a:pt x="11120882" y="1740662"/>
                    <a:pt x="11111611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11111611" y="1706880"/>
                  </a:lnTo>
                  <a:lnTo>
                    <a:pt x="11111611" y="1723771"/>
                  </a:lnTo>
                  <a:lnTo>
                    <a:pt x="11094720" y="172377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AEC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098483" y="8526780"/>
            <a:ext cx="7772400" cy="1280160"/>
            <a:chOff x="0" y="0"/>
            <a:chExt cx="10363200" cy="17068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3632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1036320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4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Responsive sẵn, không cần cấu hình thêm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589706" y="8514083"/>
            <a:ext cx="8346443" cy="1305563"/>
            <a:chOff x="0" y="0"/>
            <a:chExt cx="11128591" cy="174075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16891" y="16891"/>
              <a:ext cx="110947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0F4FF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1128501" cy="1740662"/>
            </a:xfrm>
            <a:custGeom>
              <a:avLst/>
              <a:gdLst/>
              <a:ahLst/>
              <a:cxnLst/>
              <a:rect r="r" b="b" t="t" l="l"/>
              <a:pathLst>
                <a:path h="174066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723771"/>
                  </a:lnTo>
                  <a:cubicBezTo>
                    <a:pt x="11128501" y="1733169"/>
                    <a:pt x="11120882" y="1740662"/>
                    <a:pt x="11111611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11111611" y="1706880"/>
                  </a:lnTo>
                  <a:lnTo>
                    <a:pt x="11111611" y="1723771"/>
                  </a:lnTo>
                  <a:lnTo>
                    <a:pt x="11094720" y="172377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AEC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876723" y="8526780"/>
            <a:ext cx="7772400" cy="1280160"/>
            <a:chOff x="0" y="0"/>
            <a:chExt cx="10363200" cy="17068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3632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1036320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Tích hợp tốt với React state &amp; props</a:t>
              </a:r>
            </a:p>
          </p:txBody>
        </p:sp>
      </p:grpSp>
      <p:sp>
        <p:nvSpPr>
          <p:cNvPr name="Freeform 66" id="66"/>
          <p:cNvSpPr/>
          <p:nvPr/>
        </p:nvSpPr>
        <p:spPr>
          <a:xfrm flipH="false" flipV="false" rot="0">
            <a:off x="460056" y="457211"/>
            <a:ext cx="2436829" cy="1359547"/>
          </a:xfrm>
          <a:custGeom>
            <a:avLst/>
            <a:gdLst/>
            <a:ahLst/>
            <a:cxnLst/>
            <a:rect r="r" b="b" t="t" l="l"/>
            <a:pathLst>
              <a:path h="1359547" w="2436829">
                <a:moveTo>
                  <a:pt x="0" y="0"/>
                </a:moveTo>
                <a:lnTo>
                  <a:pt x="2436829" y="0"/>
                </a:lnTo>
                <a:lnTo>
                  <a:pt x="2436829" y="1359548"/>
                </a:lnTo>
                <a:lnTo>
                  <a:pt x="0" y="13595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5400000">
            <a:off x="12520241" y="4465942"/>
            <a:ext cx="1182316" cy="342872"/>
          </a:xfrm>
          <a:custGeom>
            <a:avLst/>
            <a:gdLst/>
            <a:ahLst/>
            <a:cxnLst/>
            <a:rect r="r" b="b" t="t" l="l"/>
            <a:pathLst>
              <a:path h="342872" w="1182316">
                <a:moveTo>
                  <a:pt x="0" y="0"/>
                </a:moveTo>
                <a:lnTo>
                  <a:pt x="1182316" y="0"/>
                </a:lnTo>
                <a:lnTo>
                  <a:pt x="1182316" y="342872"/>
                </a:lnTo>
                <a:lnTo>
                  <a:pt x="0" y="3428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8" id="68"/>
          <p:cNvGrpSpPr/>
          <p:nvPr/>
        </p:nvGrpSpPr>
        <p:grpSpPr>
          <a:xfrm rot="0">
            <a:off x="811466" y="6363338"/>
            <a:ext cx="7680960" cy="640080"/>
            <a:chOff x="0" y="0"/>
            <a:chExt cx="10241280" cy="8534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57150"/>
              <a:ext cx="102412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97A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Ưu điểm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68041" y="692957"/>
            <a:ext cx="8356602" cy="1123801"/>
            <a:chOff x="0" y="0"/>
            <a:chExt cx="11142135" cy="1498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142135" cy="1498402"/>
            </a:xfrm>
            <a:custGeom>
              <a:avLst/>
              <a:gdLst/>
              <a:ahLst/>
              <a:cxnLst/>
              <a:rect r="r" b="b" t="t" l="l"/>
              <a:pathLst>
                <a:path h="1498402" w="11142135">
                  <a:moveTo>
                    <a:pt x="0" y="0"/>
                  </a:moveTo>
                  <a:lnTo>
                    <a:pt x="11142135" y="0"/>
                  </a:lnTo>
                  <a:lnTo>
                    <a:pt x="11142135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6557" r="-96960" b="-2341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1142135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02 - Cách cài đặt &amp; Sử dụng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832948"/>
            <a:ext cx="16484603" cy="80267"/>
            <a:chOff x="0" y="0"/>
            <a:chExt cx="21979471" cy="1070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1945599" cy="73152"/>
            </a:xfrm>
            <a:custGeom>
              <a:avLst/>
              <a:gdLst/>
              <a:ahLst/>
              <a:cxnLst/>
              <a:rect r="r" b="b" t="t" l="l"/>
              <a:pathLst>
                <a:path h="73152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E3E8F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79382" cy="106936"/>
            </a:xfrm>
            <a:custGeom>
              <a:avLst/>
              <a:gdLst/>
              <a:ahLst/>
              <a:cxnLst/>
              <a:rect r="r" b="b" t="t" l="l"/>
              <a:pathLst>
                <a:path h="106936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90043"/>
                  </a:lnTo>
                  <a:cubicBezTo>
                    <a:pt x="21979382" y="99441"/>
                    <a:pt x="21971763" y="106934"/>
                    <a:pt x="2196249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21962490" y="73152"/>
                  </a:lnTo>
                  <a:lnTo>
                    <a:pt x="21962490" y="90043"/>
                  </a:lnTo>
                  <a:lnTo>
                    <a:pt x="21945600" y="9004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3E8F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2290148"/>
            <a:ext cx="939803" cy="939803"/>
            <a:chOff x="0" y="0"/>
            <a:chExt cx="1253071" cy="12530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53109" cy="1252982"/>
            </a:xfrm>
            <a:custGeom>
              <a:avLst/>
              <a:gdLst/>
              <a:ahLst/>
              <a:cxnLst/>
              <a:rect r="r" b="b" t="t" l="l"/>
              <a:pathLst>
                <a:path h="1252982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41397" y="2302845"/>
            <a:ext cx="914400" cy="914400"/>
            <a:chOff x="0" y="0"/>
            <a:chExt cx="121920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2192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230117" y="2302845"/>
            <a:ext cx="5852160" cy="914400"/>
            <a:chOff x="0" y="0"/>
            <a:chExt cx="780288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8028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4704" r="0" b="-7470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780288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Tạo project React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343900" y="2107268"/>
            <a:ext cx="9352283" cy="1342139"/>
            <a:chOff x="0" y="0"/>
            <a:chExt cx="12469711" cy="17895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24358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E2A3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469622" cy="1789430"/>
            </a:xfrm>
            <a:custGeom>
              <a:avLst/>
              <a:gdLst/>
              <a:ahLst/>
              <a:cxnLst/>
              <a:rect r="r" b="b" t="t" l="l"/>
              <a:pathLst>
                <a:path h="1789430" w="12469622">
                  <a:moveTo>
                    <a:pt x="16891" y="0"/>
                  </a:moveTo>
                  <a:lnTo>
                    <a:pt x="12452731" y="0"/>
                  </a:lnTo>
                  <a:cubicBezTo>
                    <a:pt x="12462129" y="0"/>
                    <a:pt x="12469622" y="7620"/>
                    <a:pt x="12469622" y="16891"/>
                  </a:cubicBezTo>
                  <a:lnTo>
                    <a:pt x="12469622" y="1772539"/>
                  </a:lnTo>
                  <a:cubicBezTo>
                    <a:pt x="12469622" y="1781937"/>
                    <a:pt x="12462002" y="1789430"/>
                    <a:pt x="1245273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12452731" y="1755648"/>
                  </a:lnTo>
                  <a:lnTo>
                    <a:pt x="12452731" y="1772539"/>
                  </a:lnTo>
                  <a:lnTo>
                    <a:pt x="12435840" y="1772539"/>
                  </a:lnTo>
                  <a:lnTo>
                    <a:pt x="12435840" y="16891"/>
                  </a:lnTo>
                  <a:lnTo>
                    <a:pt x="12452731" y="16891"/>
                  </a:lnTo>
                  <a:lnTo>
                    <a:pt x="12452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A3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630917" y="2211405"/>
            <a:ext cx="8778240" cy="1133856"/>
            <a:chOff x="0" y="0"/>
            <a:chExt cx="11704320" cy="15118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7043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0851" r="0" b="-10085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170432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A8FF78"/>
                  </a:solidFill>
                  <a:latin typeface="Consolas"/>
                  <a:ea typeface="Consolas"/>
                  <a:cs typeface="Consolas"/>
                  <a:sym typeface="Consolas"/>
                </a:rPr>
                <a:t>npm create vite@latest my-app -- --template react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A8FF78"/>
                  </a:solidFill>
                  <a:latin typeface="Consolas"/>
                  <a:ea typeface="Consolas"/>
                  <a:cs typeface="Consolas"/>
                  <a:sym typeface="Consolas"/>
                </a:rPr>
                <a:t>cd my-app &amp;&amp; npm install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8700" y="3945850"/>
            <a:ext cx="7053577" cy="939803"/>
            <a:chOff x="0" y="0"/>
            <a:chExt cx="9404769" cy="1253071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253071" cy="1253071"/>
              <a:chOff x="0" y="0"/>
              <a:chExt cx="1253071" cy="1253071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16891" y="16891"/>
                <a:ext cx="121920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1219200">
                    <a:moveTo>
                      <a:pt x="0" y="609600"/>
                    </a:moveTo>
                    <a:cubicBezTo>
                      <a:pt x="0" y="272923"/>
                      <a:pt x="272923" y="0"/>
                      <a:pt x="609600" y="0"/>
                    </a:cubicBezTo>
                    <a:cubicBezTo>
                      <a:pt x="946277" y="0"/>
                      <a:pt x="1219200" y="272923"/>
                      <a:pt x="1219200" y="609600"/>
                    </a:cubicBezTo>
                    <a:cubicBezTo>
                      <a:pt x="1219200" y="946277"/>
                      <a:pt x="946277" y="1219200"/>
                      <a:pt x="609600" y="1219200"/>
                    </a:cubicBezTo>
                    <a:cubicBezTo>
                      <a:pt x="272923" y="1219200"/>
                      <a:pt x="0" y="946277"/>
                      <a:pt x="0" y="609600"/>
                    </a:cubicBezTo>
                    <a:close/>
                  </a:path>
                </a:pathLst>
              </a:custGeom>
              <a:solidFill>
                <a:srgbClr val="1565C0"/>
              </a:solidFill>
            </p:spPr>
          </p:sp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53109" cy="1252982"/>
              </a:xfrm>
              <a:custGeom>
                <a:avLst/>
                <a:gdLst/>
                <a:ahLst/>
                <a:cxnLst/>
                <a:rect r="r" b="b" t="t" l="l"/>
                <a:pathLst>
                  <a:path h="1252982" w="1253109">
                    <a:moveTo>
                      <a:pt x="0" y="626491"/>
                    </a:moveTo>
                    <a:cubicBezTo>
                      <a:pt x="0" y="280543"/>
                      <a:pt x="280543" y="0"/>
                      <a:pt x="626491" y="0"/>
                    </a:cubicBezTo>
                    <a:lnTo>
                      <a:pt x="626491" y="16891"/>
                    </a:lnTo>
                    <a:lnTo>
                      <a:pt x="626491" y="0"/>
                    </a:lnTo>
                    <a:cubicBezTo>
                      <a:pt x="972566" y="0"/>
                      <a:pt x="1253109" y="280543"/>
                      <a:pt x="1253109" y="626491"/>
                    </a:cubicBezTo>
                    <a:lnTo>
                      <a:pt x="1236091" y="626491"/>
                    </a:lnTo>
                    <a:lnTo>
                      <a:pt x="1252982" y="626491"/>
                    </a:lnTo>
                    <a:cubicBezTo>
                      <a:pt x="1252982" y="972566"/>
                      <a:pt x="972439" y="1252982"/>
                      <a:pt x="626491" y="1252982"/>
                    </a:cubicBezTo>
                    <a:lnTo>
                      <a:pt x="626491" y="1236091"/>
                    </a:lnTo>
                    <a:lnTo>
                      <a:pt x="626491" y="1252982"/>
                    </a:lnTo>
                    <a:cubicBezTo>
                      <a:pt x="280543" y="1253109"/>
                      <a:pt x="0" y="972566"/>
                      <a:pt x="0" y="626491"/>
                    </a:cubicBezTo>
                    <a:lnTo>
                      <a:pt x="16891" y="626491"/>
                    </a:lnTo>
                    <a:lnTo>
                      <a:pt x="33909" y="626491"/>
                    </a:lnTo>
                    <a:lnTo>
                      <a:pt x="16891" y="626491"/>
                    </a:lnTo>
                    <a:lnTo>
                      <a:pt x="0" y="626491"/>
                    </a:lnTo>
                    <a:moveTo>
                      <a:pt x="33909" y="626491"/>
                    </a:moveTo>
                    <a:cubicBezTo>
                      <a:pt x="33909" y="635889"/>
                      <a:pt x="26289" y="643382"/>
                      <a:pt x="17018" y="643382"/>
                    </a:cubicBezTo>
                    <a:cubicBezTo>
                      <a:pt x="7747" y="643382"/>
                      <a:pt x="0" y="635889"/>
                      <a:pt x="0" y="626491"/>
                    </a:cubicBezTo>
                    <a:cubicBezTo>
                      <a:pt x="0" y="617093"/>
                      <a:pt x="7620" y="609600"/>
                      <a:pt x="16891" y="609600"/>
                    </a:cubicBezTo>
                    <a:cubicBezTo>
                      <a:pt x="26162" y="609600"/>
                      <a:pt x="33782" y="617220"/>
                      <a:pt x="33782" y="626491"/>
                    </a:cubicBezTo>
                    <a:cubicBezTo>
                      <a:pt x="33909" y="953897"/>
                      <a:pt x="299212" y="1219200"/>
                      <a:pt x="626491" y="1219200"/>
                    </a:cubicBezTo>
                    <a:cubicBezTo>
                      <a:pt x="953897" y="1219200"/>
                      <a:pt x="1219200" y="953897"/>
                      <a:pt x="1219200" y="626491"/>
                    </a:cubicBezTo>
                    <a:cubicBezTo>
                      <a:pt x="1219200" y="299212"/>
                      <a:pt x="953897" y="33909"/>
                      <a:pt x="626491" y="33909"/>
                    </a:cubicBezTo>
                    <a:lnTo>
                      <a:pt x="626491" y="16891"/>
                    </a:lnTo>
                    <a:lnTo>
                      <a:pt x="626491" y="33909"/>
                    </a:lnTo>
                    <a:cubicBezTo>
                      <a:pt x="299212" y="33909"/>
                      <a:pt x="33909" y="299212"/>
                      <a:pt x="33909" y="626491"/>
                    </a:cubicBezTo>
                    <a:close/>
                  </a:path>
                </a:pathLst>
              </a:custGeom>
              <a:solidFill>
                <a:srgbClr val="1565C0"/>
              </a:solidFill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16929" y="16929"/>
              <a:ext cx="1219200" cy="1219200"/>
              <a:chOff x="0" y="0"/>
              <a:chExt cx="1219200" cy="12192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21920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1219200">
                    <a:moveTo>
                      <a:pt x="0" y="0"/>
                    </a:moveTo>
                    <a:lnTo>
                      <a:pt x="1219200" y="0"/>
                    </a:lnTo>
                    <a:lnTo>
                      <a:pt x="12192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57150"/>
                <a:ext cx="1219200" cy="12763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2</a:t>
                </a: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1601889" y="16929"/>
              <a:ext cx="7802880" cy="1219200"/>
              <a:chOff x="0" y="0"/>
              <a:chExt cx="7802880" cy="12192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780288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7802880">
                    <a:moveTo>
                      <a:pt x="0" y="0"/>
                    </a:moveTo>
                    <a:lnTo>
                      <a:pt x="7802880" y="0"/>
                    </a:lnTo>
                    <a:lnTo>
                      <a:pt x="780288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74704" r="0" b="-74704"/>
                </a:stretch>
              </a:blip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57150"/>
                <a:ext cx="7802880" cy="12763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1A1A2E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Cài React-Bootstrap</a:t>
                </a:r>
              </a:p>
            </p:txBody>
          </p:sp>
        </p:grpSp>
      </p:grpSp>
      <p:grpSp>
        <p:nvGrpSpPr>
          <p:cNvPr name="Group 33" id="33"/>
          <p:cNvGrpSpPr/>
          <p:nvPr/>
        </p:nvGrpSpPr>
        <p:grpSpPr>
          <a:xfrm rot="0">
            <a:off x="8343900" y="3744682"/>
            <a:ext cx="9352283" cy="1342139"/>
            <a:chOff x="0" y="0"/>
            <a:chExt cx="12469711" cy="1789519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12469711" cy="1789519"/>
              <a:chOff x="0" y="0"/>
              <a:chExt cx="12469711" cy="1789519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16891" y="16891"/>
                <a:ext cx="12435840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2435840">
                    <a:moveTo>
                      <a:pt x="0" y="0"/>
                    </a:moveTo>
                    <a:lnTo>
                      <a:pt x="12435840" y="0"/>
                    </a:lnTo>
                    <a:lnTo>
                      <a:pt x="12435840" y="1755648"/>
                    </a:lnTo>
                    <a:lnTo>
                      <a:pt x="0" y="1755648"/>
                    </a:lnTo>
                    <a:close/>
                  </a:path>
                </a:pathLst>
              </a:custGeom>
              <a:solidFill>
                <a:srgbClr val="1E2A3A"/>
              </a:solidFill>
            </p:spPr>
          </p:sp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2469622" cy="1789430"/>
              </a:xfrm>
              <a:custGeom>
                <a:avLst/>
                <a:gdLst/>
                <a:ahLst/>
                <a:cxnLst/>
                <a:rect r="r" b="b" t="t" l="l"/>
                <a:pathLst>
                  <a:path h="1789430" w="12469622">
                    <a:moveTo>
                      <a:pt x="16891" y="0"/>
                    </a:moveTo>
                    <a:lnTo>
                      <a:pt x="12452731" y="0"/>
                    </a:lnTo>
                    <a:cubicBezTo>
                      <a:pt x="12462129" y="0"/>
                      <a:pt x="12469622" y="7620"/>
                      <a:pt x="12469622" y="16891"/>
                    </a:cubicBezTo>
                    <a:lnTo>
                      <a:pt x="12469622" y="1772539"/>
                    </a:lnTo>
                    <a:cubicBezTo>
                      <a:pt x="12469622" y="1781937"/>
                      <a:pt x="12462002" y="1789430"/>
                      <a:pt x="12452731" y="1789430"/>
                    </a:cubicBezTo>
                    <a:lnTo>
                      <a:pt x="16891" y="1789430"/>
                    </a:lnTo>
                    <a:cubicBezTo>
                      <a:pt x="7493" y="1789430"/>
                      <a:pt x="0" y="1781810"/>
                      <a:pt x="0" y="177253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772539"/>
                    </a:lnTo>
                    <a:lnTo>
                      <a:pt x="16891" y="1772539"/>
                    </a:lnTo>
                    <a:lnTo>
                      <a:pt x="16891" y="1755648"/>
                    </a:lnTo>
                    <a:lnTo>
                      <a:pt x="12452731" y="1755648"/>
                    </a:lnTo>
                    <a:lnTo>
                      <a:pt x="12452731" y="1772539"/>
                    </a:lnTo>
                    <a:lnTo>
                      <a:pt x="12435840" y="1772539"/>
                    </a:lnTo>
                    <a:lnTo>
                      <a:pt x="12435840" y="16891"/>
                    </a:lnTo>
                    <a:lnTo>
                      <a:pt x="12452731" y="16891"/>
                    </a:lnTo>
                    <a:lnTo>
                      <a:pt x="1245273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2A3A"/>
              </a:solidFill>
            </p:spPr>
          </p:sp>
        </p:grpSp>
        <p:grpSp>
          <p:nvGrpSpPr>
            <p:cNvPr name="Group 37" id="37"/>
            <p:cNvGrpSpPr/>
            <p:nvPr/>
          </p:nvGrpSpPr>
          <p:grpSpPr>
            <a:xfrm rot="0">
              <a:off x="382689" y="138849"/>
              <a:ext cx="11704320" cy="1511808"/>
              <a:chOff x="0" y="0"/>
              <a:chExt cx="11704320" cy="1511808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1704320" cy="1511808"/>
              </a:xfrm>
              <a:custGeom>
                <a:avLst/>
                <a:gdLst/>
                <a:ahLst/>
                <a:cxnLst/>
                <a:rect r="r" b="b" t="t" l="l"/>
                <a:pathLst>
                  <a:path h="1511808" w="11704320">
                    <a:moveTo>
                      <a:pt x="0" y="0"/>
                    </a:moveTo>
                    <a:lnTo>
                      <a:pt x="11704320" y="0"/>
                    </a:lnTo>
                    <a:lnTo>
                      <a:pt x="11704320" y="1511808"/>
                    </a:lnTo>
                    <a:lnTo>
                      <a:pt x="0" y="151180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00851" r="0" b="-100851"/>
                </a:stretch>
              </a:blip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47625"/>
                <a:ext cx="11704320" cy="155943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>
                    <a:solidFill>
                      <a:srgbClr val="A8FF78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npm install react-bootstrap bootstrap</a:t>
                </a:r>
              </a:p>
            </p:txBody>
          </p:sp>
        </p:grpSp>
      </p:grpSp>
      <p:grpSp>
        <p:nvGrpSpPr>
          <p:cNvPr name="Group 40" id="40"/>
          <p:cNvGrpSpPr/>
          <p:nvPr/>
        </p:nvGrpSpPr>
        <p:grpSpPr>
          <a:xfrm rot="0">
            <a:off x="1028700" y="5583264"/>
            <a:ext cx="7053577" cy="939803"/>
            <a:chOff x="0" y="0"/>
            <a:chExt cx="9404769" cy="1253071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0"/>
              <a:ext cx="1253071" cy="1253071"/>
              <a:chOff x="0" y="0"/>
              <a:chExt cx="1253071" cy="1253071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16891" y="16891"/>
                <a:ext cx="121920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1219200">
                    <a:moveTo>
                      <a:pt x="0" y="609600"/>
                    </a:moveTo>
                    <a:cubicBezTo>
                      <a:pt x="0" y="272923"/>
                      <a:pt x="272923" y="0"/>
                      <a:pt x="609600" y="0"/>
                    </a:cubicBezTo>
                    <a:cubicBezTo>
                      <a:pt x="946277" y="0"/>
                      <a:pt x="1219200" y="272923"/>
                      <a:pt x="1219200" y="609600"/>
                    </a:cubicBezTo>
                    <a:cubicBezTo>
                      <a:pt x="1219200" y="946277"/>
                      <a:pt x="946277" y="1219200"/>
                      <a:pt x="609600" y="1219200"/>
                    </a:cubicBezTo>
                    <a:cubicBezTo>
                      <a:pt x="272923" y="1219200"/>
                      <a:pt x="0" y="946277"/>
                      <a:pt x="0" y="609600"/>
                    </a:cubicBezTo>
                    <a:close/>
                  </a:path>
                </a:pathLst>
              </a:custGeom>
              <a:solidFill>
                <a:srgbClr val="1565C0"/>
              </a:solidFill>
            </p:spPr>
          </p:sp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253109" cy="1252982"/>
              </a:xfrm>
              <a:custGeom>
                <a:avLst/>
                <a:gdLst/>
                <a:ahLst/>
                <a:cxnLst/>
                <a:rect r="r" b="b" t="t" l="l"/>
                <a:pathLst>
                  <a:path h="1252982" w="1253109">
                    <a:moveTo>
                      <a:pt x="0" y="626491"/>
                    </a:moveTo>
                    <a:cubicBezTo>
                      <a:pt x="0" y="280543"/>
                      <a:pt x="280543" y="0"/>
                      <a:pt x="626491" y="0"/>
                    </a:cubicBezTo>
                    <a:lnTo>
                      <a:pt x="626491" y="16891"/>
                    </a:lnTo>
                    <a:lnTo>
                      <a:pt x="626491" y="0"/>
                    </a:lnTo>
                    <a:cubicBezTo>
                      <a:pt x="972566" y="0"/>
                      <a:pt x="1253109" y="280543"/>
                      <a:pt x="1253109" y="626491"/>
                    </a:cubicBezTo>
                    <a:lnTo>
                      <a:pt x="1236091" y="626491"/>
                    </a:lnTo>
                    <a:lnTo>
                      <a:pt x="1252982" y="626491"/>
                    </a:lnTo>
                    <a:cubicBezTo>
                      <a:pt x="1252982" y="972566"/>
                      <a:pt x="972439" y="1252982"/>
                      <a:pt x="626491" y="1252982"/>
                    </a:cubicBezTo>
                    <a:lnTo>
                      <a:pt x="626491" y="1236091"/>
                    </a:lnTo>
                    <a:lnTo>
                      <a:pt x="626491" y="1252982"/>
                    </a:lnTo>
                    <a:cubicBezTo>
                      <a:pt x="280543" y="1253109"/>
                      <a:pt x="0" y="972566"/>
                      <a:pt x="0" y="626491"/>
                    </a:cubicBezTo>
                    <a:lnTo>
                      <a:pt x="16891" y="626491"/>
                    </a:lnTo>
                    <a:lnTo>
                      <a:pt x="33909" y="626491"/>
                    </a:lnTo>
                    <a:lnTo>
                      <a:pt x="16891" y="626491"/>
                    </a:lnTo>
                    <a:lnTo>
                      <a:pt x="0" y="626491"/>
                    </a:lnTo>
                    <a:moveTo>
                      <a:pt x="33909" y="626491"/>
                    </a:moveTo>
                    <a:cubicBezTo>
                      <a:pt x="33909" y="635889"/>
                      <a:pt x="26289" y="643382"/>
                      <a:pt x="17018" y="643382"/>
                    </a:cubicBezTo>
                    <a:cubicBezTo>
                      <a:pt x="7747" y="643382"/>
                      <a:pt x="0" y="635889"/>
                      <a:pt x="0" y="626491"/>
                    </a:cubicBezTo>
                    <a:cubicBezTo>
                      <a:pt x="0" y="617093"/>
                      <a:pt x="7620" y="609600"/>
                      <a:pt x="16891" y="609600"/>
                    </a:cubicBezTo>
                    <a:cubicBezTo>
                      <a:pt x="26162" y="609600"/>
                      <a:pt x="33782" y="617220"/>
                      <a:pt x="33782" y="626491"/>
                    </a:cubicBezTo>
                    <a:cubicBezTo>
                      <a:pt x="33909" y="953897"/>
                      <a:pt x="299212" y="1219200"/>
                      <a:pt x="626491" y="1219200"/>
                    </a:cubicBezTo>
                    <a:cubicBezTo>
                      <a:pt x="953897" y="1219200"/>
                      <a:pt x="1219200" y="953897"/>
                      <a:pt x="1219200" y="626491"/>
                    </a:cubicBezTo>
                    <a:cubicBezTo>
                      <a:pt x="1219200" y="299212"/>
                      <a:pt x="953897" y="33909"/>
                      <a:pt x="626491" y="33909"/>
                    </a:cubicBezTo>
                    <a:lnTo>
                      <a:pt x="626491" y="16891"/>
                    </a:lnTo>
                    <a:lnTo>
                      <a:pt x="626491" y="33909"/>
                    </a:lnTo>
                    <a:cubicBezTo>
                      <a:pt x="299212" y="33909"/>
                      <a:pt x="33909" y="299212"/>
                      <a:pt x="33909" y="626491"/>
                    </a:cubicBezTo>
                    <a:close/>
                  </a:path>
                </a:pathLst>
              </a:custGeom>
              <a:solidFill>
                <a:srgbClr val="1565C0"/>
              </a:solidFill>
            </p:spPr>
          </p:sp>
        </p:grpSp>
        <p:grpSp>
          <p:nvGrpSpPr>
            <p:cNvPr name="Group 44" id="44"/>
            <p:cNvGrpSpPr/>
            <p:nvPr/>
          </p:nvGrpSpPr>
          <p:grpSpPr>
            <a:xfrm rot="0">
              <a:off x="16929" y="16929"/>
              <a:ext cx="1219200" cy="1219200"/>
              <a:chOff x="0" y="0"/>
              <a:chExt cx="1219200" cy="12192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21920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1219200">
                    <a:moveTo>
                      <a:pt x="0" y="0"/>
                    </a:moveTo>
                    <a:lnTo>
                      <a:pt x="1219200" y="0"/>
                    </a:lnTo>
                    <a:lnTo>
                      <a:pt x="12192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57150"/>
                <a:ext cx="1219200" cy="12763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3</a:t>
                </a: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1601889" y="16929"/>
              <a:ext cx="7802880" cy="1219200"/>
              <a:chOff x="0" y="0"/>
              <a:chExt cx="7802880" cy="12192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780288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7802880">
                    <a:moveTo>
                      <a:pt x="0" y="0"/>
                    </a:moveTo>
                    <a:lnTo>
                      <a:pt x="7802880" y="0"/>
                    </a:lnTo>
                    <a:lnTo>
                      <a:pt x="780288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74704" r="0" b="-74704"/>
                </a:stretch>
              </a:blip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57150"/>
                <a:ext cx="7802880" cy="12763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1A1A2E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Cài React Router</a:t>
                </a:r>
              </a:p>
            </p:txBody>
          </p:sp>
        </p:grpSp>
      </p:grpSp>
      <p:grpSp>
        <p:nvGrpSpPr>
          <p:cNvPr name="Group 50" id="50"/>
          <p:cNvGrpSpPr/>
          <p:nvPr/>
        </p:nvGrpSpPr>
        <p:grpSpPr>
          <a:xfrm rot="0">
            <a:off x="8339452" y="5382096"/>
            <a:ext cx="9352283" cy="1342139"/>
            <a:chOff x="0" y="0"/>
            <a:chExt cx="12469711" cy="1789519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0" y="0"/>
              <a:ext cx="12469711" cy="1789519"/>
              <a:chOff x="0" y="0"/>
              <a:chExt cx="12469711" cy="1789519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16891" y="16891"/>
                <a:ext cx="12435840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2435840">
                    <a:moveTo>
                      <a:pt x="0" y="0"/>
                    </a:moveTo>
                    <a:lnTo>
                      <a:pt x="12435840" y="0"/>
                    </a:lnTo>
                    <a:lnTo>
                      <a:pt x="12435840" y="1755648"/>
                    </a:lnTo>
                    <a:lnTo>
                      <a:pt x="0" y="1755648"/>
                    </a:lnTo>
                    <a:close/>
                  </a:path>
                </a:pathLst>
              </a:custGeom>
              <a:solidFill>
                <a:srgbClr val="1E2A3A"/>
              </a:solidFill>
            </p:spPr>
          </p:sp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12469622" cy="1789430"/>
              </a:xfrm>
              <a:custGeom>
                <a:avLst/>
                <a:gdLst/>
                <a:ahLst/>
                <a:cxnLst/>
                <a:rect r="r" b="b" t="t" l="l"/>
                <a:pathLst>
                  <a:path h="1789430" w="12469622">
                    <a:moveTo>
                      <a:pt x="16891" y="0"/>
                    </a:moveTo>
                    <a:lnTo>
                      <a:pt x="12452731" y="0"/>
                    </a:lnTo>
                    <a:cubicBezTo>
                      <a:pt x="12462129" y="0"/>
                      <a:pt x="12469622" y="7620"/>
                      <a:pt x="12469622" y="16891"/>
                    </a:cubicBezTo>
                    <a:lnTo>
                      <a:pt x="12469622" y="1772539"/>
                    </a:lnTo>
                    <a:cubicBezTo>
                      <a:pt x="12469622" y="1781937"/>
                      <a:pt x="12462002" y="1789430"/>
                      <a:pt x="12452731" y="1789430"/>
                    </a:cubicBezTo>
                    <a:lnTo>
                      <a:pt x="16891" y="1789430"/>
                    </a:lnTo>
                    <a:cubicBezTo>
                      <a:pt x="7493" y="1789430"/>
                      <a:pt x="0" y="1781810"/>
                      <a:pt x="0" y="177253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772539"/>
                    </a:lnTo>
                    <a:lnTo>
                      <a:pt x="16891" y="1772539"/>
                    </a:lnTo>
                    <a:lnTo>
                      <a:pt x="16891" y="1755648"/>
                    </a:lnTo>
                    <a:lnTo>
                      <a:pt x="12452731" y="1755648"/>
                    </a:lnTo>
                    <a:lnTo>
                      <a:pt x="12452731" y="1772539"/>
                    </a:lnTo>
                    <a:lnTo>
                      <a:pt x="12435840" y="1772539"/>
                    </a:lnTo>
                    <a:lnTo>
                      <a:pt x="12435840" y="16891"/>
                    </a:lnTo>
                    <a:lnTo>
                      <a:pt x="12452731" y="16891"/>
                    </a:lnTo>
                    <a:lnTo>
                      <a:pt x="1245273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2A3A"/>
              </a:solidFill>
            </p:spPr>
          </p:sp>
        </p:grpSp>
        <p:grpSp>
          <p:nvGrpSpPr>
            <p:cNvPr name="Group 54" id="54"/>
            <p:cNvGrpSpPr/>
            <p:nvPr/>
          </p:nvGrpSpPr>
          <p:grpSpPr>
            <a:xfrm rot="0">
              <a:off x="382689" y="138849"/>
              <a:ext cx="11704320" cy="1511808"/>
              <a:chOff x="0" y="0"/>
              <a:chExt cx="11704320" cy="1511808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11704320" cy="1511808"/>
              </a:xfrm>
              <a:custGeom>
                <a:avLst/>
                <a:gdLst/>
                <a:ahLst/>
                <a:cxnLst/>
                <a:rect r="r" b="b" t="t" l="l"/>
                <a:pathLst>
                  <a:path h="1511808" w="11704320">
                    <a:moveTo>
                      <a:pt x="0" y="0"/>
                    </a:moveTo>
                    <a:lnTo>
                      <a:pt x="11704320" y="0"/>
                    </a:lnTo>
                    <a:lnTo>
                      <a:pt x="11704320" y="1511808"/>
                    </a:lnTo>
                    <a:lnTo>
                      <a:pt x="0" y="151180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00851" r="0" b="-100851"/>
                </a:stretch>
              </a:blip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47625"/>
                <a:ext cx="11704320" cy="155943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>
                    <a:solidFill>
                      <a:srgbClr val="A8FF78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npm install react-router-dom</a:t>
                </a:r>
              </a:p>
            </p:txBody>
          </p:sp>
        </p:grpSp>
      </p:grpSp>
      <p:grpSp>
        <p:nvGrpSpPr>
          <p:cNvPr name="Group 57" id="57"/>
          <p:cNvGrpSpPr/>
          <p:nvPr/>
        </p:nvGrpSpPr>
        <p:grpSpPr>
          <a:xfrm rot="0">
            <a:off x="1028700" y="7218392"/>
            <a:ext cx="7053577" cy="939803"/>
            <a:chOff x="0" y="0"/>
            <a:chExt cx="9404769" cy="1253071"/>
          </a:xfrm>
        </p:grpSpPr>
        <p:grpSp>
          <p:nvGrpSpPr>
            <p:cNvPr name="Group 58" id="58"/>
            <p:cNvGrpSpPr/>
            <p:nvPr/>
          </p:nvGrpSpPr>
          <p:grpSpPr>
            <a:xfrm rot="0">
              <a:off x="0" y="0"/>
              <a:ext cx="1253071" cy="1253071"/>
              <a:chOff x="0" y="0"/>
              <a:chExt cx="1253071" cy="1253071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16891" y="16891"/>
                <a:ext cx="121920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1219200">
                    <a:moveTo>
                      <a:pt x="0" y="609600"/>
                    </a:moveTo>
                    <a:cubicBezTo>
                      <a:pt x="0" y="272923"/>
                      <a:pt x="272923" y="0"/>
                      <a:pt x="609600" y="0"/>
                    </a:cubicBezTo>
                    <a:cubicBezTo>
                      <a:pt x="946277" y="0"/>
                      <a:pt x="1219200" y="272923"/>
                      <a:pt x="1219200" y="609600"/>
                    </a:cubicBezTo>
                    <a:cubicBezTo>
                      <a:pt x="1219200" y="946277"/>
                      <a:pt x="946277" y="1219200"/>
                      <a:pt x="609600" y="1219200"/>
                    </a:cubicBezTo>
                    <a:cubicBezTo>
                      <a:pt x="272923" y="1219200"/>
                      <a:pt x="0" y="946277"/>
                      <a:pt x="0" y="609600"/>
                    </a:cubicBezTo>
                    <a:close/>
                  </a:path>
                </a:pathLst>
              </a:custGeom>
              <a:solidFill>
                <a:srgbClr val="1565C0"/>
              </a:solidFill>
            </p:spPr>
          </p:sp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1253109" cy="1252982"/>
              </a:xfrm>
              <a:custGeom>
                <a:avLst/>
                <a:gdLst/>
                <a:ahLst/>
                <a:cxnLst/>
                <a:rect r="r" b="b" t="t" l="l"/>
                <a:pathLst>
                  <a:path h="1252982" w="1253109">
                    <a:moveTo>
                      <a:pt x="0" y="626491"/>
                    </a:moveTo>
                    <a:cubicBezTo>
                      <a:pt x="0" y="280543"/>
                      <a:pt x="280543" y="0"/>
                      <a:pt x="626491" y="0"/>
                    </a:cubicBezTo>
                    <a:lnTo>
                      <a:pt x="626491" y="16891"/>
                    </a:lnTo>
                    <a:lnTo>
                      <a:pt x="626491" y="0"/>
                    </a:lnTo>
                    <a:cubicBezTo>
                      <a:pt x="972566" y="0"/>
                      <a:pt x="1253109" y="280543"/>
                      <a:pt x="1253109" y="626491"/>
                    </a:cubicBezTo>
                    <a:lnTo>
                      <a:pt x="1236091" y="626491"/>
                    </a:lnTo>
                    <a:lnTo>
                      <a:pt x="1252982" y="626491"/>
                    </a:lnTo>
                    <a:cubicBezTo>
                      <a:pt x="1252982" y="972566"/>
                      <a:pt x="972439" y="1252982"/>
                      <a:pt x="626491" y="1252982"/>
                    </a:cubicBezTo>
                    <a:lnTo>
                      <a:pt x="626491" y="1236091"/>
                    </a:lnTo>
                    <a:lnTo>
                      <a:pt x="626491" y="1252982"/>
                    </a:lnTo>
                    <a:cubicBezTo>
                      <a:pt x="280543" y="1253109"/>
                      <a:pt x="0" y="972566"/>
                      <a:pt x="0" y="626491"/>
                    </a:cubicBezTo>
                    <a:lnTo>
                      <a:pt x="16891" y="626491"/>
                    </a:lnTo>
                    <a:lnTo>
                      <a:pt x="33909" y="626491"/>
                    </a:lnTo>
                    <a:lnTo>
                      <a:pt x="16891" y="626491"/>
                    </a:lnTo>
                    <a:lnTo>
                      <a:pt x="0" y="626491"/>
                    </a:lnTo>
                    <a:moveTo>
                      <a:pt x="33909" y="626491"/>
                    </a:moveTo>
                    <a:cubicBezTo>
                      <a:pt x="33909" y="635889"/>
                      <a:pt x="26289" y="643382"/>
                      <a:pt x="17018" y="643382"/>
                    </a:cubicBezTo>
                    <a:cubicBezTo>
                      <a:pt x="7747" y="643382"/>
                      <a:pt x="0" y="635889"/>
                      <a:pt x="0" y="626491"/>
                    </a:cubicBezTo>
                    <a:cubicBezTo>
                      <a:pt x="0" y="617093"/>
                      <a:pt x="7620" y="609600"/>
                      <a:pt x="16891" y="609600"/>
                    </a:cubicBezTo>
                    <a:cubicBezTo>
                      <a:pt x="26162" y="609600"/>
                      <a:pt x="33782" y="617220"/>
                      <a:pt x="33782" y="626491"/>
                    </a:cubicBezTo>
                    <a:cubicBezTo>
                      <a:pt x="33909" y="953897"/>
                      <a:pt x="299212" y="1219200"/>
                      <a:pt x="626491" y="1219200"/>
                    </a:cubicBezTo>
                    <a:cubicBezTo>
                      <a:pt x="953897" y="1219200"/>
                      <a:pt x="1219200" y="953897"/>
                      <a:pt x="1219200" y="626491"/>
                    </a:cubicBezTo>
                    <a:cubicBezTo>
                      <a:pt x="1219200" y="299212"/>
                      <a:pt x="953897" y="33909"/>
                      <a:pt x="626491" y="33909"/>
                    </a:cubicBezTo>
                    <a:lnTo>
                      <a:pt x="626491" y="16891"/>
                    </a:lnTo>
                    <a:lnTo>
                      <a:pt x="626491" y="33909"/>
                    </a:lnTo>
                    <a:cubicBezTo>
                      <a:pt x="299212" y="33909"/>
                      <a:pt x="33909" y="299212"/>
                      <a:pt x="33909" y="626491"/>
                    </a:cubicBezTo>
                    <a:close/>
                  </a:path>
                </a:pathLst>
              </a:custGeom>
              <a:solidFill>
                <a:srgbClr val="1565C0"/>
              </a:solidFill>
            </p:spPr>
          </p:sp>
        </p:grpSp>
        <p:grpSp>
          <p:nvGrpSpPr>
            <p:cNvPr name="Group 61" id="61"/>
            <p:cNvGrpSpPr/>
            <p:nvPr/>
          </p:nvGrpSpPr>
          <p:grpSpPr>
            <a:xfrm rot="0">
              <a:off x="16929" y="16929"/>
              <a:ext cx="1219200" cy="1219200"/>
              <a:chOff x="0" y="0"/>
              <a:chExt cx="1219200" cy="121920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121920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1219200">
                    <a:moveTo>
                      <a:pt x="0" y="0"/>
                    </a:moveTo>
                    <a:lnTo>
                      <a:pt x="1219200" y="0"/>
                    </a:lnTo>
                    <a:lnTo>
                      <a:pt x="121920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57150"/>
                <a:ext cx="1219200" cy="12763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4</a:t>
                </a:r>
              </a:p>
            </p:txBody>
          </p:sp>
        </p:grpSp>
        <p:grpSp>
          <p:nvGrpSpPr>
            <p:cNvPr name="Group 64" id="64"/>
            <p:cNvGrpSpPr/>
            <p:nvPr/>
          </p:nvGrpSpPr>
          <p:grpSpPr>
            <a:xfrm rot="0">
              <a:off x="1601889" y="16929"/>
              <a:ext cx="7802880" cy="1219200"/>
              <a:chOff x="0" y="0"/>
              <a:chExt cx="7802880" cy="121920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780288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7802880">
                    <a:moveTo>
                      <a:pt x="0" y="0"/>
                    </a:moveTo>
                    <a:lnTo>
                      <a:pt x="7802880" y="0"/>
                    </a:lnTo>
                    <a:lnTo>
                      <a:pt x="780288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74704" r="0" b="-74704"/>
                </a:stretch>
              </a:blipFill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-57150"/>
                <a:ext cx="7802880" cy="12763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1A1A2E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Import CSS vào index.jsx</a:t>
                </a:r>
              </a:p>
            </p:txBody>
          </p:sp>
        </p:grpSp>
      </p:grpSp>
      <p:grpSp>
        <p:nvGrpSpPr>
          <p:cNvPr name="Group 67" id="67"/>
          <p:cNvGrpSpPr/>
          <p:nvPr/>
        </p:nvGrpSpPr>
        <p:grpSpPr>
          <a:xfrm rot="0">
            <a:off x="8339452" y="7019510"/>
            <a:ext cx="9352283" cy="1342139"/>
            <a:chOff x="0" y="0"/>
            <a:chExt cx="12469711" cy="1789519"/>
          </a:xfrm>
        </p:grpSpPr>
        <p:grpSp>
          <p:nvGrpSpPr>
            <p:cNvPr name="Group 68" id="68"/>
            <p:cNvGrpSpPr/>
            <p:nvPr/>
          </p:nvGrpSpPr>
          <p:grpSpPr>
            <a:xfrm rot="0">
              <a:off x="0" y="0"/>
              <a:ext cx="12469711" cy="1789519"/>
              <a:chOff x="0" y="0"/>
              <a:chExt cx="12469711" cy="1789519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16891" y="16891"/>
                <a:ext cx="12435840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12435840">
                    <a:moveTo>
                      <a:pt x="0" y="0"/>
                    </a:moveTo>
                    <a:lnTo>
                      <a:pt x="12435840" y="0"/>
                    </a:lnTo>
                    <a:lnTo>
                      <a:pt x="12435840" y="1755648"/>
                    </a:lnTo>
                    <a:lnTo>
                      <a:pt x="0" y="1755648"/>
                    </a:lnTo>
                    <a:close/>
                  </a:path>
                </a:pathLst>
              </a:custGeom>
              <a:solidFill>
                <a:srgbClr val="1E2A3A"/>
              </a:solidFill>
            </p:spPr>
          </p:sp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12469622" cy="1789430"/>
              </a:xfrm>
              <a:custGeom>
                <a:avLst/>
                <a:gdLst/>
                <a:ahLst/>
                <a:cxnLst/>
                <a:rect r="r" b="b" t="t" l="l"/>
                <a:pathLst>
                  <a:path h="1789430" w="12469622">
                    <a:moveTo>
                      <a:pt x="16891" y="0"/>
                    </a:moveTo>
                    <a:lnTo>
                      <a:pt x="12452731" y="0"/>
                    </a:lnTo>
                    <a:cubicBezTo>
                      <a:pt x="12462129" y="0"/>
                      <a:pt x="12469622" y="7620"/>
                      <a:pt x="12469622" y="16891"/>
                    </a:cubicBezTo>
                    <a:lnTo>
                      <a:pt x="12469622" y="1772539"/>
                    </a:lnTo>
                    <a:cubicBezTo>
                      <a:pt x="12469622" y="1781937"/>
                      <a:pt x="12462002" y="1789430"/>
                      <a:pt x="12452731" y="1789430"/>
                    </a:cubicBezTo>
                    <a:lnTo>
                      <a:pt x="16891" y="1789430"/>
                    </a:lnTo>
                    <a:cubicBezTo>
                      <a:pt x="7493" y="1789430"/>
                      <a:pt x="0" y="1781810"/>
                      <a:pt x="0" y="177253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772539"/>
                    </a:lnTo>
                    <a:lnTo>
                      <a:pt x="16891" y="1772539"/>
                    </a:lnTo>
                    <a:lnTo>
                      <a:pt x="16891" y="1755648"/>
                    </a:lnTo>
                    <a:lnTo>
                      <a:pt x="12452731" y="1755648"/>
                    </a:lnTo>
                    <a:lnTo>
                      <a:pt x="12452731" y="1772539"/>
                    </a:lnTo>
                    <a:lnTo>
                      <a:pt x="12435840" y="1772539"/>
                    </a:lnTo>
                    <a:lnTo>
                      <a:pt x="12435840" y="16891"/>
                    </a:lnTo>
                    <a:lnTo>
                      <a:pt x="12452731" y="16891"/>
                    </a:lnTo>
                    <a:lnTo>
                      <a:pt x="1245273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1E2A3A"/>
              </a:solidFill>
            </p:spPr>
          </p:sp>
        </p:grpSp>
        <p:grpSp>
          <p:nvGrpSpPr>
            <p:cNvPr name="Group 71" id="71"/>
            <p:cNvGrpSpPr/>
            <p:nvPr/>
          </p:nvGrpSpPr>
          <p:grpSpPr>
            <a:xfrm rot="0">
              <a:off x="382689" y="138849"/>
              <a:ext cx="11704320" cy="1511808"/>
              <a:chOff x="0" y="0"/>
              <a:chExt cx="11704320" cy="1511808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11704320" cy="1511808"/>
              </a:xfrm>
              <a:custGeom>
                <a:avLst/>
                <a:gdLst/>
                <a:ahLst/>
                <a:cxnLst/>
                <a:rect r="r" b="b" t="t" l="l"/>
                <a:pathLst>
                  <a:path h="1511808" w="11704320">
                    <a:moveTo>
                      <a:pt x="0" y="0"/>
                    </a:moveTo>
                    <a:lnTo>
                      <a:pt x="11704320" y="0"/>
                    </a:lnTo>
                    <a:lnTo>
                      <a:pt x="11704320" y="1511808"/>
                    </a:lnTo>
                    <a:lnTo>
                      <a:pt x="0" y="151180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00851" r="0" b="-100851"/>
                </a:stretch>
              </a:blipFill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0" y="-47625"/>
                <a:ext cx="11704320" cy="155943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>
                    <a:solidFill>
                      <a:srgbClr val="A8FF78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import 'bootstrap/dist/css/bootstrap.min.css'</a:t>
                </a:r>
              </a:p>
            </p:txBody>
          </p:sp>
        </p:grpSp>
      </p:grpSp>
      <p:grpSp>
        <p:nvGrpSpPr>
          <p:cNvPr name="Group 74" id="74"/>
          <p:cNvGrpSpPr/>
          <p:nvPr/>
        </p:nvGrpSpPr>
        <p:grpSpPr>
          <a:xfrm rot="0">
            <a:off x="1155697" y="8695515"/>
            <a:ext cx="16484603" cy="1342139"/>
            <a:chOff x="0" y="0"/>
            <a:chExt cx="21979471" cy="1789519"/>
          </a:xfrm>
        </p:grpSpPr>
        <p:grpSp>
          <p:nvGrpSpPr>
            <p:cNvPr name="Group 75" id="75"/>
            <p:cNvGrpSpPr/>
            <p:nvPr/>
          </p:nvGrpSpPr>
          <p:grpSpPr>
            <a:xfrm rot="0">
              <a:off x="0" y="0"/>
              <a:ext cx="21979471" cy="1789519"/>
              <a:chOff x="0" y="0"/>
              <a:chExt cx="21979471" cy="1789519"/>
            </a:xfrm>
          </p:grpSpPr>
          <p:sp>
            <p:nvSpPr>
              <p:cNvPr name="Freeform 76" id="76"/>
              <p:cNvSpPr/>
              <p:nvPr/>
            </p:nvSpPr>
            <p:spPr>
              <a:xfrm flipH="false" flipV="false" rot="0">
                <a:off x="16891" y="16891"/>
                <a:ext cx="21945599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21945599">
                    <a:moveTo>
                      <a:pt x="0" y="0"/>
                    </a:moveTo>
                    <a:lnTo>
                      <a:pt x="21945599" y="0"/>
                    </a:lnTo>
                    <a:lnTo>
                      <a:pt x="21945599" y="1755648"/>
                    </a:lnTo>
                    <a:lnTo>
                      <a:pt x="0" y="1755648"/>
                    </a:lnTo>
                    <a:close/>
                  </a:path>
                </a:pathLst>
              </a:custGeom>
              <a:solidFill>
                <a:srgbClr val="FFF8E1"/>
              </a:solidFill>
            </p:spPr>
          </p:sp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21979382" cy="1789430"/>
              </a:xfrm>
              <a:custGeom>
                <a:avLst/>
                <a:gdLst/>
                <a:ahLst/>
                <a:cxnLst/>
                <a:rect r="r" b="b" t="t" l="l"/>
                <a:pathLst>
                  <a:path h="1789430" w="21979382">
                    <a:moveTo>
                      <a:pt x="16891" y="0"/>
                    </a:moveTo>
                    <a:lnTo>
                      <a:pt x="21962490" y="0"/>
                    </a:lnTo>
                    <a:cubicBezTo>
                      <a:pt x="21971890" y="0"/>
                      <a:pt x="21979382" y="7620"/>
                      <a:pt x="21979382" y="16891"/>
                    </a:cubicBezTo>
                    <a:lnTo>
                      <a:pt x="21979382" y="1772539"/>
                    </a:lnTo>
                    <a:cubicBezTo>
                      <a:pt x="21979382" y="1781937"/>
                      <a:pt x="21971763" y="1789430"/>
                      <a:pt x="21962490" y="1789430"/>
                    </a:cubicBezTo>
                    <a:lnTo>
                      <a:pt x="16891" y="1789430"/>
                    </a:lnTo>
                    <a:cubicBezTo>
                      <a:pt x="7493" y="1789430"/>
                      <a:pt x="0" y="1781810"/>
                      <a:pt x="0" y="1772539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772539"/>
                    </a:lnTo>
                    <a:lnTo>
                      <a:pt x="16891" y="1772539"/>
                    </a:lnTo>
                    <a:lnTo>
                      <a:pt x="16891" y="1755648"/>
                    </a:lnTo>
                    <a:lnTo>
                      <a:pt x="21962490" y="1755648"/>
                    </a:lnTo>
                    <a:lnTo>
                      <a:pt x="21962490" y="1772539"/>
                    </a:lnTo>
                    <a:lnTo>
                      <a:pt x="21945600" y="1772539"/>
                    </a:lnTo>
                    <a:lnTo>
                      <a:pt x="21945600" y="16891"/>
                    </a:lnTo>
                    <a:lnTo>
                      <a:pt x="21962490" y="16891"/>
                    </a:lnTo>
                    <a:lnTo>
                      <a:pt x="21962490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F9A825"/>
              </a:solidFill>
            </p:spPr>
          </p:sp>
        </p:grpSp>
        <p:grpSp>
          <p:nvGrpSpPr>
            <p:cNvPr name="Group 78" id="78"/>
            <p:cNvGrpSpPr/>
            <p:nvPr/>
          </p:nvGrpSpPr>
          <p:grpSpPr>
            <a:xfrm rot="0">
              <a:off x="382695" y="16935"/>
              <a:ext cx="21214080" cy="1755648"/>
              <a:chOff x="0" y="0"/>
              <a:chExt cx="21214080" cy="1755648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0" y="0"/>
                <a:ext cx="21214080" cy="1755648"/>
              </a:xfrm>
              <a:custGeom>
                <a:avLst/>
                <a:gdLst/>
                <a:ahLst/>
                <a:cxnLst/>
                <a:rect r="r" b="b" t="t" l="l"/>
                <a:pathLst>
                  <a:path h="1755648" w="21214080">
                    <a:moveTo>
                      <a:pt x="0" y="0"/>
                    </a:moveTo>
                    <a:lnTo>
                      <a:pt x="21214080" y="0"/>
                    </a:lnTo>
                    <a:lnTo>
                      <a:pt x="21214080" y="1755648"/>
                    </a:lnTo>
                    <a:lnTo>
                      <a:pt x="0" y="175564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85444" r="0" b="-185444"/>
                </a:stretch>
              </a:blipFill>
            </p:spPr>
          </p:sp>
          <p:sp>
            <p:nvSpPr>
              <p:cNvPr name="TextBox 80" id="80"/>
              <p:cNvSpPr txBox="true"/>
              <p:nvPr/>
            </p:nvSpPr>
            <p:spPr>
              <a:xfrm>
                <a:off x="0" y="-47625"/>
                <a:ext cx="21214080" cy="180327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999"/>
                  </a:lnSpc>
                </a:pPr>
                <a:r>
                  <a:rPr lang="en-US" sz="2499">
                    <a:solidFill>
                      <a:srgbClr val="E651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 Ví dụ s</a:t>
                </a:r>
                <a:r>
                  <a:rPr lang="en-US" sz="2499">
                    <a:solidFill>
                      <a:srgbClr val="E651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ử dụng: import { Button, Table, Modal } from 'react-bootstrap'</a:t>
                </a:r>
              </a:p>
            </p:txBody>
          </p:sp>
        </p:grpSp>
      </p:grpSp>
      <p:sp>
        <p:nvSpPr>
          <p:cNvPr name="Freeform 81" id="81"/>
          <p:cNvSpPr/>
          <p:nvPr/>
        </p:nvSpPr>
        <p:spPr>
          <a:xfrm flipH="false" flipV="false" rot="0">
            <a:off x="478104" y="348926"/>
            <a:ext cx="2436829" cy="1359547"/>
          </a:xfrm>
          <a:custGeom>
            <a:avLst/>
            <a:gdLst/>
            <a:ahLst/>
            <a:cxnLst/>
            <a:rect r="r" b="b" t="t" l="l"/>
            <a:pathLst>
              <a:path h="1359547" w="2436829">
                <a:moveTo>
                  <a:pt x="0" y="0"/>
                </a:moveTo>
                <a:lnTo>
                  <a:pt x="2436829" y="0"/>
                </a:lnTo>
                <a:lnTo>
                  <a:pt x="2436829" y="1359548"/>
                </a:lnTo>
                <a:lnTo>
                  <a:pt x="0" y="13595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96130" y="584673"/>
            <a:ext cx="7886656" cy="1123801"/>
            <a:chOff x="0" y="0"/>
            <a:chExt cx="10515541" cy="1498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15541" cy="1498402"/>
            </a:xfrm>
            <a:custGeom>
              <a:avLst/>
              <a:gdLst/>
              <a:ahLst/>
              <a:cxnLst/>
              <a:rect r="r" b="b" t="t" l="l"/>
              <a:pathLst>
                <a:path h="1498402" w="10515541">
                  <a:moveTo>
                    <a:pt x="0" y="0"/>
                  </a:moveTo>
                  <a:lnTo>
                    <a:pt x="10515541" y="0"/>
                  </a:lnTo>
                  <a:lnTo>
                    <a:pt x="10515541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6557" r="-108696" b="-2341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0515541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03 - Các Component chính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724663"/>
            <a:ext cx="16484603" cy="80267"/>
            <a:chOff x="0" y="0"/>
            <a:chExt cx="21979471" cy="1070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1945599" cy="73152"/>
            </a:xfrm>
            <a:custGeom>
              <a:avLst/>
              <a:gdLst/>
              <a:ahLst/>
              <a:cxnLst/>
              <a:rect r="r" b="b" t="t" l="l"/>
              <a:pathLst>
                <a:path h="73152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E3E8F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79382" cy="106936"/>
            </a:xfrm>
            <a:custGeom>
              <a:avLst/>
              <a:gdLst/>
              <a:ahLst/>
              <a:cxnLst/>
              <a:rect r="r" b="b" t="t" l="l"/>
              <a:pathLst>
                <a:path h="106936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90043"/>
                  </a:lnTo>
                  <a:cubicBezTo>
                    <a:pt x="21979382" y="99441"/>
                    <a:pt x="21971763" y="106934"/>
                    <a:pt x="2196249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21962490" y="73152"/>
                  </a:lnTo>
                  <a:lnTo>
                    <a:pt x="21962490" y="90043"/>
                  </a:lnTo>
                  <a:lnTo>
                    <a:pt x="21945600" y="9004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3E8F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01703" y="2090423"/>
            <a:ext cx="5420363" cy="3408683"/>
            <a:chOff x="0" y="0"/>
            <a:chExt cx="7227151" cy="45449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7193281" cy="4511040"/>
            </a:xfrm>
            <a:custGeom>
              <a:avLst/>
              <a:gdLst/>
              <a:ahLst/>
              <a:cxnLst/>
              <a:rect r="r" b="b" t="t" l="l"/>
              <a:pathLst>
                <a:path h="451104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27062" cy="4544822"/>
            </a:xfrm>
            <a:custGeom>
              <a:avLst/>
              <a:gdLst/>
              <a:ahLst/>
              <a:cxnLst/>
              <a:rect r="r" b="b" t="t" l="l"/>
              <a:pathLst>
                <a:path h="454482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4527931"/>
                  </a:lnTo>
                  <a:cubicBezTo>
                    <a:pt x="7227062" y="4537329"/>
                    <a:pt x="7219442" y="4544822"/>
                    <a:pt x="7210172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7210172" y="4511040"/>
                  </a:lnTo>
                  <a:lnTo>
                    <a:pt x="7210172" y="4527931"/>
                  </a:lnTo>
                  <a:lnTo>
                    <a:pt x="7193280" y="452793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AE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01703" y="2090423"/>
            <a:ext cx="5420363" cy="848363"/>
            <a:chOff x="0" y="0"/>
            <a:chExt cx="7227151" cy="11311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193281" cy="1097280"/>
            </a:xfrm>
            <a:custGeom>
              <a:avLst/>
              <a:gdLst/>
              <a:ahLst/>
              <a:cxnLst/>
              <a:rect r="r" b="b" t="t" l="l"/>
              <a:pathLst>
                <a:path h="109728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27062" cy="1131064"/>
            </a:xfrm>
            <a:custGeom>
              <a:avLst/>
              <a:gdLst/>
              <a:ahLst/>
              <a:cxnLst/>
              <a:rect r="r" b="b" t="t" l="l"/>
              <a:pathLst>
                <a:path h="1131064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114171"/>
                  </a:lnTo>
                  <a:cubicBezTo>
                    <a:pt x="7227062" y="1123569"/>
                    <a:pt x="7219442" y="1131062"/>
                    <a:pt x="7210172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7210172" y="1097280"/>
                  </a:lnTo>
                  <a:lnTo>
                    <a:pt x="7210172" y="1114171"/>
                  </a:lnTo>
                  <a:lnTo>
                    <a:pt x="7193280" y="111417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2103120"/>
            <a:ext cx="5394960" cy="822960"/>
            <a:chOff x="0" y="0"/>
            <a:chExt cx="719328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93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735" r="0" b="-7773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719328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Navbar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33856" y="3108960"/>
            <a:ext cx="4937760" cy="2194560"/>
            <a:chOff x="0" y="0"/>
            <a:chExt cx="6583680" cy="2926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5836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23" t="0" r="-702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58368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Thanh điều hướng responsive, hỗ trợ collapse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662423" y="2090423"/>
            <a:ext cx="5420363" cy="3408683"/>
            <a:chOff x="0" y="0"/>
            <a:chExt cx="7227151" cy="45449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7193281" cy="4511040"/>
            </a:xfrm>
            <a:custGeom>
              <a:avLst/>
              <a:gdLst/>
              <a:ahLst/>
              <a:cxnLst/>
              <a:rect r="r" b="b" t="t" l="l"/>
              <a:pathLst>
                <a:path h="451104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227062" cy="4544822"/>
            </a:xfrm>
            <a:custGeom>
              <a:avLst/>
              <a:gdLst/>
              <a:ahLst/>
              <a:cxnLst/>
              <a:rect r="r" b="b" t="t" l="l"/>
              <a:pathLst>
                <a:path h="454482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4527931"/>
                  </a:lnTo>
                  <a:cubicBezTo>
                    <a:pt x="7227062" y="4537329"/>
                    <a:pt x="7219442" y="4544822"/>
                    <a:pt x="7210172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7210172" y="4511040"/>
                  </a:lnTo>
                  <a:lnTo>
                    <a:pt x="7210172" y="4527931"/>
                  </a:lnTo>
                  <a:lnTo>
                    <a:pt x="7193280" y="452793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AEC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662423" y="2090423"/>
            <a:ext cx="5420363" cy="848363"/>
            <a:chOff x="0" y="0"/>
            <a:chExt cx="7227151" cy="11311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7193281" cy="1097280"/>
            </a:xfrm>
            <a:custGeom>
              <a:avLst/>
              <a:gdLst/>
              <a:ahLst/>
              <a:cxnLst/>
              <a:rect r="r" b="b" t="t" l="l"/>
              <a:pathLst>
                <a:path h="109728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097A7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27062" cy="1131064"/>
            </a:xfrm>
            <a:custGeom>
              <a:avLst/>
              <a:gdLst/>
              <a:ahLst/>
              <a:cxnLst/>
              <a:rect r="r" b="b" t="t" l="l"/>
              <a:pathLst>
                <a:path h="1131064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114171"/>
                  </a:lnTo>
                  <a:cubicBezTo>
                    <a:pt x="7227062" y="1123569"/>
                    <a:pt x="7219442" y="1131062"/>
                    <a:pt x="7210172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7210172" y="1097280"/>
                  </a:lnTo>
                  <a:lnTo>
                    <a:pt x="7210172" y="1114171"/>
                  </a:lnTo>
                  <a:lnTo>
                    <a:pt x="7193280" y="111417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97A7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675120" y="2103120"/>
            <a:ext cx="5394960" cy="822960"/>
            <a:chOff x="0" y="0"/>
            <a:chExt cx="7193280" cy="1097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193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735" r="0" b="-7773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719328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Table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894576" y="3108960"/>
            <a:ext cx="4937760" cy="2194560"/>
            <a:chOff x="0" y="0"/>
            <a:chExt cx="6583680" cy="29260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5836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23" t="0" r="-702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58368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Bảng dữ liệu: striped, hover, bordered, responsive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423143" y="2090423"/>
            <a:ext cx="5420363" cy="3408683"/>
            <a:chOff x="0" y="0"/>
            <a:chExt cx="7227151" cy="45449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7193281" cy="4511040"/>
            </a:xfrm>
            <a:custGeom>
              <a:avLst/>
              <a:gdLst/>
              <a:ahLst/>
              <a:cxnLst/>
              <a:rect r="r" b="b" t="t" l="l"/>
              <a:pathLst>
                <a:path h="451104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227062" cy="4544822"/>
            </a:xfrm>
            <a:custGeom>
              <a:avLst/>
              <a:gdLst/>
              <a:ahLst/>
              <a:cxnLst/>
              <a:rect r="r" b="b" t="t" l="l"/>
              <a:pathLst>
                <a:path h="454482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4527931"/>
                  </a:lnTo>
                  <a:cubicBezTo>
                    <a:pt x="7227062" y="4537329"/>
                    <a:pt x="7219442" y="4544822"/>
                    <a:pt x="7210172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7210172" y="4511040"/>
                  </a:lnTo>
                  <a:lnTo>
                    <a:pt x="7210172" y="4527931"/>
                  </a:lnTo>
                  <a:lnTo>
                    <a:pt x="7193280" y="452793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AEC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423143" y="2090423"/>
            <a:ext cx="5420363" cy="848363"/>
            <a:chOff x="0" y="0"/>
            <a:chExt cx="7227151" cy="113115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7193281" cy="1097280"/>
            </a:xfrm>
            <a:custGeom>
              <a:avLst/>
              <a:gdLst/>
              <a:ahLst/>
              <a:cxnLst/>
              <a:rect r="r" b="b" t="t" l="l"/>
              <a:pathLst>
                <a:path h="109728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2E7D32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227062" cy="1131064"/>
            </a:xfrm>
            <a:custGeom>
              <a:avLst/>
              <a:gdLst/>
              <a:ahLst/>
              <a:cxnLst/>
              <a:rect r="r" b="b" t="t" l="l"/>
              <a:pathLst>
                <a:path h="1131064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114171"/>
                  </a:lnTo>
                  <a:cubicBezTo>
                    <a:pt x="7227062" y="1123569"/>
                    <a:pt x="7219442" y="1131062"/>
                    <a:pt x="7210172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7210172" y="1097280"/>
                  </a:lnTo>
                  <a:lnTo>
                    <a:pt x="7210172" y="1114171"/>
                  </a:lnTo>
                  <a:lnTo>
                    <a:pt x="7193280" y="111417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7D32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435840" y="2103120"/>
            <a:ext cx="5394960" cy="822960"/>
            <a:chOff x="0" y="0"/>
            <a:chExt cx="7193280" cy="1097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193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735" r="0" b="-7773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719328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Form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655296" y="3108960"/>
            <a:ext cx="4937760" cy="2194560"/>
            <a:chOff x="0" y="0"/>
            <a:chExt cx="6583680" cy="29260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5836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23" t="0" r="-702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658368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Form với validate, các trường input, select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01703" y="5930903"/>
            <a:ext cx="5420363" cy="3408683"/>
            <a:chOff x="0" y="0"/>
            <a:chExt cx="7227151" cy="454491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7193281" cy="4511040"/>
            </a:xfrm>
            <a:custGeom>
              <a:avLst/>
              <a:gdLst/>
              <a:ahLst/>
              <a:cxnLst/>
              <a:rect r="r" b="b" t="t" l="l"/>
              <a:pathLst>
                <a:path h="451104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227062" cy="4544822"/>
            </a:xfrm>
            <a:custGeom>
              <a:avLst/>
              <a:gdLst/>
              <a:ahLst/>
              <a:cxnLst/>
              <a:rect r="r" b="b" t="t" l="l"/>
              <a:pathLst>
                <a:path h="454482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4527931"/>
                  </a:lnTo>
                  <a:cubicBezTo>
                    <a:pt x="7227062" y="4537329"/>
                    <a:pt x="7219442" y="4544822"/>
                    <a:pt x="7210172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7210172" y="4511040"/>
                  </a:lnTo>
                  <a:lnTo>
                    <a:pt x="7210172" y="4527931"/>
                  </a:lnTo>
                  <a:lnTo>
                    <a:pt x="7193280" y="452793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AEC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01703" y="5930903"/>
            <a:ext cx="5420363" cy="848363"/>
            <a:chOff x="0" y="0"/>
            <a:chExt cx="7227151" cy="113115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7193281" cy="1097280"/>
            </a:xfrm>
            <a:custGeom>
              <a:avLst/>
              <a:gdLst/>
              <a:ahLst/>
              <a:cxnLst/>
              <a:rect r="r" b="b" t="t" l="l"/>
              <a:pathLst>
                <a:path h="109728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6A1B9A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227062" cy="1131064"/>
            </a:xfrm>
            <a:custGeom>
              <a:avLst/>
              <a:gdLst/>
              <a:ahLst/>
              <a:cxnLst/>
              <a:rect r="r" b="b" t="t" l="l"/>
              <a:pathLst>
                <a:path h="1131064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114171"/>
                  </a:lnTo>
                  <a:cubicBezTo>
                    <a:pt x="7227062" y="1123569"/>
                    <a:pt x="7219442" y="1131062"/>
                    <a:pt x="7210172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7210172" y="1097280"/>
                  </a:lnTo>
                  <a:lnTo>
                    <a:pt x="7210172" y="1114171"/>
                  </a:lnTo>
                  <a:lnTo>
                    <a:pt x="7193280" y="111417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A1B9A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14400" y="5943600"/>
            <a:ext cx="5394960" cy="822960"/>
            <a:chOff x="0" y="0"/>
            <a:chExt cx="7193280" cy="10972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193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735" r="0" b="-7773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66675"/>
              <a:ext cx="719328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Modal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33856" y="6949440"/>
            <a:ext cx="4937760" cy="2194560"/>
            <a:chOff x="0" y="0"/>
            <a:chExt cx="6583680" cy="29260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5836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23" t="0" r="-702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658368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Hộp thoại popup: confirm, edit, create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662423" y="5930903"/>
            <a:ext cx="5420363" cy="3408683"/>
            <a:chOff x="0" y="0"/>
            <a:chExt cx="7227151" cy="454491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7193281" cy="4511040"/>
            </a:xfrm>
            <a:custGeom>
              <a:avLst/>
              <a:gdLst/>
              <a:ahLst/>
              <a:cxnLst/>
              <a:rect r="r" b="b" t="t" l="l"/>
              <a:pathLst>
                <a:path h="451104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227062" cy="4544822"/>
            </a:xfrm>
            <a:custGeom>
              <a:avLst/>
              <a:gdLst/>
              <a:ahLst/>
              <a:cxnLst/>
              <a:rect r="r" b="b" t="t" l="l"/>
              <a:pathLst>
                <a:path h="454482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4527931"/>
                  </a:lnTo>
                  <a:cubicBezTo>
                    <a:pt x="7227062" y="4537329"/>
                    <a:pt x="7219442" y="4544822"/>
                    <a:pt x="7210172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7210172" y="4511040"/>
                  </a:lnTo>
                  <a:lnTo>
                    <a:pt x="7210172" y="4527931"/>
                  </a:lnTo>
                  <a:lnTo>
                    <a:pt x="7193280" y="452793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AEC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6662423" y="5930903"/>
            <a:ext cx="5420363" cy="848363"/>
            <a:chOff x="0" y="0"/>
            <a:chExt cx="7227151" cy="113115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7193281" cy="1097280"/>
            </a:xfrm>
            <a:custGeom>
              <a:avLst/>
              <a:gdLst/>
              <a:ahLst/>
              <a:cxnLst/>
              <a:rect r="r" b="b" t="t" l="l"/>
              <a:pathLst>
                <a:path h="109728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57C00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227062" cy="1131064"/>
            </a:xfrm>
            <a:custGeom>
              <a:avLst/>
              <a:gdLst/>
              <a:ahLst/>
              <a:cxnLst/>
              <a:rect r="r" b="b" t="t" l="l"/>
              <a:pathLst>
                <a:path h="1131064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114171"/>
                  </a:lnTo>
                  <a:cubicBezTo>
                    <a:pt x="7227062" y="1123569"/>
                    <a:pt x="7219442" y="1131062"/>
                    <a:pt x="7210172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7210172" y="1097280"/>
                  </a:lnTo>
                  <a:lnTo>
                    <a:pt x="7210172" y="1114171"/>
                  </a:lnTo>
                  <a:lnTo>
                    <a:pt x="7193280" y="111417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7C00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675120" y="5943600"/>
            <a:ext cx="5394960" cy="822960"/>
            <a:chOff x="0" y="0"/>
            <a:chExt cx="7193280" cy="10972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193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735" r="0" b="-7773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66675"/>
              <a:ext cx="719328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Alert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894576" y="6949440"/>
            <a:ext cx="4937760" cy="2194560"/>
            <a:chOff x="0" y="0"/>
            <a:chExt cx="6583680" cy="29260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5836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23" t="0" r="-7023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658368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Thông báo: success, danger, warning, info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423143" y="5930903"/>
            <a:ext cx="5420363" cy="3408683"/>
            <a:chOff x="0" y="0"/>
            <a:chExt cx="7227151" cy="454491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7193281" cy="4511040"/>
            </a:xfrm>
            <a:custGeom>
              <a:avLst/>
              <a:gdLst/>
              <a:ahLst/>
              <a:cxnLst/>
              <a:rect r="r" b="b" t="t" l="l"/>
              <a:pathLst>
                <a:path h="451104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227062" cy="4544822"/>
            </a:xfrm>
            <a:custGeom>
              <a:avLst/>
              <a:gdLst/>
              <a:ahLst/>
              <a:cxnLst/>
              <a:rect r="r" b="b" t="t" l="l"/>
              <a:pathLst>
                <a:path h="4544822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4527931"/>
                  </a:lnTo>
                  <a:cubicBezTo>
                    <a:pt x="7227062" y="4537329"/>
                    <a:pt x="7219442" y="4544822"/>
                    <a:pt x="7210172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7210172" y="4511040"/>
                  </a:lnTo>
                  <a:lnTo>
                    <a:pt x="7210172" y="4527931"/>
                  </a:lnTo>
                  <a:lnTo>
                    <a:pt x="7193280" y="452793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AEC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423143" y="5930903"/>
            <a:ext cx="5420363" cy="848363"/>
            <a:chOff x="0" y="0"/>
            <a:chExt cx="7227151" cy="113115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7193281" cy="1097280"/>
            </a:xfrm>
            <a:custGeom>
              <a:avLst/>
              <a:gdLst/>
              <a:ahLst/>
              <a:cxnLst/>
              <a:rect r="r" b="b" t="t" l="l"/>
              <a:pathLst>
                <a:path h="1097280" w="7193281">
                  <a:moveTo>
                    <a:pt x="0" y="0"/>
                  </a:moveTo>
                  <a:lnTo>
                    <a:pt x="7193281" y="0"/>
                  </a:lnTo>
                  <a:lnTo>
                    <a:pt x="7193281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C62828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227062" cy="1131064"/>
            </a:xfrm>
            <a:custGeom>
              <a:avLst/>
              <a:gdLst/>
              <a:ahLst/>
              <a:cxnLst/>
              <a:rect r="r" b="b" t="t" l="l"/>
              <a:pathLst>
                <a:path h="1131064" w="7227062">
                  <a:moveTo>
                    <a:pt x="16891" y="0"/>
                  </a:moveTo>
                  <a:lnTo>
                    <a:pt x="7210172" y="0"/>
                  </a:lnTo>
                  <a:cubicBezTo>
                    <a:pt x="7219569" y="0"/>
                    <a:pt x="7227062" y="7620"/>
                    <a:pt x="7227062" y="16891"/>
                  </a:cubicBezTo>
                  <a:lnTo>
                    <a:pt x="7227062" y="1114171"/>
                  </a:lnTo>
                  <a:cubicBezTo>
                    <a:pt x="7227062" y="1123569"/>
                    <a:pt x="7219442" y="1131062"/>
                    <a:pt x="7210172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7210172" y="1097280"/>
                  </a:lnTo>
                  <a:lnTo>
                    <a:pt x="7210172" y="1114171"/>
                  </a:lnTo>
                  <a:lnTo>
                    <a:pt x="7193280" y="1114171"/>
                  </a:lnTo>
                  <a:lnTo>
                    <a:pt x="7193280" y="16891"/>
                  </a:lnTo>
                  <a:lnTo>
                    <a:pt x="7210172" y="16891"/>
                  </a:lnTo>
                  <a:lnTo>
                    <a:pt x="7210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62828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2435840" y="5943600"/>
            <a:ext cx="5394960" cy="822960"/>
            <a:chOff x="0" y="0"/>
            <a:chExt cx="7193280" cy="10972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193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735" r="0" b="-7773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66675"/>
              <a:ext cx="719328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Accordion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655296" y="6949440"/>
            <a:ext cx="4937760" cy="2194560"/>
            <a:chOff x="0" y="0"/>
            <a:chExt cx="6583680" cy="29260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5836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23" t="0" r="-7023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658368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Thu gọn / mở rộng nội dung theo click</a:t>
              </a:r>
            </a:p>
          </p:txBody>
        </p:sp>
      </p:grpSp>
      <p:sp>
        <p:nvSpPr>
          <p:cNvPr name="Freeform 80" id="80"/>
          <p:cNvSpPr/>
          <p:nvPr/>
        </p:nvSpPr>
        <p:spPr>
          <a:xfrm flipH="false" flipV="false" rot="0">
            <a:off x="496151" y="193666"/>
            <a:ext cx="2436829" cy="1359547"/>
          </a:xfrm>
          <a:custGeom>
            <a:avLst/>
            <a:gdLst/>
            <a:ahLst/>
            <a:cxnLst/>
            <a:rect r="r" b="b" t="t" l="l"/>
            <a:pathLst>
              <a:path h="1359547" w="2436829">
                <a:moveTo>
                  <a:pt x="0" y="0"/>
                </a:moveTo>
                <a:lnTo>
                  <a:pt x="2436829" y="0"/>
                </a:lnTo>
                <a:lnTo>
                  <a:pt x="2436829" y="1359547"/>
                </a:lnTo>
                <a:lnTo>
                  <a:pt x="0" y="13595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43418" y="524662"/>
            <a:ext cx="7489612" cy="1123801"/>
            <a:chOff x="0" y="0"/>
            <a:chExt cx="9986149" cy="1498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86149" cy="1498402"/>
            </a:xfrm>
            <a:custGeom>
              <a:avLst/>
              <a:gdLst/>
              <a:ahLst/>
              <a:cxnLst/>
              <a:rect r="r" b="b" t="t" l="l"/>
              <a:pathLst>
                <a:path h="1498402" w="9986149">
                  <a:moveTo>
                    <a:pt x="0" y="0"/>
                  </a:moveTo>
                  <a:lnTo>
                    <a:pt x="9986149" y="0"/>
                  </a:lnTo>
                  <a:lnTo>
                    <a:pt x="9986149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6557" r="-119760" b="-2341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9986149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03 - Component: Navbar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724663"/>
            <a:ext cx="16484603" cy="80267"/>
            <a:chOff x="0" y="0"/>
            <a:chExt cx="21979471" cy="1070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1945599" cy="73152"/>
            </a:xfrm>
            <a:custGeom>
              <a:avLst/>
              <a:gdLst/>
              <a:ahLst/>
              <a:cxnLst/>
              <a:rect r="r" b="b" t="t" l="l"/>
              <a:pathLst>
                <a:path h="73152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E3E8F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79382" cy="106936"/>
            </a:xfrm>
            <a:custGeom>
              <a:avLst/>
              <a:gdLst/>
              <a:ahLst/>
              <a:cxnLst/>
              <a:rect r="r" b="b" t="t" l="l"/>
              <a:pathLst>
                <a:path h="106936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90043"/>
                  </a:lnTo>
                  <a:cubicBezTo>
                    <a:pt x="21979382" y="99441"/>
                    <a:pt x="21971763" y="106934"/>
                    <a:pt x="2196249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21962490" y="73152"/>
                  </a:lnTo>
                  <a:lnTo>
                    <a:pt x="21962490" y="90043"/>
                  </a:lnTo>
                  <a:lnTo>
                    <a:pt x="21945600" y="9004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3E8F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01703" y="1998983"/>
            <a:ext cx="9352283" cy="7614923"/>
            <a:chOff x="0" y="0"/>
            <a:chExt cx="12469711" cy="101532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2435840" cy="10119360"/>
            </a:xfrm>
            <a:custGeom>
              <a:avLst/>
              <a:gdLst/>
              <a:ahLst/>
              <a:cxnLst/>
              <a:rect r="r" b="b" t="t" l="l"/>
              <a:pathLst>
                <a:path h="1011936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10119360"/>
                  </a:lnTo>
                  <a:lnTo>
                    <a:pt x="0" y="10119360"/>
                  </a:lnTo>
                  <a:close/>
                </a:path>
              </a:pathLst>
            </a:custGeom>
            <a:solidFill>
              <a:srgbClr val="1E2A3A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469622" cy="10153142"/>
            </a:xfrm>
            <a:custGeom>
              <a:avLst/>
              <a:gdLst/>
              <a:ahLst/>
              <a:cxnLst/>
              <a:rect r="r" b="b" t="t" l="l"/>
              <a:pathLst>
                <a:path h="10153142" w="12469622">
                  <a:moveTo>
                    <a:pt x="16891" y="0"/>
                  </a:moveTo>
                  <a:lnTo>
                    <a:pt x="12452731" y="0"/>
                  </a:lnTo>
                  <a:cubicBezTo>
                    <a:pt x="12462129" y="0"/>
                    <a:pt x="12469622" y="7620"/>
                    <a:pt x="12469622" y="16891"/>
                  </a:cubicBezTo>
                  <a:lnTo>
                    <a:pt x="12469622" y="10136251"/>
                  </a:lnTo>
                  <a:cubicBezTo>
                    <a:pt x="12469622" y="10145649"/>
                    <a:pt x="12462002" y="10153142"/>
                    <a:pt x="12452731" y="10153142"/>
                  </a:cubicBezTo>
                  <a:lnTo>
                    <a:pt x="16891" y="10153142"/>
                  </a:lnTo>
                  <a:cubicBezTo>
                    <a:pt x="7493" y="10153142"/>
                    <a:pt x="0" y="10145522"/>
                    <a:pt x="0" y="10136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136251"/>
                  </a:lnTo>
                  <a:lnTo>
                    <a:pt x="16891" y="10136251"/>
                  </a:lnTo>
                  <a:lnTo>
                    <a:pt x="16891" y="10119360"/>
                  </a:lnTo>
                  <a:lnTo>
                    <a:pt x="12452731" y="10119360"/>
                  </a:lnTo>
                  <a:lnTo>
                    <a:pt x="12452731" y="10136251"/>
                  </a:lnTo>
                  <a:lnTo>
                    <a:pt x="12435840" y="10136251"/>
                  </a:lnTo>
                  <a:lnTo>
                    <a:pt x="12435840" y="16891"/>
                  </a:lnTo>
                  <a:lnTo>
                    <a:pt x="12452731" y="16891"/>
                  </a:lnTo>
                  <a:lnTo>
                    <a:pt x="12452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A3A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47057" y="2086737"/>
            <a:ext cx="8861576" cy="764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&lt;Navbar bg="primary" variant="dark" expand="lg" fixed="top"&gt;</a:t>
            </a:r>
          </a:p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&lt;Container fluid&gt;</a:t>
            </a:r>
          </a:p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&lt;Navbar.Brand as={NavLink} to="/home"&gt;</a:t>
            </a:r>
          </a:p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&lt;i className="bi bi-box-fill"&gt;&lt;/i&gt; Mini-app</a:t>
            </a:r>
          </a:p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&lt;/Navbar.Brand&gt;</a:t>
            </a:r>
          </a:p>
          <a:p>
            <a:pPr algn="l">
              <a:lnSpc>
                <a:spcPts val="1559"/>
              </a:lnSpc>
            </a:pPr>
          </a:p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&lt;Navbar.Toggle aria-controls="basic-navbar-nav" /&gt;</a:t>
            </a:r>
          </a:p>
          <a:p>
            <a:pPr algn="l">
              <a:lnSpc>
                <a:spcPts val="1559"/>
              </a:lnSpc>
            </a:pPr>
          </a:p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&lt;Navbar.Collapse id="basic-navbar-nav"&gt;</a:t>
            </a:r>
          </a:p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&lt;Nav className="ms-auto"&gt;</a:t>
            </a:r>
          </a:p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&lt;Nav.Link as={NavLink} to="/"&gt;</a:t>
            </a:r>
          </a:p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Home</a:t>
            </a:r>
          </a:p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&lt;/Nav.Link&gt;</a:t>
            </a:r>
          </a:p>
          <a:p>
            <a:pPr algn="l">
              <a:lnSpc>
                <a:spcPts val="1559"/>
              </a:lnSpc>
            </a:pPr>
          </a:p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&lt;Nav.Link as={NavLink} to="/list"&gt;</a:t>
            </a:r>
          </a:p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Danh sách</a:t>
            </a:r>
          </a:p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&lt;/Nav.Link&gt;</a:t>
            </a:r>
          </a:p>
          <a:p>
            <a:pPr algn="l">
              <a:lnSpc>
                <a:spcPts val="1559"/>
              </a:lnSpc>
            </a:pPr>
          </a:p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&lt;Nav.Link as={NavLink} to="/add"&gt;</a:t>
            </a:r>
          </a:p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Thêm sản phẩm mới</a:t>
            </a:r>
          </a:p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&lt;/Nav.Link&gt;</a:t>
            </a:r>
          </a:p>
          <a:p>
            <a:pPr algn="l">
              <a:lnSpc>
                <a:spcPts val="1559"/>
              </a:lnSpc>
            </a:pPr>
          </a:p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&lt;NavDropdown title="Báo cáo" id="basic-nav-dropdown"&gt;</a:t>
            </a:r>
          </a:p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&lt;NavDropdown.Item onClick={handleDevelopingFeature}&gt;</a:t>
            </a:r>
          </a:p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Thống kê</a:t>
            </a:r>
          </a:p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&lt;/NavDropdown.Item&gt;</a:t>
            </a:r>
          </a:p>
          <a:p>
            <a:pPr algn="l">
              <a:lnSpc>
                <a:spcPts val="1559"/>
              </a:lnSpc>
            </a:pPr>
          </a:p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&lt;NavDropdown.Item onClick={handleDevelopingFeature}&gt;</a:t>
            </a:r>
          </a:p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Xuất file</a:t>
            </a:r>
          </a:p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&lt;/NavDropdown.Item&gt;</a:t>
            </a:r>
          </a:p>
          <a:p>
            <a:pPr algn="l">
              <a:lnSpc>
                <a:spcPts val="1559"/>
              </a:lnSpc>
            </a:pPr>
          </a:p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&lt;NavDropdown.Item onClick={handleDevelopingFeature}&gt;</a:t>
            </a:r>
          </a:p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In ấn</a:t>
            </a:r>
          </a:p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&lt;/NavDropdown.Item&gt;</a:t>
            </a:r>
          </a:p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&lt;/NavDropdown&gt;</a:t>
            </a:r>
          </a:p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&lt;/Nav&gt;</a:t>
            </a:r>
          </a:p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&lt;/Navbar.Collapse&gt;</a:t>
            </a:r>
          </a:p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&lt;/Container&gt;</a:t>
            </a:r>
          </a:p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&lt;/Navbar&gt;</a:t>
            </a:r>
          </a:p>
          <a:p>
            <a:pPr algn="l">
              <a:lnSpc>
                <a:spcPts val="1559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10607040" y="2011680"/>
            <a:ext cx="6766560" cy="731520"/>
            <a:chOff x="0" y="0"/>
            <a:chExt cx="9022080" cy="975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022080" cy="975360"/>
            </a:xfrm>
            <a:custGeom>
              <a:avLst/>
              <a:gdLst/>
              <a:ahLst/>
              <a:cxnLst/>
              <a:rect r="r" b="b" t="t" l="l"/>
              <a:pathLst>
                <a:path h="97536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902208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Props quan trọng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594343" y="2913383"/>
            <a:ext cx="6791963" cy="1488443"/>
            <a:chOff x="0" y="0"/>
            <a:chExt cx="9055951" cy="19845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6891" y="16891"/>
              <a:ext cx="9022081" cy="1950720"/>
            </a:xfrm>
            <a:custGeom>
              <a:avLst/>
              <a:gdLst/>
              <a:ahLst/>
              <a:cxnLst/>
              <a:rect r="r" b="b" t="t" l="l"/>
              <a:pathLst>
                <a:path h="1950720" w="9022081">
                  <a:moveTo>
                    <a:pt x="0" y="0"/>
                  </a:moveTo>
                  <a:lnTo>
                    <a:pt x="9022081" y="0"/>
                  </a:lnTo>
                  <a:lnTo>
                    <a:pt x="9022081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F0F4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055862" cy="1984502"/>
            </a:xfrm>
            <a:custGeom>
              <a:avLst/>
              <a:gdLst/>
              <a:ahLst/>
              <a:cxnLst/>
              <a:rect r="r" b="b" t="t" l="l"/>
              <a:pathLst>
                <a:path h="1984502" w="9055862">
                  <a:moveTo>
                    <a:pt x="16891" y="0"/>
                  </a:moveTo>
                  <a:lnTo>
                    <a:pt x="9038972" y="0"/>
                  </a:lnTo>
                  <a:cubicBezTo>
                    <a:pt x="9048369" y="0"/>
                    <a:pt x="9055862" y="7620"/>
                    <a:pt x="9055862" y="16891"/>
                  </a:cubicBezTo>
                  <a:lnTo>
                    <a:pt x="9055862" y="1967611"/>
                  </a:lnTo>
                  <a:cubicBezTo>
                    <a:pt x="9055862" y="1977009"/>
                    <a:pt x="9048242" y="1984502"/>
                    <a:pt x="9038972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9038972" y="1950720"/>
                  </a:lnTo>
                  <a:lnTo>
                    <a:pt x="9038972" y="1967611"/>
                  </a:lnTo>
                  <a:lnTo>
                    <a:pt x="9022080" y="1967611"/>
                  </a:lnTo>
                  <a:lnTo>
                    <a:pt x="9022080" y="16891"/>
                  </a:lnTo>
                  <a:lnTo>
                    <a:pt x="9038972" y="16891"/>
                  </a:lnTo>
                  <a:lnTo>
                    <a:pt x="90389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AEC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881360" y="2999232"/>
            <a:ext cx="6309360" cy="585216"/>
            <a:chOff x="0" y="0"/>
            <a:chExt cx="8412480" cy="7802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412480" cy="780288"/>
            </a:xfrm>
            <a:custGeom>
              <a:avLst/>
              <a:gdLst/>
              <a:ahLst/>
              <a:cxnLst/>
              <a:rect r="r" b="b" t="t" l="l"/>
              <a:pathLst>
                <a:path h="780288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073" r="0" b="-16007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841248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97A7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expand = "lg"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881360" y="3657600"/>
            <a:ext cx="6309360" cy="585216"/>
            <a:chOff x="0" y="0"/>
            <a:chExt cx="8412480" cy="78028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412480" cy="780288"/>
            </a:xfrm>
            <a:custGeom>
              <a:avLst/>
              <a:gdLst/>
              <a:ahLst/>
              <a:cxnLst/>
              <a:rect r="r" b="b" t="t" l="l"/>
              <a:pathLst>
                <a:path h="780288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073" r="0" b="-16007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841248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Thu gọn thành hamburger &lt; 992px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594343" y="4595879"/>
            <a:ext cx="6791963" cy="1488443"/>
            <a:chOff x="0" y="0"/>
            <a:chExt cx="9055951" cy="198459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9022081" cy="1950720"/>
            </a:xfrm>
            <a:custGeom>
              <a:avLst/>
              <a:gdLst/>
              <a:ahLst/>
              <a:cxnLst/>
              <a:rect r="r" b="b" t="t" l="l"/>
              <a:pathLst>
                <a:path h="1950720" w="9022081">
                  <a:moveTo>
                    <a:pt x="0" y="0"/>
                  </a:moveTo>
                  <a:lnTo>
                    <a:pt x="9022081" y="0"/>
                  </a:lnTo>
                  <a:lnTo>
                    <a:pt x="9022081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F0F4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055862" cy="1984502"/>
            </a:xfrm>
            <a:custGeom>
              <a:avLst/>
              <a:gdLst/>
              <a:ahLst/>
              <a:cxnLst/>
              <a:rect r="r" b="b" t="t" l="l"/>
              <a:pathLst>
                <a:path h="1984502" w="9055862">
                  <a:moveTo>
                    <a:pt x="16891" y="0"/>
                  </a:moveTo>
                  <a:lnTo>
                    <a:pt x="9038972" y="0"/>
                  </a:lnTo>
                  <a:cubicBezTo>
                    <a:pt x="9048369" y="0"/>
                    <a:pt x="9055862" y="7620"/>
                    <a:pt x="9055862" y="16891"/>
                  </a:cubicBezTo>
                  <a:lnTo>
                    <a:pt x="9055862" y="1967611"/>
                  </a:lnTo>
                  <a:cubicBezTo>
                    <a:pt x="9055862" y="1977009"/>
                    <a:pt x="9048242" y="1984502"/>
                    <a:pt x="9038972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9038972" y="1950720"/>
                  </a:lnTo>
                  <a:lnTo>
                    <a:pt x="9038972" y="1967611"/>
                  </a:lnTo>
                  <a:lnTo>
                    <a:pt x="9022080" y="1967611"/>
                  </a:lnTo>
                  <a:lnTo>
                    <a:pt x="9022080" y="16891"/>
                  </a:lnTo>
                  <a:lnTo>
                    <a:pt x="9038972" y="16891"/>
                  </a:lnTo>
                  <a:lnTo>
                    <a:pt x="90389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AEC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881360" y="4681728"/>
            <a:ext cx="6309360" cy="585216"/>
            <a:chOff x="0" y="0"/>
            <a:chExt cx="8412480" cy="78028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412480" cy="780288"/>
            </a:xfrm>
            <a:custGeom>
              <a:avLst/>
              <a:gdLst/>
              <a:ahLst/>
              <a:cxnLst/>
              <a:rect r="r" b="b" t="t" l="l"/>
              <a:pathLst>
                <a:path h="780288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073" r="0" b="-16007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841248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97A7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NavDropdown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881360" y="5340096"/>
            <a:ext cx="6309360" cy="585216"/>
            <a:chOff x="0" y="0"/>
            <a:chExt cx="8412480" cy="78028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412480" cy="780288"/>
            </a:xfrm>
            <a:custGeom>
              <a:avLst/>
              <a:gdLst/>
              <a:ahLst/>
              <a:cxnLst/>
              <a:rect r="r" b="b" t="t" l="l"/>
              <a:pathLst>
                <a:path h="780288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073" r="0" b="-16007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841248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Tạo dropdown trên thanh điều hướng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594343" y="6278375"/>
            <a:ext cx="6791963" cy="1488443"/>
            <a:chOff x="0" y="0"/>
            <a:chExt cx="9055951" cy="198459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6891" y="16891"/>
              <a:ext cx="9022081" cy="1950720"/>
            </a:xfrm>
            <a:custGeom>
              <a:avLst/>
              <a:gdLst/>
              <a:ahLst/>
              <a:cxnLst/>
              <a:rect r="r" b="b" t="t" l="l"/>
              <a:pathLst>
                <a:path h="1950720" w="9022081">
                  <a:moveTo>
                    <a:pt x="0" y="0"/>
                  </a:moveTo>
                  <a:lnTo>
                    <a:pt x="9022081" y="0"/>
                  </a:lnTo>
                  <a:lnTo>
                    <a:pt x="9022081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F0F4FF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055862" cy="1984502"/>
            </a:xfrm>
            <a:custGeom>
              <a:avLst/>
              <a:gdLst/>
              <a:ahLst/>
              <a:cxnLst/>
              <a:rect r="r" b="b" t="t" l="l"/>
              <a:pathLst>
                <a:path h="1984502" w="9055862">
                  <a:moveTo>
                    <a:pt x="16891" y="0"/>
                  </a:moveTo>
                  <a:lnTo>
                    <a:pt x="9038972" y="0"/>
                  </a:lnTo>
                  <a:cubicBezTo>
                    <a:pt x="9048369" y="0"/>
                    <a:pt x="9055862" y="7620"/>
                    <a:pt x="9055862" y="16891"/>
                  </a:cubicBezTo>
                  <a:lnTo>
                    <a:pt x="9055862" y="1967611"/>
                  </a:lnTo>
                  <a:cubicBezTo>
                    <a:pt x="9055862" y="1977009"/>
                    <a:pt x="9048242" y="1984502"/>
                    <a:pt x="9038972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9038972" y="1950720"/>
                  </a:lnTo>
                  <a:lnTo>
                    <a:pt x="9038972" y="1967611"/>
                  </a:lnTo>
                  <a:lnTo>
                    <a:pt x="9022080" y="1967611"/>
                  </a:lnTo>
                  <a:lnTo>
                    <a:pt x="9022080" y="16891"/>
                  </a:lnTo>
                  <a:lnTo>
                    <a:pt x="9038972" y="16891"/>
                  </a:lnTo>
                  <a:lnTo>
                    <a:pt x="90389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AEC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881360" y="6364224"/>
            <a:ext cx="6309360" cy="585216"/>
            <a:chOff x="0" y="0"/>
            <a:chExt cx="8412480" cy="78028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412480" cy="780288"/>
            </a:xfrm>
            <a:custGeom>
              <a:avLst/>
              <a:gdLst/>
              <a:ahLst/>
              <a:cxnLst/>
              <a:rect r="r" b="b" t="t" l="l"/>
              <a:pathLst>
                <a:path h="780288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073" r="0" b="-16007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841248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97A7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fixed = "top"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881360" y="7022592"/>
            <a:ext cx="6309360" cy="585216"/>
            <a:chOff x="0" y="0"/>
            <a:chExt cx="8412480" cy="78028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412480" cy="780288"/>
            </a:xfrm>
            <a:custGeom>
              <a:avLst/>
              <a:gdLst/>
              <a:ahLst/>
              <a:cxnLst/>
              <a:rect r="r" b="b" t="t" l="l"/>
              <a:pathLst>
                <a:path h="780288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073" r="0" b="-16007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841248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Cố định trên cùng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594343" y="7960871"/>
            <a:ext cx="6791963" cy="1488443"/>
            <a:chOff x="0" y="0"/>
            <a:chExt cx="9055951" cy="198459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6891" y="16891"/>
              <a:ext cx="9022081" cy="1950720"/>
            </a:xfrm>
            <a:custGeom>
              <a:avLst/>
              <a:gdLst/>
              <a:ahLst/>
              <a:cxnLst/>
              <a:rect r="r" b="b" t="t" l="l"/>
              <a:pathLst>
                <a:path h="1950720" w="9022081">
                  <a:moveTo>
                    <a:pt x="0" y="0"/>
                  </a:moveTo>
                  <a:lnTo>
                    <a:pt x="9022081" y="0"/>
                  </a:lnTo>
                  <a:lnTo>
                    <a:pt x="9022081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F0F4FF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055862" cy="1984502"/>
            </a:xfrm>
            <a:custGeom>
              <a:avLst/>
              <a:gdLst/>
              <a:ahLst/>
              <a:cxnLst/>
              <a:rect r="r" b="b" t="t" l="l"/>
              <a:pathLst>
                <a:path h="1984502" w="9055862">
                  <a:moveTo>
                    <a:pt x="16891" y="0"/>
                  </a:moveTo>
                  <a:lnTo>
                    <a:pt x="9038972" y="0"/>
                  </a:lnTo>
                  <a:cubicBezTo>
                    <a:pt x="9048369" y="0"/>
                    <a:pt x="9055862" y="7620"/>
                    <a:pt x="9055862" y="16891"/>
                  </a:cubicBezTo>
                  <a:lnTo>
                    <a:pt x="9055862" y="1967611"/>
                  </a:lnTo>
                  <a:cubicBezTo>
                    <a:pt x="9055862" y="1977009"/>
                    <a:pt x="9048242" y="1984502"/>
                    <a:pt x="9038972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9038972" y="1950720"/>
                  </a:lnTo>
                  <a:lnTo>
                    <a:pt x="9038972" y="1967611"/>
                  </a:lnTo>
                  <a:lnTo>
                    <a:pt x="9022080" y="1967611"/>
                  </a:lnTo>
                  <a:lnTo>
                    <a:pt x="9022080" y="16891"/>
                  </a:lnTo>
                  <a:lnTo>
                    <a:pt x="9038972" y="16891"/>
                  </a:lnTo>
                  <a:lnTo>
                    <a:pt x="90389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AEC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881360" y="8046720"/>
            <a:ext cx="6309360" cy="585216"/>
            <a:chOff x="0" y="0"/>
            <a:chExt cx="8412480" cy="78028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412480" cy="780288"/>
            </a:xfrm>
            <a:custGeom>
              <a:avLst/>
              <a:gdLst/>
              <a:ahLst/>
              <a:cxnLst/>
              <a:rect r="r" b="b" t="t" l="l"/>
              <a:pathLst>
                <a:path h="780288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073" r="0" b="-16007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841248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097A7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as={NavLink} = to='/'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881360" y="8631936"/>
            <a:ext cx="6309360" cy="775208"/>
            <a:chOff x="0" y="0"/>
            <a:chExt cx="8412480" cy="103361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412480" cy="1033611"/>
            </a:xfrm>
            <a:custGeom>
              <a:avLst/>
              <a:gdLst/>
              <a:ahLst/>
              <a:cxnLst/>
              <a:rect r="r" b="b" t="t" l="l"/>
              <a:pathLst>
                <a:path h="1033611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033611"/>
                  </a:lnTo>
                  <a:lnTo>
                    <a:pt x="0" y="10336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841" r="0" b="-9633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8412480" cy="10812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Điều hướng SPA, không reload; hỗ trợ highlight thẻ đang active</a:t>
              </a: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478104" y="193666"/>
            <a:ext cx="2436829" cy="1359547"/>
          </a:xfrm>
          <a:custGeom>
            <a:avLst/>
            <a:gdLst/>
            <a:ahLst/>
            <a:cxnLst/>
            <a:rect r="r" b="b" t="t" l="l"/>
            <a:pathLst>
              <a:path h="1359547" w="2436829">
                <a:moveTo>
                  <a:pt x="0" y="0"/>
                </a:moveTo>
                <a:lnTo>
                  <a:pt x="2436829" y="0"/>
                </a:lnTo>
                <a:lnTo>
                  <a:pt x="2436829" y="1359547"/>
                </a:lnTo>
                <a:lnTo>
                  <a:pt x="0" y="13595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62549" y="524662"/>
            <a:ext cx="11208822" cy="1123801"/>
            <a:chOff x="0" y="0"/>
            <a:chExt cx="14945096" cy="1498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945096" cy="1498402"/>
            </a:xfrm>
            <a:custGeom>
              <a:avLst/>
              <a:gdLst/>
              <a:ahLst/>
              <a:cxnLst/>
              <a:rect r="r" b="b" t="t" l="l"/>
              <a:pathLst>
                <a:path h="1498402" w="14945096">
                  <a:moveTo>
                    <a:pt x="0" y="0"/>
                  </a:moveTo>
                  <a:lnTo>
                    <a:pt x="14945096" y="0"/>
                  </a:lnTo>
                  <a:lnTo>
                    <a:pt x="14945096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6557" r="-46841" b="-2341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4945096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03 - Component: Card &amp; Accordion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724663"/>
            <a:ext cx="16484603" cy="80267"/>
            <a:chOff x="0" y="0"/>
            <a:chExt cx="21979471" cy="1070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1945599" cy="73152"/>
            </a:xfrm>
            <a:custGeom>
              <a:avLst/>
              <a:gdLst/>
              <a:ahLst/>
              <a:cxnLst/>
              <a:rect r="r" b="b" t="t" l="l"/>
              <a:pathLst>
                <a:path h="73152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E3E8F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79382" cy="106936"/>
            </a:xfrm>
            <a:custGeom>
              <a:avLst/>
              <a:gdLst/>
              <a:ahLst/>
              <a:cxnLst/>
              <a:rect r="r" b="b" t="t" l="l"/>
              <a:pathLst>
                <a:path h="106936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90043"/>
                  </a:lnTo>
                  <a:cubicBezTo>
                    <a:pt x="21979382" y="99441"/>
                    <a:pt x="21971763" y="106934"/>
                    <a:pt x="2196249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21962490" y="73152"/>
                  </a:lnTo>
                  <a:lnTo>
                    <a:pt x="21962490" y="90043"/>
                  </a:lnTo>
                  <a:lnTo>
                    <a:pt x="21945600" y="9004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3E8F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27106" y="1881130"/>
            <a:ext cx="8229600" cy="731520"/>
            <a:chOff x="0" y="0"/>
            <a:chExt cx="10972800" cy="975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975360"/>
            </a:xfrm>
            <a:custGeom>
              <a:avLst/>
              <a:gdLst/>
              <a:ahLst/>
              <a:cxnLst/>
              <a:rect r="r" b="b" t="t" l="l"/>
              <a:pathLst>
                <a:path h="9753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09728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Card &amp; Accordion </a:t>
              </a:r>
              <a:r>
                <a:rPr lang="en-US" sz="2799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7106" y="2612650"/>
            <a:ext cx="8255003" cy="4748377"/>
            <a:chOff x="0" y="0"/>
            <a:chExt cx="11006671" cy="633117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1006671" cy="1155535"/>
              <a:chOff x="0" y="0"/>
              <a:chExt cx="11006671" cy="115553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16891" y="16891"/>
                <a:ext cx="10972800" cy="1121664"/>
              </a:xfrm>
              <a:custGeom>
                <a:avLst/>
                <a:gdLst/>
                <a:ahLst/>
                <a:cxnLst/>
                <a:rect r="r" b="b" t="t" l="l"/>
                <a:pathLst>
                  <a:path h="1121664" w="10972800">
                    <a:moveTo>
                      <a:pt x="0" y="0"/>
                    </a:moveTo>
                    <a:lnTo>
                      <a:pt x="10972800" y="0"/>
                    </a:lnTo>
                    <a:lnTo>
                      <a:pt x="10972800" y="1121664"/>
                    </a:lnTo>
                    <a:lnTo>
                      <a:pt x="0" y="1121664"/>
                    </a:lnTo>
                    <a:close/>
                  </a:path>
                </a:pathLst>
              </a:custGeom>
              <a:solidFill>
                <a:srgbClr val="F0F4FF"/>
              </a:solidFill>
            </p:spPr>
          </p:sp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1006582" cy="1155448"/>
              </a:xfrm>
              <a:custGeom>
                <a:avLst/>
                <a:gdLst/>
                <a:ahLst/>
                <a:cxnLst/>
                <a:rect r="r" b="b" t="t" l="l"/>
                <a:pathLst>
                  <a:path h="1155448" w="11006582">
                    <a:moveTo>
                      <a:pt x="16891" y="0"/>
                    </a:moveTo>
                    <a:lnTo>
                      <a:pt x="10989691" y="0"/>
                    </a:lnTo>
                    <a:cubicBezTo>
                      <a:pt x="10999089" y="0"/>
                      <a:pt x="11006582" y="7620"/>
                      <a:pt x="11006582" y="16891"/>
                    </a:cubicBezTo>
                    <a:lnTo>
                      <a:pt x="11006582" y="1138555"/>
                    </a:lnTo>
                    <a:cubicBezTo>
                      <a:pt x="11006582" y="1147953"/>
                      <a:pt x="10998962" y="1155446"/>
                      <a:pt x="10989691" y="1155446"/>
                    </a:cubicBezTo>
                    <a:lnTo>
                      <a:pt x="16891" y="1155446"/>
                    </a:lnTo>
                    <a:cubicBezTo>
                      <a:pt x="7620" y="1155573"/>
                      <a:pt x="0" y="1147953"/>
                      <a:pt x="0" y="1138555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38555"/>
                    </a:lnTo>
                    <a:lnTo>
                      <a:pt x="16891" y="1138555"/>
                    </a:lnTo>
                    <a:lnTo>
                      <a:pt x="16891" y="1121664"/>
                    </a:lnTo>
                    <a:lnTo>
                      <a:pt x="10989691" y="1121664"/>
                    </a:lnTo>
                    <a:lnTo>
                      <a:pt x="10989691" y="1138555"/>
                    </a:lnTo>
                    <a:lnTo>
                      <a:pt x="10972800" y="1138555"/>
                    </a:lnTo>
                    <a:lnTo>
                      <a:pt x="10972800" y="16891"/>
                    </a:lnTo>
                    <a:lnTo>
                      <a:pt x="10989691" y="16891"/>
                    </a:lnTo>
                    <a:lnTo>
                      <a:pt x="109896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D0DAEC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382689" y="16929"/>
              <a:ext cx="3657600" cy="1121664"/>
              <a:chOff x="0" y="0"/>
              <a:chExt cx="3657600" cy="112166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657600" cy="1121664"/>
              </a:xfrm>
              <a:custGeom>
                <a:avLst/>
                <a:gdLst/>
                <a:ahLst/>
                <a:cxnLst/>
                <a:rect r="r" b="b" t="t" l="l"/>
                <a:pathLst>
                  <a:path h="1121664" w="3657600">
                    <a:moveTo>
                      <a:pt x="0" y="0"/>
                    </a:moveTo>
                    <a:lnTo>
                      <a:pt x="3657600" y="0"/>
                    </a:lnTo>
                    <a:lnTo>
                      <a:pt x="3657600" y="1121664"/>
                    </a:lnTo>
                    <a:lnTo>
                      <a:pt x="0" y="112166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3538" r="0" b="-13538"/>
                </a:stretch>
              </a:blip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3657600" cy="116928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60"/>
                  </a:lnSpc>
                </a:pPr>
                <a:r>
                  <a:rPr lang="en-US" sz="2300" b="true">
                    <a:solidFill>
                      <a:srgbClr val="0097A7"/>
                    </a:solidFill>
                    <a:latin typeface="Consolas Bold"/>
                    <a:ea typeface="Consolas Bold"/>
                    <a:cs typeface="Consolas Bold"/>
                    <a:sym typeface="Consolas Bold"/>
                  </a:rPr>
                  <a:t>defaultAc</a:t>
                </a:r>
                <a:r>
                  <a:rPr lang="en-US" sz="2300" b="true">
                    <a:solidFill>
                      <a:srgbClr val="0097A7"/>
                    </a:solidFill>
                    <a:latin typeface="Consolas Bold"/>
                    <a:ea typeface="Consolas Bold"/>
                    <a:cs typeface="Consolas Bold"/>
                    <a:sym typeface="Consolas Bold"/>
                  </a:rPr>
                  <a:t>tiveKey</a:t>
                </a: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4162209" y="16929"/>
              <a:ext cx="6583680" cy="1121664"/>
              <a:chOff x="0" y="0"/>
              <a:chExt cx="6583680" cy="112166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583680" cy="1121664"/>
              </a:xfrm>
              <a:custGeom>
                <a:avLst/>
                <a:gdLst/>
                <a:ahLst/>
                <a:cxnLst/>
                <a:rect r="r" b="b" t="t" l="l"/>
                <a:pathLst>
                  <a:path h="1121664" w="6583680">
                    <a:moveTo>
                      <a:pt x="0" y="0"/>
                    </a:moveTo>
                    <a:lnTo>
                      <a:pt x="6583680" y="0"/>
                    </a:lnTo>
                    <a:lnTo>
                      <a:pt x="6583680" y="1121664"/>
                    </a:lnTo>
                    <a:lnTo>
                      <a:pt x="0" y="112166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64368" r="0" b="-64368"/>
                </a:stretch>
              </a:blip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6583680" cy="116928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60"/>
                  </a:lnSpc>
                </a:pPr>
                <a:r>
                  <a:rPr lang="en-US" sz="2300">
                    <a:solidFill>
                      <a:srgbClr val="546E7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Xác định mục</a:t>
                </a:r>
                <a:r>
                  <a:rPr lang="en-US" sz="2300">
                    <a:solidFill>
                      <a:srgbClr val="546E7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 (eventKey) sẽ được mở sẵn khi component khởi tạo lần đầu</a:t>
                </a: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1292352"/>
              <a:ext cx="11006671" cy="1155535"/>
              <a:chOff x="0" y="0"/>
              <a:chExt cx="11006671" cy="1155535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16891" y="16891"/>
                <a:ext cx="10972800" cy="1121664"/>
              </a:xfrm>
              <a:custGeom>
                <a:avLst/>
                <a:gdLst/>
                <a:ahLst/>
                <a:cxnLst/>
                <a:rect r="r" b="b" t="t" l="l"/>
                <a:pathLst>
                  <a:path h="1121664" w="10972800">
                    <a:moveTo>
                      <a:pt x="0" y="0"/>
                    </a:moveTo>
                    <a:lnTo>
                      <a:pt x="10972800" y="0"/>
                    </a:lnTo>
                    <a:lnTo>
                      <a:pt x="10972800" y="1121664"/>
                    </a:lnTo>
                    <a:lnTo>
                      <a:pt x="0" y="112166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1006582" cy="1155448"/>
              </a:xfrm>
              <a:custGeom>
                <a:avLst/>
                <a:gdLst/>
                <a:ahLst/>
                <a:cxnLst/>
                <a:rect r="r" b="b" t="t" l="l"/>
                <a:pathLst>
                  <a:path h="1155448" w="11006582">
                    <a:moveTo>
                      <a:pt x="16891" y="0"/>
                    </a:moveTo>
                    <a:lnTo>
                      <a:pt x="10989691" y="0"/>
                    </a:lnTo>
                    <a:cubicBezTo>
                      <a:pt x="10999089" y="0"/>
                      <a:pt x="11006582" y="7620"/>
                      <a:pt x="11006582" y="16891"/>
                    </a:cubicBezTo>
                    <a:lnTo>
                      <a:pt x="11006582" y="1138555"/>
                    </a:lnTo>
                    <a:cubicBezTo>
                      <a:pt x="11006582" y="1147953"/>
                      <a:pt x="10998962" y="1155446"/>
                      <a:pt x="10989691" y="1155446"/>
                    </a:cubicBezTo>
                    <a:lnTo>
                      <a:pt x="16891" y="1155446"/>
                    </a:lnTo>
                    <a:cubicBezTo>
                      <a:pt x="7620" y="1155573"/>
                      <a:pt x="0" y="1147953"/>
                      <a:pt x="0" y="1138555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38555"/>
                    </a:lnTo>
                    <a:lnTo>
                      <a:pt x="16891" y="1138555"/>
                    </a:lnTo>
                    <a:lnTo>
                      <a:pt x="16891" y="1121664"/>
                    </a:lnTo>
                    <a:lnTo>
                      <a:pt x="10989691" y="1121664"/>
                    </a:lnTo>
                    <a:lnTo>
                      <a:pt x="10989691" y="1138555"/>
                    </a:lnTo>
                    <a:lnTo>
                      <a:pt x="10972800" y="1138555"/>
                    </a:lnTo>
                    <a:lnTo>
                      <a:pt x="10972800" y="16891"/>
                    </a:lnTo>
                    <a:lnTo>
                      <a:pt x="10989691" y="16891"/>
                    </a:lnTo>
                    <a:lnTo>
                      <a:pt x="109896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D0DAEC"/>
              </a:solid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382689" y="1309281"/>
              <a:ext cx="3657600" cy="1121664"/>
              <a:chOff x="0" y="0"/>
              <a:chExt cx="3657600" cy="112166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3657600" cy="1121664"/>
              </a:xfrm>
              <a:custGeom>
                <a:avLst/>
                <a:gdLst/>
                <a:ahLst/>
                <a:cxnLst/>
                <a:rect r="r" b="b" t="t" l="l"/>
                <a:pathLst>
                  <a:path h="1121664" w="3657600">
                    <a:moveTo>
                      <a:pt x="0" y="0"/>
                    </a:moveTo>
                    <a:lnTo>
                      <a:pt x="3657600" y="0"/>
                    </a:lnTo>
                    <a:lnTo>
                      <a:pt x="3657600" y="1121664"/>
                    </a:lnTo>
                    <a:lnTo>
                      <a:pt x="0" y="112166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3538" r="0" b="-13538"/>
                </a:stretch>
              </a:blip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47625"/>
                <a:ext cx="3657600" cy="116928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60"/>
                  </a:lnSpc>
                </a:pPr>
                <a:r>
                  <a:rPr lang="en-US" sz="2300" b="true">
                    <a:solidFill>
                      <a:srgbClr val="0097A7"/>
                    </a:solidFill>
                    <a:latin typeface="Consolas Bold"/>
                    <a:ea typeface="Consolas Bold"/>
                    <a:cs typeface="Consolas Bold"/>
                    <a:sym typeface="Consolas Bold"/>
                  </a:rPr>
                  <a:t>activ</a:t>
                </a:r>
                <a:r>
                  <a:rPr lang="en-US" sz="2300" b="true">
                    <a:solidFill>
                      <a:srgbClr val="0097A7"/>
                    </a:solidFill>
                    <a:latin typeface="Consolas Bold"/>
                    <a:ea typeface="Consolas Bold"/>
                    <a:cs typeface="Consolas Bold"/>
                    <a:sym typeface="Consolas Bold"/>
                  </a:rPr>
                  <a:t>eKey</a:t>
                </a: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4162209" y="1309281"/>
              <a:ext cx="6583680" cy="1121664"/>
              <a:chOff x="0" y="0"/>
              <a:chExt cx="6583680" cy="1121664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6583680" cy="1121664"/>
              </a:xfrm>
              <a:custGeom>
                <a:avLst/>
                <a:gdLst/>
                <a:ahLst/>
                <a:cxnLst/>
                <a:rect r="r" b="b" t="t" l="l"/>
                <a:pathLst>
                  <a:path h="1121664" w="6583680">
                    <a:moveTo>
                      <a:pt x="0" y="0"/>
                    </a:moveTo>
                    <a:lnTo>
                      <a:pt x="6583680" y="0"/>
                    </a:lnTo>
                    <a:lnTo>
                      <a:pt x="6583680" y="1121664"/>
                    </a:lnTo>
                    <a:lnTo>
                      <a:pt x="0" y="112166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64368" r="0" b="-64368"/>
                </a:stretch>
              </a:blip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47625"/>
                <a:ext cx="6583680" cy="116928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60"/>
                  </a:lnSpc>
                </a:pPr>
                <a:r>
                  <a:rPr lang="en-US" sz="2300">
                    <a:solidFill>
                      <a:srgbClr val="546E7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Dùng để k</a:t>
                </a:r>
                <a:r>
                  <a:rPr lang="en-US" sz="2300">
                    <a:solidFill>
                      <a:srgbClr val="546E7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iểm soát trạng thái đóng/ mở của Accordion thông qua State</a:t>
                </a: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0" y="2584704"/>
              <a:ext cx="11006671" cy="1155535"/>
              <a:chOff x="0" y="0"/>
              <a:chExt cx="11006671" cy="1155535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16891" y="16891"/>
                <a:ext cx="10972800" cy="1121664"/>
              </a:xfrm>
              <a:custGeom>
                <a:avLst/>
                <a:gdLst/>
                <a:ahLst/>
                <a:cxnLst/>
                <a:rect r="r" b="b" t="t" l="l"/>
                <a:pathLst>
                  <a:path h="1121664" w="10972800">
                    <a:moveTo>
                      <a:pt x="0" y="0"/>
                    </a:moveTo>
                    <a:lnTo>
                      <a:pt x="10972800" y="0"/>
                    </a:lnTo>
                    <a:lnTo>
                      <a:pt x="10972800" y="1121664"/>
                    </a:lnTo>
                    <a:lnTo>
                      <a:pt x="0" y="1121664"/>
                    </a:lnTo>
                    <a:close/>
                  </a:path>
                </a:pathLst>
              </a:custGeom>
              <a:solidFill>
                <a:srgbClr val="F0F4FF"/>
              </a:solidFill>
            </p:spPr>
          </p:sp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1006582" cy="1155448"/>
              </a:xfrm>
              <a:custGeom>
                <a:avLst/>
                <a:gdLst/>
                <a:ahLst/>
                <a:cxnLst/>
                <a:rect r="r" b="b" t="t" l="l"/>
                <a:pathLst>
                  <a:path h="1155448" w="11006582">
                    <a:moveTo>
                      <a:pt x="16891" y="0"/>
                    </a:moveTo>
                    <a:lnTo>
                      <a:pt x="10989691" y="0"/>
                    </a:lnTo>
                    <a:cubicBezTo>
                      <a:pt x="10999089" y="0"/>
                      <a:pt x="11006582" y="7620"/>
                      <a:pt x="11006582" y="16891"/>
                    </a:cubicBezTo>
                    <a:lnTo>
                      <a:pt x="11006582" y="1138555"/>
                    </a:lnTo>
                    <a:cubicBezTo>
                      <a:pt x="11006582" y="1147953"/>
                      <a:pt x="10998962" y="1155446"/>
                      <a:pt x="10989691" y="1155446"/>
                    </a:cubicBezTo>
                    <a:lnTo>
                      <a:pt x="16891" y="1155446"/>
                    </a:lnTo>
                    <a:cubicBezTo>
                      <a:pt x="7620" y="1155573"/>
                      <a:pt x="0" y="1147953"/>
                      <a:pt x="0" y="1138555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138555"/>
                    </a:lnTo>
                    <a:lnTo>
                      <a:pt x="16891" y="1138555"/>
                    </a:lnTo>
                    <a:lnTo>
                      <a:pt x="16891" y="1121664"/>
                    </a:lnTo>
                    <a:lnTo>
                      <a:pt x="10989691" y="1121664"/>
                    </a:lnTo>
                    <a:lnTo>
                      <a:pt x="10989691" y="1138555"/>
                    </a:lnTo>
                    <a:lnTo>
                      <a:pt x="10972800" y="1138555"/>
                    </a:lnTo>
                    <a:lnTo>
                      <a:pt x="10972800" y="16891"/>
                    </a:lnTo>
                    <a:lnTo>
                      <a:pt x="10989691" y="16891"/>
                    </a:lnTo>
                    <a:lnTo>
                      <a:pt x="109896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D0DAEC"/>
              </a:solidFill>
            </p:spPr>
          </p:sp>
        </p:grpSp>
        <p:grpSp>
          <p:nvGrpSpPr>
            <p:cNvPr name="Group 33" id="33"/>
            <p:cNvGrpSpPr/>
            <p:nvPr/>
          </p:nvGrpSpPr>
          <p:grpSpPr>
            <a:xfrm rot="0">
              <a:off x="382689" y="2601633"/>
              <a:ext cx="3657600" cy="1121664"/>
              <a:chOff x="0" y="0"/>
              <a:chExt cx="3657600" cy="1121664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3657600" cy="1121664"/>
              </a:xfrm>
              <a:custGeom>
                <a:avLst/>
                <a:gdLst/>
                <a:ahLst/>
                <a:cxnLst/>
                <a:rect r="r" b="b" t="t" l="l"/>
                <a:pathLst>
                  <a:path h="1121664" w="3657600">
                    <a:moveTo>
                      <a:pt x="0" y="0"/>
                    </a:moveTo>
                    <a:lnTo>
                      <a:pt x="3657600" y="0"/>
                    </a:lnTo>
                    <a:lnTo>
                      <a:pt x="3657600" y="1121664"/>
                    </a:lnTo>
                    <a:lnTo>
                      <a:pt x="0" y="112166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3538" r="0" b="-13538"/>
                </a:stretch>
              </a:blip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47625"/>
                <a:ext cx="3657600" cy="116928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60"/>
                  </a:lnSpc>
                </a:pPr>
                <a:r>
                  <a:rPr lang="en-US" sz="2300" b="true">
                    <a:solidFill>
                      <a:srgbClr val="0097A7"/>
                    </a:solidFill>
                    <a:latin typeface="Consolas Bold"/>
                    <a:ea typeface="Consolas Bold"/>
                    <a:cs typeface="Consolas Bold"/>
                    <a:sym typeface="Consolas Bold"/>
                  </a:rPr>
                  <a:t>alwaysOp</a:t>
                </a:r>
                <a:r>
                  <a:rPr lang="en-US" sz="2300" b="true">
                    <a:solidFill>
                      <a:srgbClr val="0097A7"/>
                    </a:solidFill>
                    <a:latin typeface="Consolas Bold"/>
                    <a:ea typeface="Consolas Bold"/>
                    <a:cs typeface="Consolas Bold"/>
                    <a:sym typeface="Consolas Bold"/>
                  </a:rPr>
                  <a:t>en</a:t>
                </a: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4162209" y="2601633"/>
              <a:ext cx="6583680" cy="1121664"/>
              <a:chOff x="0" y="0"/>
              <a:chExt cx="6583680" cy="1121664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6583680" cy="1121664"/>
              </a:xfrm>
              <a:custGeom>
                <a:avLst/>
                <a:gdLst/>
                <a:ahLst/>
                <a:cxnLst/>
                <a:rect r="r" b="b" t="t" l="l"/>
                <a:pathLst>
                  <a:path h="1121664" w="6583680">
                    <a:moveTo>
                      <a:pt x="0" y="0"/>
                    </a:moveTo>
                    <a:lnTo>
                      <a:pt x="6583680" y="0"/>
                    </a:lnTo>
                    <a:lnTo>
                      <a:pt x="6583680" y="1121664"/>
                    </a:lnTo>
                    <a:lnTo>
                      <a:pt x="0" y="112166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64368" r="0" b="-64368"/>
                </a:stretch>
              </a:blip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47625"/>
                <a:ext cx="6583680" cy="116928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60"/>
                  </a:lnSpc>
                </a:pPr>
                <a:r>
                  <a:rPr lang="en-US" sz="2300">
                    <a:solidFill>
                      <a:srgbClr val="546E7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Cho phép mở nh</a:t>
                </a:r>
                <a:r>
                  <a:rPr lang="en-US" sz="2300">
                    <a:solidFill>
                      <a:srgbClr val="546E7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iều mục cùng lúc thay vì chỉ được mở một mục </a:t>
                </a: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0" y="3877056"/>
              <a:ext cx="11006671" cy="2454114"/>
              <a:chOff x="0" y="0"/>
              <a:chExt cx="11006671" cy="2454114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16891" y="35873"/>
                <a:ext cx="10972800" cy="2382179"/>
              </a:xfrm>
              <a:custGeom>
                <a:avLst/>
                <a:gdLst/>
                <a:ahLst/>
                <a:cxnLst/>
                <a:rect r="r" b="b" t="t" l="l"/>
                <a:pathLst>
                  <a:path h="2382179" w="10972800">
                    <a:moveTo>
                      <a:pt x="0" y="0"/>
                    </a:moveTo>
                    <a:lnTo>
                      <a:pt x="10972800" y="0"/>
                    </a:lnTo>
                    <a:lnTo>
                      <a:pt x="10972800" y="2382179"/>
                    </a:lnTo>
                    <a:lnTo>
                      <a:pt x="0" y="238217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1006582" cy="2453927"/>
              </a:xfrm>
              <a:custGeom>
                <a:avLst/>
                <a:gdLst/>
                <a:ahLst/>
                <a:cxnLst/>
                <a:rect r="r" b="b" t="t" l="l"/>
                <a:pathLst>
                  <a:path h="2453927" w="11006582">
                    <a:moveTo>
                      <a:pt x="16891" y="0"/>
                    </a:moveTo>
                    <a:lnTo>
                      <a:pt x="10989691" y="0"/>
                    </a:lnTo>
                    <a:cubicBezTo>
                      <a:pt x="10999089" y="0"/>
                      <a:pt x="11006582" y="16183"/>
                      <a:pt x="11006582" y="35873"/>
                    </a:cubicBezTo>
                    <a:lnTo>
                      <a:pt x="11006582" y="2418052"/>
                    </a:lnTo>
                    <a:cubicBezTo>
                      <a:pt x="11006582" y="2438011"/>
                      <a:pt x="10998962" y="2453925"/>
                      <a:pt x="10989691" y="2453925"/>
                    </a:cubicBezTo>
                    <a:lnTo>
                      <a:pt x="16891" y="2453925"/>
                    </a:lnTo>
                    <a:cubicBezTo>
                      <a:pt x="7620" y="2454152"/>
                      <a:pt x="0" y="2438011"/>
                      <a:pt x="0" y="2418052"/>
                    </a:cubicBezTo>
                    <a:lnTo>
                      <a:pt x="0" y="35873"/>
                    </a:lnTo>
                    <a:cubicBezTo>
                      <a:pt x="0" y="16183"/>
                      <a:pt x="7620" y="0"/>
                      <a:pt x="16891" y="0"/>
                    </a:cubicBezTo>
                    <a:moveTo>
                      <a:pt x="16891" y="72016"/>
                    </a:moveTo>
                    <a:lnTo>
                      <a:pt x="16891" y="35873"/>
                    </a:lnTo>
                    <a:lnTo>
                      <a:pt x="33909" y="35873"/>
                    </a:lnTo>
                    <a:lnTo>
                      <a:pt x="33909" y="2418052"/>
                    </a:lnTo>
                    <a:lnTo>
                      <a:pt x="16891" y="2418052"/>
                    </a:lnTo>
                    <a:lnTo>
                      <a:pt x="16891" y="2382179"/>
                    </a:lnTo>
                    <a:lnTo>
                      <a:pt x="10989691" y="2382179"/>
                    </a:lnTo>
                    <a:lnTo>
                      <a:pt x="10989691" y="2418052"/>
                    </a:lnTo>
                    <a:lnTo>
                      <a:pt x="10972800" y="2418052"/>
                    </a:lnTo>
                    <a:lnTo>
                      <a:pt x="10972800" y="35873"/>
                    </a:lnTo>
                    <a:lnTo>
                      <a:pt x="10989691" y="35873"/>
                    </a:lnTo>
                    <a:lnTo>
                      <a:pt x="10989691" y="72016"/>
                    </a:lnTo>
                    <a:lnTo>
                      <a:pt x="16891" y="72016"/>
                    </a:lnTo>
                    <a:close/>
                  </a:path>
                </a:pathLst>
              </a:custGeom>
              <a:solidFill>
                <a:srgbClr val="D0DAEC"/>
              </a:solidFill>
            </p:spPr>
          </p:sp>
        </p:grpSp>
        <p:grpSp>
          <p:nvGrpSpPr>
            <p:cNvPr name="Group 42" id="42"/>
            <p:cNvGrpSpPr/>
            <p:nvPr/>
          </p:nvGrpSpPr>
          <p:grpSpPr>
            <a:xfrm rot="0">
              <a:off x="382689" y="3893985"/>
              <a:ext cx="3657600" cy="1121664"/>
              <a:chOff x="0" y="0"/>
              <a:chExt cx="3657600" cy="1121664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3657600" cy="1121664"/>
              </a:xfrm>
              <a:custGeom>
                <a:avLst/>
                <a:gdLst/>
                <a:ahLst/>
                <a:cxnLst/>
                <a:rect r="r" b="b" t="t" l="l"/>
                <a:pathLst>
                  <a:path h="1121664" w="3657600">
                    <a:moveTo>
                      <a:pt x="0" y="0"/>
                    </a:moveTo>
                    <a:lnTo>
                      <a:pt x="3657600" y="0"/>
                    </a:lnTo>
                    <a:lnTo>
                      <a:pt x="3657600" y="1121664"/>
                    </a:lnTo>
                    <a:lnTo>
                      <a:pt x="0" y="1121664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3538" r="0" b="-13538"/>
                </a:stretch>
              </a:blip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47625"/>
                <a:ext cx="3657600" cy="116928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60"/>
                  </a:lnSpc>
                </a:pPr>
                <a:r>
                  <a:rPr lang="en-US" sz="2300" b="true">
                    <a:solidFill>
                      <a:srgbClr val="0097A7"/>
                    </a:solidFill>
                    <a:latin typeface="Consolas Bold"/>
                    <a:ea typeface="Consolas Bold"/>
                    <a:cs typeface="Consolas Bold"/>
                    <a:sym typeface="Consolas Bold"/>
                  </a:rPr>
                  <a:t>eventKey (Required)</a:t>
                </a: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4162209" y="3893985"/>
              <a:ext cx="6583680" cy="2437185"/>
              <a:chOff x="0" y="0"/>
              <a:chExt cx="6583680" cy="2437185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6583680" cy="2437185"/>
              </a:xfrm>
              <a:custGeom>
                <a:avLst/>
                <a:gdLst/>
                <a:ahLst/>
                <a:cxnLst/>
                <a:rect r="r" b="b" t="t" l="l"/>
                <a:pathLst>
                  <a:path h="2437185" w="6583680">
                    <a:moveTo>
                      <a:pt x="0" y="0"/>
                    </a:moveTo>
                    <a:lnTo>
                      <a:pt x="6583680" y="0"/>
                    </a:lnTo>
                    <a:lnTo>
                      <a:pt x="6583680" y="2437185"/>
                    </a:lnTo>
                    <a:lnTo>
                      <a:pt x="0" y="2437185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29624" r="0" b="24352"/>
                </a:stretch>
              </a:blip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47625"/>
                <a:ext cx="6583680" cy="248481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60"/>
                  </a:lnSpc>
                </a:pPr>
                <a:r>
                  <a:rPr lang="en-US" sz="2300">
                    <a:solidFill>
                      <a:srgbClr val="546E7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ID duy nhất của mỗi mụ</a:t>
                </a:r>
                <a:r>
                  <a:rPr lang="en-US" sz="2300">
                    <a:solidFill>
                      <a:srgbClr val="546E7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c. Kết nối với defaultActiveKey của thẻ cha. Khi click vào tiêu để Accordion sẽ dựa vào key này để biết cần mở mục nào và đóng mục nào</a:t>
                </a:r>
              </a:p>
            </p:txBody>
          </p:sp>
        </p:grpSp>
      </p:grpSp>
      <p:grpSp>
        <p:nvGrpSpPr>
          <p:cNvPr name="Group 48" id="48"/>
          <p:cNvGrpSpPr/>
          <p:nvPr/>
        </p:nvGrpSpPr>
        <p:grpSpPr>
          <a:xfrm rot="0">
            <a:off x="9692640" y="2030730"/>
            <a:ext cx="7680960" cy="731520"/>
            <a:chOff x="0" y="0"/>
            <a:chExt cx="10241280" cy="9753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241280" cy="975360"/>
            </a:xfrm>
            <a:custGeom>
              <a:avLst/>
              <a:gdLst/>
              <a:ahLst/>
              <a:cxnLst/>
              <a:rect r="r" b="b" t="t" l="l"/>
              <a:pathLst>
                <a:path h="9753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02412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Modal xác nhận xoá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692640" y="2693794"/>
            <a:ext cx="7706363" cy="4694558"/>
            <a:chOff x="0" y="0"/>
            <a:chExt cx="10275151" cy="6259411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0"/>
              <a:ext cx="10275151" cy="6259411"/>
              <a:chOff x="0" y="0"/>
              <a:chExt cx="10275151" cy="6259411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16891" y="16277"/>
                <a:ext cx="10241281" cy="6226771"/>
              </a:xfrm>
              <a:custGeom>
                <a:avLst/>
                <a:gdLst/>
                <a:ahLst/>
                <a:cxnLst/>
                <a:rect r="r" b="b" t="t" l="l"/>
                <a:pathLst>
                  <a:path h="6226771" w="10241281">
                    <a:moveTo>
                      <a:pt x="0" y="0"/>
                    </a:moveTo>
                    <a:lnTo>
                      <a:pt x="10241281" y="0"/>
                    </a:lnTo>
                    <a:lnTo>
                      <a:pt x="10241281" y="6226771"/>
                    </a:lnTo>
                    <a:lnTo>
                      <a:pt x="0" y="6226771"/>
                    </a:lnTo>
                    <a:close/>
                  </a:path>
                </a:pathLst>
              </a:custGeom>
              <a:solidFill>
                <a:srgbClr val="1E2A3A"/>
              </a:solidFill>
            </p:spPr>
          </p:sp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10275062" cy="6259325"/>
              </a:xfrm>
              <a:custGeom>
                <a:avLst/>
                <a:gdLst/>
                <a:ahLst/>
                <a:cxnLst/>
                <a:rect r="r" b="b" t="t" l="l"/>
                <a:pathLst>
                  <a:path h="6259325" w="10275062">
                    <a:moveTo>
                      <a:pt x="16891" y="0"/>
                    </a:moveTo>
                    <a:lnTo>
                      <a:pt x="10258172" y="0"/>
                    </a:lnTo>
                    <a:cubicBezTo>
                      <a:pt x="10267569" y="0"/>
                      <a:pt x="10275062" y="7343"/>
                      <a:pt x="10275062" y="16277"/>
                    </a:cubicBezTo>
                    <a:lnTo>
                      <a:pt x="10275062" y="6243048"/>
                    </a:lnTo>
                    <a:cubicBezTo>
                      <a:pt x="10275062" y="6252105"/>
                      <a:pt x="10267442" y="6259325"/>
                      <a:pt x="10258172" y="6259325"/>
                    </a:cubicBezTo>
                    <a:lnTo>
                      <a:pt x="16891" y="6259325"/>
                    </a:lnTo>
                    <a:cubicBezTo>
                      <a:pt x="7493" y="6259325"/>
                      <a:pt x="0" y="6251982"/>
                      <a:pt x="0" y="6243048"/>
                    </a:cubicBezTo>
                    <a:lnTo>
                      <a:pt x="0" y="16277"/>
                    </a:lnTo>
                    <a:cubicBezTo>
                      <a:pt x="0" y="7343"/>
                      <a:pt x="7620" y="0"/>
                      <a:pt x="16891" y="0"/>
                    </a:cubicBezTo>
                    <a:moveTo>
                      <a:pt x="16891" y="32676"/>
                    </a:moveTo>
                    <a:lnTo>
                      <a:pt x="16891" y="16277"/>
                    </a:lnTo>
                    <a:lnTo>
                      <a:pt x="33909" y="16277"/>
                    </a:lnTo>
                    <a:lnTo>
                      <a:pt x="33909" y="6243048"/>
                    </a:lnTo>
                    <a:lnTo>
                      <a:pt x="16891" y="6243048"/>
                    </a:lnTo>
                    <a:lnTo>
                      <a:pt x="16891" y="6226771"/>
                    </a:lnTo>
                    <a:lnTo>
                      <a:pt x="10258172" y="6226771"/>
                    </a:lnTo>
                    <a:lnTo>
                      <a:pt x="10258172" y="6243048"/>
                    </a:lnTo>
                    <a:lnTo>
                      <a:pt x="10241280" y="6243048"/>
                    </a:lnTo>
                    <a:lnTo>
                      <a:pt x="10241280" y="16277"/>
                    </a:lnTo>
                    <a:lnTo>
                      <a:pt x="10258172" y="16277"/>
                    </a:lnTo>
                    <a:lnTo>
                      <a:pt x="10258172" y="32676"/>
                    </a:lnTo>
                    <a:lnTo>
                      <a:pt x="16891" y="32676"/>
                    </a:lnTo>
                    <a:close/>
                  </a:path>
                </a:pathLst>
              </a:custGeom>
              <a:solidFill>
                <a:srgbClr val="1E2A3A"/>
              </a:solidFill>
            </p:spPr>
          </p:sp>
        </p:grpSp>
        <p:sp>
          <p:nvSpPr>
            <p:cNvPr name="TextBox 55" id="55"/>
            <p:cNvSpPr txBox="true"/>
            <p:nvPr/>
          </p:nvSpPr>
          <p:spPr>
            <a:xfrm rot="0">
              <a:off x="382689" y="91224"/>
              <a:ext cx="9631680" cy="6029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FF78"/>
                  </a:solidFill>
                  <a:latin typeface="Consolas"/>
                  <a:ea typeface="Consolas"/>
                  <a:cs typeface="Consolas"/>
                  <a:sym typeface="Consolas"/>
                </a:rPr>
                <a:t>&lt;Card.Body className="p-4"&gt;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FF78"/>
                  </a:solidFill>
                  <a:latin typeface="Consolas"/>
                  <a:ea typeface="Consolas"/>
                  <a:cs typeface="Consolas"/>
                  <a:sym typeface="Consolas"/>
                </a:rPr>
                <a:t> &lt;Card.Subtitle className="mb-2 text-muted small fw-bold"&gt;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FF78"/>
                  </a:solidFill>
                  <a:latin typeface="Consolas"/>
                  <a:ea typeface="Consolas"/>
                  <a:cs typeface="Consolas"/>
                  <a:sym typeface="Consolas"/>
                </a:rPr>
                <a:t> {item.title}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FF78"/>
                  </a:solidFill>
                  <a:latin typeface="Consolas"/>
                  <a:ea typeface="Consolas"/>
                  <a:cs typeface="Consolas"/>
                  <a:sym typeface="Consolas"/>
                </a:rPr>
                <a:t> &lt;/Card.Subtitle&gt;</a:t>
              </a:r>
            </a:p>
            <a:p>
              <a:pPr algn="l">
                <a:lnSpc>
                  <a:spcPts val="2400"/>
                </a:lnSpc>
              </a:pP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FF78"/>
                  </a:solidFill>
                  <a:latin typeface="Consolas"/>
                  <a:ea typeface="Consolas"/>
                  <a:cs typeface="Consolas"/>
                  <a:sym typeface="Consolas"/>
                </a:rPr>
                <a:t> &lt;Card.Title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FF78"/>
                  </a:solidFill>
                  <a:latin typeface="Consolas"/>
                  <a:ea typeface="Consolas"/>
                  <a:cs typeface="Consolas"/>
                  <a:sym typeface="Consolas"/>
                </a:rPr>
                <a:t> as="h1"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FF78"/>
                  </a:solidFill>
                  <a:latin typeface="Consolas"/>
                  <a:ea typeface="Consolas"/>
                  <a:cs typeface="Consolas"/>
                  <a:sym typeface="Consolas"/>
                </a:rPr>
                <a:t> className={`display-4 fw-bold mb-1 ${item.color}`}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FF78"/>
                  </a:solidFill>
                  <a:latin typeface="Consolas"/>
                  <a:ea typeface="Consolas"/>
                  <a:cs typeface="Consolas"/>
                  <a:sym typeface="Consolas"/>
                </a:rPr>
                <a:t> &gt;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FF78"/>
                  </a:solidFill>
                  <a:latin typeface="Consolas"/>
                  <a:ea typeface="Consolas"/>
                  <a:cs typeface="Consolas"/>
                  <a:sym typeface="Consolas"/>
                </a:rPr>
                <a:t> {item.value}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FF78"/>
                  </a:solidFill>
                  <a:latin typeface="Consolas"/>
                  <a:ea typeface="Consolas"/>
                  <a:cs typeface="Consolas"/>
                  <a:sym typeface="Consolas"/>
                </a:rPr>
                <a:t> &lt;/Card.Title&gt;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FF78"/>
                  </a:solidFill>
                  <a:latin typeface="Consolas"/>
                  <a:ea typeface="Consolas"/>
                  <a:cs typeface="Consolas"/>
                  <a:sym typeface="Consolas"/>
                </a:rPr>
                <a:t> &lt;/Card.Body&gt;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FF78"/>
                  </a:solidFill>
                  <a:latin typeface="Consolas"/>
                  <a:ea typeface="Consolas"/>
                  <a:cs typeface="Consolas"/>
                  <a:sym typeface="Consolas"/>
                </a:rPr>
                <a:t> &lt;/Card&gt;</a:t>
              </a:r>
            </a:p>
            <a:p>
              <a:pPr algn="l">
                <a:lnSpc>
                  <a:spcPts val="2400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669280" y="7040880"/>
            <a:ext cx="2560320" cy="694944"/>
            <a:chOff x="0" y="0"/>
            <a:chExt cx="3413760" cy="9265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413760" cy="926592"/>
            </a:xfrm>
            <a:custGeom>
              <a:avLst/>
              <a:gdLst/>
              <a:ahLst/>
              <a:cxnLst/>
              <a:rect r="r" b="b" t="t" l="l"/>
              <a:pathLst>
                <a:path h="926592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86" r="0" b="-2178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341376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Danh mục</a:t>
              </a: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0">
            <a:off x="478104" y="193666"/>
            <a:ext cx="2436829" cy="1359547"/>
          </a:xfrm>
          <a:custGeom>
            <a:avLst/>
            <a:gdLst/>
            <a:ahLst/>
            <a:cxnLst/>
            <a:rect r="r" b="b" t="t" l="l"/>
            <a:pathLst>
              <a:path h="1359547" w="2436829">
                <a:moveTo>
                  <a:pt x="0" y="0"/>
                </a:moveTo>
                <a:lnTo>
                  <a:pt x="2436829" y="0"/>
                </a:lnTo>
                <a:lnTo>
                  <a:pt x="2436829" y="1359547"/>
                </a:lnTo>
                <a:lnTo>
                  <a:pt x="0" y="13595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1545806" y="7474077"/>
            <a:ext cx="10200818" cy="2639462"/>
          </a:xfrm>
          <a:custGeom>
            <a:avLst/>
            <a:gdLst/>
            <a:ahLst/>
            <a:cxnLst/>
            <a:rect r="r" b="b" t="t" l="l"/>
            <a:pathLst>
              <a:path h="2639462" w="10200818">
                <a:moveTo>
                  <a:pt x="0" y="0"/>
                </a:moveTo>
                <a:lnTo>
                  <a:pt x="10200818" y="0"/>
                </a:lnTo>
                <a:lnTo>
                  <a:pt x="10200818" y="2639462"/>
                </a:lnTo>
                <a:lnTo>
                  <a:pt x="0" y="26394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06240" y="572287"/>
            <a:ext cx="9509760" cy="1123801"/>
            <a:chOff x="0" y="0"/>
            <a:chExt cx="12679680" cy="1498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79680" cy="1498402"/>
            </a:xfrm>
            <a:custGeom>
              <a:avLst/>
              <a:gdLst/>
              <a:ahLst/>
              <a:cxnLst/>
              <a:rect r="r" b="b" t="t" l="l"/>
              <a:pathLst>
                <a:path h="1498402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6557" r="-73076" b="-2341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267968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03 - Component: Table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724663"/>
            <a:ext cx="16484603" cy="80267"/>
            <a:chOff x="0" y="0"/>
            <a:chExt cx="21979471" cy="1070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1945599" cy="73152"/>
            </a:xfrm>
            <a:custGeom>
              <a:avLst/>
              <a:gdLst/>
              <a:ahLst/>
              <a:cxnLst/>
              <a:rect r="r" b="b" t="t" l="l"/>
              <a:pathLst>
                <a:path h="73152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E3E8F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79382" cy="106936"/>
            </a:xfrm>
            <a:custGeom>
              <a:avLst/>
              <a:gdLst/>
              <a:ahLst/>
              <a:cxnLst/>
              <a:rect r="r" b="b" t="t" l="l"/>
              <a:pathLst>
                <a:path h="106936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90043"/>
                  </a:lnTo>
                  <a:cubicBezTo>
                    <a:pt x="21979382" y="99441"/>
                    <a:pt x="21971763" y="106934"/>
                    <a:pt x="2196249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21962490" y="73152"/>
                  </a:lnTo>
                  <a:lnTo>
                    <a:pt x="21962490" y="90043"/>
                  </a:lnTo>
                  <a:lnTo>
                    <a:pt x="21945600" y="9004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3E8F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2011680"/>
            <a:ext cx="8229600" cy="731520"/>
            <a:chOff x="0" y="0"/>
            <a:chExt cx="10972800" cy="975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975360"/>
            </a:xfrm>
            <a:custGeom>
              <a:avLst/>
              <a:gdLst/>
              <a:ahLst/>
              <a:cxnLst/>
              <a:rect r="r" b="b" t="t" l="l"/>
              <a:pathLst>
                <a:path h="9753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09728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Table props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1703" y="2821943"/>
            <a:ext cx="8255003" cy="866651"/>
            <a:chOff x="0" y="0"/>
            <a:chExt cx="11006671" cy="11555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9728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0F4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06582" cy="1155448"/>
            </a:xfrm>
            <a:custGeom>
              <a:avLst/>
              <a:gdLst/>
              <a:ahLst/>
              <a:cxnLst/>
              <a:rect r="r" b="b" t="t" l="l"/>
              <a:pathLst>
                <a:path h="1155448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138555"/>
                  </a:lnTo>
                  <a:cubicBezTo>
                    <a:pt x="11006582" y="1147953"/>
                    <a:pt x="10998962" y="1155446"/>
                    <a:pt x="1098969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0989691" y="1121664"/>
                  </a:lnTo>
                  <a:lnTo>
                    <a:pt x="10989691" y="1138555"/>
                  </a:lnTo>
                  <a:lnTo>
                    <a:pt x="10972800" y="1138555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AEC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88720" y="2834640"/>
            <a:ext cx="2743200" cy="841248"/>
            <a:chOff x="0" y="0"/>
            <a:chExt cx="3657600" cy="11216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576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538" r="0" b="-1353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365760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0097A7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striped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23360" y="2834640"/>
            <a:ext cx="4937760" cy="841248"/>
            <a:chOff x="0" y="0"/>
            <a:chExt cx="6583680" cy="11216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583680" cy="1121664"/>
            </a:xfrm>
            <a:custGeom>
              <a:avLst/>
              <a:gdLst/>
              <a:ahLst/>
              <a:cxnLst/>
              <a:rect r="r" b="b" t="t" l="l"/>
              <a:pathLst>
                <a:path h="1121664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368" r="0" b="-6436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658368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Màu xen kẽ các hàng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01703" y="3791207"/>
            <a:ext cx="8255003" cy="866651"/>
            <a:chOff x="0" y="0"/>
            <a:chExt cx="11006671" cy="115553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09728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06582" cy="1155448"/>
            </a:xfrm>
            <a:custGeom>
              <a:avLst/>
              <a:gdLst/>
              <a:ahLst/>
              <a:cxnLst/>
              <a:rect r="r" b="b" t="t" l="l"/>
              <a:pathLst>
                <a:path h="1155448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138555"/>
                  </a:lnTo>
                  <a:cubicBezTo>
                    <a:pt x="11006582" y="1147953"/>
                    <a:pt x="10998962" y="1155446"/>
                    <a:pt x="1098969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0989691" y="1121664"/>
                  </a:lnTo>
                  <a:lnTo>
                    <a:pt x="10989691" y="1138555"/>
                  </a:lnTo>
                  <a:lnTo>
                    <a:pt x="10972800" y="1138555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AEC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88720" y="3803904"/>
            <a:ext cx="2743200" cy="841248"/>
            <a:chOff x="0" y="0"/>
            <a:chExt cx="3657600" cy="11216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576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538" r="0" b="-1353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365760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0097A7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bordered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023360" y="3803904"/>
            <a:ext cx="4937760" cy="841248"/>
            <a:chOff x="0" y="0"/>
            <a:chExt cx="6583680" cy="112166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583680" cy="1121664"/>
            </a:xfrm>
            <a:custGeom>
              <a:avLst/>
              <a:gdLst/>
              <a:ahLst/>
              <a:cxnLst/>
              <a:rect r="r" b="b" t="t" l="l"/>
              <a:pathLst>
                <a:path h="1121664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368" r="0" b="-6436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658368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Hiển thị viền tất cả ô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01703" y="4760471"/>
            <a:ext cx="8255003" cy="866651"/>
            <a:chOff x="0" y="0"/>
            <a:chExt cx="11006671" cy="115553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09728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0F4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006582" cy="1155448"/>
            </a:xfrm>
            <a:custGeom>
              <a:avLst/>
              <a:gdLst/>
              <a:ahLst/>
              <a:cxnLst/>
              <a:rect r="r" b="b" t="t" l="l"/>
              <a:pathLst>
                <a:path h="1155448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138555"/>
                  </a:lnTo>
                  <a:cubicBezTo>
                    <a:pt x="11006582" y="1147953"/>
                    <a:pt x="10998962" y="1155446"/>
                    <a:pt x="1098969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0989691" y="1121664"/>
                  </a:lnTo>
                  <a:lnTo>
                    <a:pt x="10989691" y="1138555"/>
                  </a:lnTo>
                  <a:lnTo>
                    <a:pt x="10972800" y="1138555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AEC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88720" y="4773168"/>
            <a:ext cx="2743200" cy="841248"/>
            <a:chOff x="0" y="0"/>
            <a:chExt cx="3657600" cy="112166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6576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538" r="0" b="-1353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365760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0097A7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hover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023360" y="4773168"/>
            <a:ext cx="4937760" cy="841248"/>
            <a:chOff x="0" y="0"/>
            <a:chExt cx="6583680" cy="112166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583680" cy="1121664"/>
            </a:xfrm>
            <a:custGeom>
              <a:avLst/>
              <a:gdLst/>
              <a:ahLst/>
              <a:cxnLst/>
              <a:rect r="r" b="b" t="t" l="l"/>
              <a:pathLst>
                <a:path h="1121664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368" r="0" b="-6436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658368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Highlight khi di chuột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01703" y="5729735"/>
            <a:ext cx="8255003" cy="866651"/>
            <a:chOff x="0" y="0"/>
            <a:chExt cx="11006671" cy="115553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09728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006582" cy="1155448"/>
            </a:xfrm>
            <a:custGeom>
              <a:avLst/>
              <a:gdLst/>
              <a:ahLst/>
              <a:cxnLst/>
              <a:rect r="r" b="b" t="t" l="l"/>
              <a:pathLst>
                <a:path h="1155448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138555"/>
                  </a:lnTo>
                  <a:cubicBezTo>
                    <a:pt x="11006582" y="1147953"/>
                    <a:pt x="10998962" y="1155446"/>
                    <a:pt x="1098969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0989691" y="1121664"/>
                  </a:lnTo>
                  <a:lnTo>
                    <a:pt x="10989691" y="1138555"/>
                  </a:lnTo>
                  <a:lnTo>
                    <a:pt x="10972800" y="1138555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AEC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88720" y="5742432"/>
            <a:ext cx="2743200" cy="841248"/>
            <a:chOff x="0" y="0"/>
            <a:chExt cx="3657600" cy="112166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6576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538" r="0" b="-1353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365760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0097A7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responsive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023360" y="5742432"/>
            <a:ext cx="4937760" cy="841248"/>
            <a:chOff x="0" y="0"/>
            <a:chExt cx="6583680" cy="112166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583680" cy="1121664"/>
            </a:xfrm>
            <a:custGeom>
              <a:avLst/>
              <a:gdLst/>
              <a:ahLst/>
              <a:cxnLst/>
              <a:rect r="r" b="b" t="t" l="l"/>
              <a:pathLst>
                <a:path h="1121664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368" r="0" b="-6436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658368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546E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Scroll ngang trên mobile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552937" y="2118360"/>
            <a:ext cx="7706363" cy="4380233"/>
            <a:chOff x="0" y="0"/>
            <a:chExt cx="10275151" cy="5840311"/>
          </a:xfrm>
        </p:grpSpPr>
        <p:grpSp>
          <p:nvGrpSpPr>
            <p:cNvPr name="Group 48" id="48"/>
            <p:cNvGrpSpPr/>
            <p:nvPr/>
          </p:nvGrpSpPr>
          <p:grpSpPr>
            <a:xfrm rot="0">
              <a:off x="0" y="0"/>
              <a:ext cx="10275151" cy="5840311"/>
              <a:chOff x="0" y="0"/>
              <a:chExt cx="10275151" cy="5840311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16891" y="15187"/>
                <a:ext cx="10241281" cy="5809857"/>
              </a:xfrm>
              <a:custGeom>
                <a:avLst/>
                <a:gdLst/>
                <a:ahLst/>
                <a:cxnLst/>
                <a:rect r="r" b="b" t="t" l="l"/>
                <a:pathLst>
                  <a:path h="5809857" w="10241281">
                    <a:moveTo>
                      <a:pt x="0" y="0"/>
                    </a:moveTo>
                    <a:lnTo>
                      <a:pt x="10241281" y="0"/>
                    </a:lnTo>
                    <a:lnTo>
                      <a:pt x="10241281" y="5809857"/>
                    </a:lnTo>
                    <a:lnTo>
                      <a:pt x="0" y="5809857"/>
                    </a:lnTo>
                    <a:close/>
                  </a:path>
                </a:pathLst>
              </a:custGeom>
              <a:solidFill>
                <a:srgbClr val="1E2A3A"/>
              </a:solidFill>
            </p:spPr>
          </p:sp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10275062" cy="5840231"/>
              </a:xfrm>
              <a:custGeom>
                <a:avLst/>
                <a:gdLst/>
                <a:ahLst/>
                <a:cxnLst/>
                <a:rect r="r" b="b" t="t" l="l"/>
                <a:pathLst>
                  <a:path h="5840231" w="10275062">
                    <a:moveTo>
                      <a:pt x="16891" y="0"/>
                    </a:moveTo>
                    <a:lnTo>
                      <a:pt x="10258172" y="0"/>
                    </a:lnTo>
                    <a:cubicBezTo>
                      <a:pt x="10267569" y="0"/>
                      <a:pt x="10275062" y="6851"/>
                      <a:pt x="10275062" y="15187"/>
                    </a:cubicBezTo>
                    <a:lnTo>
                      <a:pt x="10275062" y="5825044"/>
                    </a:lnTo>
                    <a:cubicBezTo>
                      <a:pt x="10275062" y="5833494"/>
                      <a:pt x="10267442" y="5840231"/>
                      <a:pt x="10258172" y="5840231"/>
                    </a:cubicBezTo>
                    <a:lnTo>
                      <a:pt x="16891" y="5840231"/>
                    </a:lnTo>
                    <a:cubicBezTo>
                      <a:pt x="7493" y="5840231"/>
                      <a:pt x="0" y="5833380"/>
                      <a:pt x="0" y="5825044"/>
                    </a:cubicBezTo>
                    <a:lnTo>
                      <a:pt x="0" y="15187"/>
                    </a:lnTo>
                    <a:cubicBezTo>
                      <a:pt x="0" y="6851"/>
                      <a:pt x="7620" y="0"/>
                      <a:pt x="16891" y="0"/>
                    </a:cubicBezTo>
                    <a:moveTo>
                      <a:pt x="16891" y="30488"/>
                    </a:moveTo>
                    <a:lnTo>
                      <a:pt x="16891" y="15187"/>
                    </a:lnTo>
                    <a:lnTo>
                      <a:pt x="33909" y="15187"/>
                    </a:lnTo>
                    <a:lnTo>
                      <a:pt x="33909" y="5825044"/>
                    </a:lnTo>
                    <a:lnTo>
                      <a:pt x="16891" y="5825044"/>
                    </a:lnTo>
                    <a:lnTo>
                      <a:pt x="16891" y="5809857"/>
                    </a:lnTo>
                    <a:lnTo>
                      <a:pt x="10258172" y="5809857"/>
                    </a:lnTo>
                    <a:lnTo>
                      <a:pt x="10258172" y="5825044"/>
                    </a:lnTo>
                    <a:lnTo>
                      <a:pt x="10241280" y="5825044"/>
                    </a:lnTo>
                    <a:lnTo>
                      <a:pt x="10241280" y="15187"/>
                    </a:lnTo>
                    <a:lnTo>
                      <a:pt x="10258172" y="15187"/>
                    </a:lnTo>
                    <a:lnTo>
                      <a:pt x="10258172" y="30488"/>
                    </a:lnTo>
                    <a:lnTo>
                      <a:pt x="16891" y="30488"/>
                    </a:lnTo>
                    <a:close/>
                  </a:path>
                </a:pathLst>
              </a:custGeom>
              <a:solidFill>
                <a:srgbClr val="1E2A3A"/>
              </a:solidFill>
            </p:spPr>
          </p:sp>
        </p:grpSp>
        <p:sp>
          <p:nvSpPr>
            <p:cNvPr name="TextBox 51" id="51"/>
            <p:cNvSpPr txBox="true"/>
            <p:nvPr/>
          </p:nvSpPr>
          <p:spPr>
            <a:xfrm rot="0">
              <a:off x="382689" y="91224"/>
              <a:ext cx="9631680" cy="5610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FF78"/>
                  </a:solidFill>
                  <a:latin typeface="Consolas"/>
                  <a:ea typeface="Consolas"/>
                  <a:cs typeface="Consolas"/>
                  <a:sym typeface="Consolas"/>
                </a:rPr>
                <a:t>&lt;Table responsive hover className="align-middle"&gt;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FF78"/>
                  </a:solidFill>
                  <a:latin typeface="Consolas"/>
                  <a:ea typeface="Consolas"/>
                  <a:cs typeface="Consolas"/>
                  <a:sym typeface="Consolas"/>
                </a:rPr>
                <a:t> &lt;thead className="bg-light"&gt;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FF78"/>
                  </a:solidFill>
                  <a:latin typeface="Consolas"/>
                  <a:ea typeface="Consolas"/>
                  <a:cs typeface="Consolas"/>
                  <a:sym typeface="Consolas"/>
                </a:rPr>
                <a:t> &lt;tr className="text-secondary small text-uppercase fw-bold"&gt;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FF78"/>
                  </a:solidFill>
                  <a:latin typeface="Consolas"/>
                  <a:ea typeface="Consolas"/>
                  <a:cs typeface="Consolas"/>
                  <a:sym typeface="Consolas"/>
                </a:rPr>
                <a:t> &lt;th className="py-3 border-0"&gt;STT&lt;/th&gt;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FF78"/>
                  </a:solidFill>
                  <a:latin typeface="Consolas"/>
                  <a:ea typeface="Consolas"/>
                  <a:cs typeface="Consolas"/>
                  <a:sym typeface="Consolas"/>
                </a:rPr>
                <a:t> &lt;th className="py-3 border-0"&gt;Tên sản phẩm&lt;/th&gt;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FF78"/>
                  </a:solidFill>
                  <a:latin typeface="Consolas"/>
                  <a:ea typeface="Consolas"/>
                  <a:cs typeface="Consolas"/>
                  <a:sym typeface="Consolas"/>
                </a:rPr>
                <a:t> &lt;th className="py-3 border-0"&gt;Danh mục&lt;/th&gt;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FF78"/>
                  </a:solidFill>
                  <a:latin typeface="Consolas"/>
                  <a:ea typeface="Consolas"/>
                  <a:cs typeface="Consolas"/>
                  <a:sym typeface="Consolas"/>
                </a:rPr>
                <a:t> &lt;th className="py-3 border-0"&gt;Đơn giá&lt;/th&gt;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FF78"/>
                  </a:solidFill>
                  <a:latin typeface="Consolas"/>
                  <a:ea typeface="Consolas"/>
                  <a:cs typeface="Consolas"/>
                  <a:sym typeface="Consolas"/>
                </a:rPr>
                <a:t> &lt;th className="py-3 border-0"&gt;Kho&lt;/th&gt;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FF78"/>
                  </a:solidFill>
                  <a:latin typeface="Consolas"/>
                  <a:ea typeface="Consolas"/>
                  <a:cs typeface="Consolas"/>
                  <a:sym typeface="Consolas"/>
                </a:rPr>
                <a:t> &lt;th className="py-3 border-0"&gt;Trạng thái&lt;/th&gt;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FF78"/>
                  </a:solidFill>
                  <a:latin typeface="Consolas"/>
                  <a:ea typeface="Consolas"/>
                  <a:cs typeface="Consolas"/>
                  <a:sym typeface="Consolas"/>
                </a:rPr>
                <a:t> &lt;th className="py-3 border-0"&gt;Thao tác&lt;/th&gt;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FF78"/>
                  </a:solidFill>
                  <a:latin typeface="Consolas"/>
                  <a:ea typeface="Consolas"/>
                  <a:cs typeface="Consolas"/>
                  <a:sym typeface="Consolas"/>
                </a:rPr>
                <a:t> &lt;/tr&gt;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FF78"/>
                  </a:solidFill>
                  <a:latin typeface="Consolas"/>
                  <a:ea typeface="Consolas"/>
                  <a:cs typeface="Consolas"/>
                  <a:sym typeface="Consolas"/>
                </a:rPr>
                <a:t> &lt;/thead&gt;</a:t>
              </a:r>
            </a:p>
            <a:p>
              <a:pPr algn="l">
                <a:lnSpc>
                  <a:spcPts val="2400"/>
                </a:lnSpc>
              </a:pP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0">
            <a:off x="478104" y="193666"/>
            <a:ext cx="2436829" cy="1359547"/>
          </a:xfrm>
          <a:custGeom>
            <a:avLst/>
            <a:gdLst/>
            <a:ahLst/>
            <a:cxnLst/>
            <a:rect r="r" b="b" t="t" l="l"/>
            <a:pathLst>
              <a:path h="1359547" w="2436829">
                <a:moveTo>
                  <a:pt x="0" y="0"/>
                </a:moveTo>
                <a:lnTo>
                  <a:pt x="2436829" y="0"/>
                </a:lnTo>
                <a:lnTo>
                  <a:pt x="2436829" y="1359547"/>
                </a:lnTo>
                <a:lnTo>
                  <a:pt x="0" y="13595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1076468" y="6805936"/>
            <a:ext cx="16135064" cy="3065662"/>
          </a:xfrm>
          <a:custGeom>
            <a:avLst/>
            <a:gdLst/>
            <a:ahLst/>
            <a:cxnLst/>
            <a:rect r="r" b="b" t="t" l="l"/>
            <a:pathLst>
              <a:path h="3065662" w="16135064">
                <a:moveTo>
                  <a:pt x="0" y="0"/>
                </a:moveTo>
                <a:lnTo>
                  <a:pt x="16135064" y="0"/>
                </a:lnTo>
                <a:lnTo>
                  <a:pt x="16135064" y="3065662"/>
                </a:lnTo>
                <a:lnTo>
                  <a:pt x="0" y="30656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123801"/>
            <a:chOff x="0" y="0"/>
            <a:chExt cx="21945600" cy="1498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98402"/>
            </a:xfrm>
            <a:custGeom>
              <a:avLst/>
              <a:gdLst/>
              <a:ahLst/>
              <a:cxnLst/>
              <a:rect r="r" b="b" t="t" l="l"/>
              <a:pathLst>
                <a:path h="149840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6557" r="0" b="-2341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94560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 Component: Form 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724663"/>
            <a:ext cx="16484603" cy="80267"/>
            <a:chOff x="0" y="0"/>
            <a:chExt cx="21979471" cy="1070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1945599" cy="73152"/>
            </a:xfrm>
            <a:custGeom>
              <a:avLst/>
              <a:gdLst/>
              <a:ahLst/>
              <a:cxnLst/>
              <a:rect r="r" b="b" t="t" l="l"/>
              <a:pathLst>
                <a:path h="73152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E3E8F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79382" cy="106936"/>
            </a:xfrm>
            <a:custGeom>
              <a:avLst/>
              <a:gdLst/>
              <a:ahLst/>
              <a:cxnLst/>
              <a:rect r="r" b="b" t="t" l="l"/>
              <a:pathLst>
                <a:path h="106936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90043"/>
                  </a:lnTo>
                  <a:cubicBezTo>
                    <a:pt x="21979382" y="99441"/>
                    <a:pt x="21971763" y="106934"/>
                    <a:pt x="2196249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21962490" y="73152"/>
                  </a:lnTo>
                  <a:lnTo>
                    <a:pt x="21962490" y="90043"/>
                  </a:lnTo>
                  <a:lnTo>
                    <a:pt x="21945600" y="9004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3E8F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1980557"/>
            <a:ext cx="8255003" cy="4553636"/>
            <a:chOff x="0" y="0"/>
            <a:chExt cx="11006671" cy="607151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1006671" cy="2565734"/>
              <a:chOff x="0" y="0"/>
              <a:chExt cx="11006671" cy="256573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16891" y="37505"/>
                <a:ext cx="10972800" cy="2490527"/>
              </a:xfrm>
              <a:custGeom>
                <a:avLst/>
                <a:gdLst/>
                <a:ahLst/>
                <a:cxnLst/>
                <a:rect r="r" b="b" t="t" l="l"/>
                <a:pathLst>
                  <a:path h="2490527" w="10972800">
                    <a:moveTo>
                      <a:pt x="0" y="0"/>
                    </a:moveTo>
                    <a:lnTo>
                      <a:pt x="10972800" y="0"/>
                    </a:lnTo>
                    <a:lnTo>
                      <a:pt x="10972800" y="2490527"/>
                    </a:lnTo>
                    <a:lnTo>
                      <a:pt x="0" y="2490527"/>
                    </a:lnTo>
                    <a:close/>
                  </a:path>
                </a:pathLst>
              </a:custGeom>
              <a:solidFill>
                <a:srgbClr val="F0F4FF"/>
              </a:solidFill>
            </p:spPr>
          </p:sp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1006582" cy="2565539"/>
              </a:xfrm>
              <a:custGeom>
                <a:avLst/>
                <a:gdLst/>
                <a:ahLst/>
                <a:cxnLst/>
                <a:rect r="r" b="b" t="t" l="l"/>
                <a:pathLst>
                  <a:path h="2565539" w="11006582">
                    <a:moveTo>
                      <a:pt x="16891" y="0"/>
                    </a:moveTo>
                    <a:lnTo>
                      <a:pt x="10989691" y="0"/>
                    </a:lnTo>
                    <a:cubicBezTo>
                      <a:pt x="10999089" y="0"/>
                      <a:pt x="11006582" y="16919"/>
                      <a:pt x="11006582" y="37505"/>
                    </a:cubicBezTo>
                    <a:lnTo>
                      <a:pt x="11006582" y="2528032"/>
                    </a:lnTo>
                    <a:cubicBezTo>
                      <a:pt x="11006582" y="2548899"/>
                      <a:pt x="10998962" y="2565536"/>
                      <a:pt x="10989691" y="2565536"/>
                    </a:cubicBezTo>
                    <a:lnTo>
                      <a:pt x="16891" y="2565536"/>
                    </a:lnTo>
                    <a:cubicBezTo>
                      <a:pt x="7620" y="2565772"/>
                      <a:pt x="0" y="2548899"/>
                      <a:pt x="0" y="2528032"/>
                    </a:cubicBezTo>
                    <a:lnTo>
                      <a:pt x="0" y="37505"/>
                    </a:lnTo>
                    <a:cubicBezTo>
                      <a:pt x="0" y="16919"/>
                      <a:pt x="7620" y="0"/>
                      <a:pt x="16891" y="0"/>
                    </a:cubicBezTo>
                    <a:moveTo>
                      <a:pt x="16891" y="75291"/>
                    </a:moveTo>
                    <a:lnTo>
                      <a:pt x="16891" y="37505"/>
                    </a:lnTo>
                    <a:lnTo>
                      <a:pt x="33909" y="37505"/>
                    </a:lnTo>
                    <a:lnTo>
                      <a:pt x="33909" y="2528032"/>
                    </a:lnTo>
                    <a:lnTo>
                      <a:pt x="16891" y="2528032"/>
                    </a:lnTo>
                    <a:lnTo>
                      <a:pt x="16891" y="2490527"/>
                    </a:lnTo>
                    <a:lnTo>
                      <a:pt x="10989691" y="2490527"/>
                    </a:lnTo>
                    <a:lnTo>
                      <a:pt x="10989691" y="2528032"/>
                    </a:lnTo>
                    <a:lnTo>
                      <a:pt x="10972800" y="2528032"/>
                    </a:lnTo>
                    <a:lnTo>
                      <a:pt x="10972800" y="37505"/>
                    </a:lnTo>
                    <a:lnTo>
                      <a:pt x="10989691" y="37505"/>
                    </a:lnTo>
                    <a:lnTo>
                      <a:pt x="10989691" y="75291"/>
                    </a:lnTo>
                    <a:lnTo>
                      <a:pt x="16891" y="75291"/>
                    </a:lnTo>
                    <a:close/>
                  </a:path>
                </a:pathLst>
              </a:custGeom>
              <a:solidFill>
                <a:srgbClr val="D0DAEC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382689" y="27481"/>
              <a:ext cx="3657600" cy="1820793"/>
              <a:chOff x="0" y="0"/>
              <a:chExt cx="3657600" cy="1820793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3657600" cy="1820793"/>
              </a:xfrm>
              <a:custGeom>
                <a:avLst/>
                <a:gdLst/>
                <a:ahLst/>
                <a:cxnLst/>
                <a:rect r="r" b="b" t="t" l="l"/>
                <a:pathLst>
                  <a:path h="1820793" w="3657600">
                    <a:moveTo>
                      <a:pt x="0" y="0"/>
                    </a:moveTo>
                    <a:lnTo>
                      <a:pt x="3657600" y="0"/>
                    </a:lnTo>
                    <a:lnTo>
                      <a:pt x="3657600" y="1820793"/>
                    </a:lnTo>
                    <a:lnTo>
                      <a:pt x="0" y="1820793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8339" r="0" b="30057"/>
                </a:stretch>
              </a:blip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3657600" cy="186841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60"/>
                  </a:lnSpc>
                </a:pPr>
                <a:r>
                  <a:rPr lang="en-US" sz="2300" b="true">
                    <a:solidFill>
                      <a:srgbClr val="0097A7"/>
                    </a:solidFill>
                    <a:latin typeface="Consolas Bold"/>
                    <a:ea typeface="Consolas Bold"/>
                    <a:cs typeface="Consolas Bold"/>
                    <a:sym typeface="Consolas Bold"/>
                  </a:rPr>
                  <a:t>Khái niệm</a:t>
                </a: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4162209" y="27481"/>
              <a:ext cx="6583680" cy="2125351"/>
              <a:chOff x="0" y="0"/>
              <a:chExt cx="6583680" cy="212535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583680" cy="2125351"/>
              </a:xfrm>
              <a:custGeom>
                <a:avLst/>
                <a:gdLst/>
                <a:ahLst/>
                <a:cxnLst/>
                <a:rect r="r" b="b" t="t" l="l"/>
                <a:pathLst>
                  <a:path h="2125351" w="6583680">
                    <a:moveTo>
                      <a:pt x="0" y="0"/>
                    </a:moveTo>
                    <a:lnTo>
                      <a:pt x="6583680" y="0"/>
                    </a:lnTo>
                    <a:lnTo>
                      <a:pt x="6583680" y="2125351"/>
                    </a:lnTo>
                    <a:lnTo>
                      <a:pt x="0" y="212535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3970" r="0" b="13253"/>
                </a:stretch>
              </a:blip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6583680" cy="217297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60"/>
                  </a:lnSpc>
                </a:pPr>
                <a:r>
                  <a:rPr lang="en-US" sz="2300">
                    <a:solidFill>
                      <a:srgbClr val="546E7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Form</a:t>
                </a:r>
                <a:r>
                  <a:rPr lang="en-US" sz="2300">
                    <a:solidFill>
                      <a:srgbClr val="546E7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 dùng để xây dựng giao diện nhập liệu. Hỗ trợ nhập dữ liệu nhanh và đồng bộ với Bootstrap. Có thể kết hợp validation và Grid Layout</a:t>
                </a: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2097870"/>
              <a:ext cx="11006671" cy="3283753"/>
              <a:chOff x="0" y="0"/>
              <a:chExt cx="11006671" cy="328375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16891" y="48000"/>
                <a:ext cx="10972800" cy="3187500"/>
              </a:xfrm>
              <a:custGeom>
                <a:avLst/>
                <a:gdLst/>
                <a:ahLst/>
                <a:cxnLst/>
                <a:rect r="r" b="b" t="t" l="l"/>
                <a:pathLst>
                  <a:path h="3187500" w="10972800">
                    <a:moveTo>
                      <a:pt x="0" y="0"/>
                    </a:moveTo>
                    <a:lnTo>
                      <a:pt x="10972800" y="0"/>
                    </a:lnTo>
                    <a:lnTo>
                      <a:pt x="10972800" y="3187501"/>
                    </a:lnTo>
                    <a:lnTo>
                      <a:pt x="0" y="318750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1006582" cy="3283504"/>
              </a:xfrm>
              <a:custGeom>
                <a:avLst/>
                <a:gdLst/>
                <a:ahLst/>
                <a:cxnLst/>
                <a:rect r="r" b="b" t="t" l="l"/>
                <a:pathLst>
                  <a:path h="3283504" w="11006582">
                    <a:moveTo>
                      <a:pt x="16891" y="0"/>
                    </a:moveTo>
                    <a:lnTo>
                      <a:pt x="10989691" y="0"/>
                    </a:lnTo>
                    <a:cubicBezTo>
                      <a:pt x="10999089" y="0"/>
                      <a:pt x="11006582" y="21654"/>
                      <a:pt x="11006582" y="48000"/>
                    </a:cubicBezTo>
                    <a:lnTo>
                      <a:pt x="11006582" y="3235501"/>
                    </a:lnTo>
                    <a:cubicBezTo>
                      <a:pt x="11006582" y="3262207"/>
                      <a:pt x="10998962" y="3283501"/>
                      <a:pt x="10989691" y="3283501"/>
                    </a:cubicBezTo>
                    <a:lnTo>
                      <a:pt x="16891" y="3283501"/>
                    </a:lnTo>
                    <a:cubicBezTo>
                      <a:pt x="7620" y="3283791"/>
                      <a:pt x="0" y="3262207"/>
                      <a:pt x="0" y="3235501"/>
                    </a:cubicBezTo>
                    <a:lnTo>
                      <a:pt x="0" y="48000"/>
                    </a:lnTo>
                    <a:cubicBezTo>
                      <a:pt x="0" y="21654"/>
                      <a:pt x="7620" y="0"/>
                      <a:pt x="16891" y="0"/>
                    </a:cubicBezTo>
                    <a:moveTo>
                      <a:pt x="16891" y="96361"/>
                    </a:moveTo>
                    <a:lnTo>
                      <a:pt x="16891" y="48000"/>
                    </a:lnTo>
                    <a:lnTo>
                      <a:pt x="33909" y="48000"/>
                    </a:lnTo>
                    <a:lnTo>
                      <a:pt x="33909" y="3235501"/>
                    </a:lnTo>
                    <a:lnTo>
                      <a:pt x="16891" y="3235501"/>
                    </a:lnTo>
                    <a:lnTo>
                      <a:pt x="16891" y="3187500"/>
                    </a:lnTo>
                    <a:lnTo>
                      <a:pt x="10989691" y="3187500"/>
                    </a:lnTo>
                    <a:lnTo>
                      <a:pt x="10989691" y="3235501"/>
                    </a:lnTo>
                    <a:lnTo>
                      <a:pt x="10972800" y="3235501"/>
                    </a:lnTo>
                    <a:lnTo>
                      <a:pt x="10972800" y="48000"/>
                    </a:lnTo>
                    <a:lnTo>
                      <a:pt x="10989691" y="48000"/>
                    </a:lnTo>
                    <a:lnTo>
                      <a:pt x="10989691" y="96361"/>
                    </a:lnTo>
                    <a:lnTo>
                      <a:pt x="16891" y="96361"/>
                    </a:lnTo>
                    <a:close/>
                  </a:path>
                </a:pathLst>
              </a:custGeom>
              <a:solidFill>
                <a:srgbClr val="D0DAEC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382689" y="2125351"/>
              <a:ext cx="3657600" cy="1820793"/>
              <a:chOff x="0" y="0"/>
              <a:chExt cx="3657600" cy="182079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3657600" cy="1820793"/>
              </a:xfrm>
              <a:custGeom>
                <a:avLst/>
                <a:gdLst/>
                <a:ahLst/>
                <a:cxnLst/>
                <a:rect r="r" b="b" t="t" l="l"/>
                <a:pathLst>
                  <a:path h="1820793" w="3657600">
                    <a:moveTo>
                      <a:pt x="0" y="0"/>
                    </a:moveTo>
                    <a:lnTo>
                      <a:pt x="3657600" y="0"/>
                    </a:lnTo>
                    <a:lnTo>
                      <a:pt x="3657600" y="1820793"/>
                    </a:lnTo>
                    <a:lnTo>
                      <a:pt x="0" y="1820793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8339" r="0" b="30057"/>
                </a:stretch>
              </a:blip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47625"/>
                <a:ext cx="3657600" cy="186841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60"/>
                  </a:lnSpc>
                </a:pPr>
                <a:r>
                  <a:rPr lang="en-US" sz="2300" b="true">
                    <a:solidFill>
                      <a:srgbClr val="0097A7"/>
                    </a:solidFill>
                    <a:latin typeface="Consolas Bold"/>
                    <a:ea typeface="Consolas Bold"/>
                    <a:cs typeface="Consolas Bold"/>
                    <a:sym typeface="Consolas Bold"/>
                  </a:rPr>
                  <a:t>Components</a:t>
                </a: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4162209" y="2152832"/>
              <a:ext cx="6583680" cy="2070389"/>
              <a:chOff x="0" y="0"/>
              <a:chExt cx="6583680" cy="2070389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583680" cy="2070389"/>
              </a:xfrm>
              <a:custGeom>
                <a:avLst/>
                <a:gdLst/>
                <a:ahLst/>
                <a:cxnLst/>
                <a:rect r="r" b="b" t="t" l="l"/>
                <a:pathLst>
                  <a:path h="2070389" w="6583680">
                    <a:moveTo>
                      <a:pt x="0" y="0"/>
                    </a:moveTo>
                    <a:lnTo>
                      <a:pt x="6583680" y="0"/>
                    </a:lnTo>
                    <a:lnTo>
                      <a:pt x="6583680" y="2070389"/>
                    </a:lnTo>
                    <a:lnTo>
                      <a:pt x="0" y="2070389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4872" r="0" b="10950"/>
                </a:stretch>
              </a:blip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47625"/>
                <a:ext cx="6583680" cy="211801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60"/>
                  </a:lnSpc>
                </a:pPr>
                <a:r>
                  <a:rPr lang="en-US" sz="2300">
                    <a:solidFill>
                      <a:srgbClr val="546E7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For</a:t>
                </a:r>
                <a:r>
                  <a:rPr lang="en-US" sz="2300">
                    <a:solidFill>
                      <a:srgbClr val="546E7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</a:t>
                </a:r>
              </a:p>
              <a:p>
                <a:pPr algn="l">
                  <a:lnSpc>
                    <a:spcPts val="2760"/>
                  </a:lnSpc>
                </a:pPr>
                <a:r>
                  <a:rPr lang="en-US" sz="2300">
                    <a:solidFill>
                      <a:srgbClr val="546E7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Form.Group</a:t>
                </a:r>
              </a:p>
              <a:p>
                <a:pPr algn="l">
                  <a:lnSpc>
                    <a:spcPts val="2760"/>
                  </a:lnSpc>
                </a:pPr>
                <a:r>
                  <a:rPr lang="en-US" sz="2300">
                    <a:solidFill>
                      <a:srgbClr val="546E7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Form.Label</a:t>
                </a:r>
              </a:p>
              <a:p>
                <a:pPr algn="l">
                  <a:lnSpc>
                    <a:spcPts val="2760"/>
                  </a:lnSpc>
                </a:pPr>
                <a:r>
                  <a:rPr lang="en-US" sz="2300">
                    <a:solidFill>
                      <a:srgbClr val="546E7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Form.Control</a:t>
                </a: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0" y="4195740"/>
              <a:ext cx="11006671" cy="1875775"/>
              <a:chOff x="0" y="0"/>
              <a:chExt cx="11006671" cy="1875775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16891" y="27419"/>
                <a:ext cx="10972800" cy="1820793"/>
              </a:xfrm>
              <a:custGeom>
                <a:avLst/>
                <a:gdLst/>
                <a:ahLst/>
                <a:cxnLst/>
                <a:rect r="r" b="b" t="t" l="l"/>
                <a:pathLst>
                  <a:path h="1820793" w="10972800">
                    <a:moveTo>
                      <a:pt x="0" y="0"/>
                    </a:moveTo>
                    <a:lnTo>
                      <a:pt x="10972800" y="0"/>
                    </a:lnTo>
                    <a:lnTo>
                      <a:pt x="10972800" y="1820793"/>
                    </a:lnTo>
                    <a:lnTo>
                      <a:pt x="0" y="1820793"/>
                    </a:lnTo>
                    <a:close/>
                  </a:path>
                </a:pathLst>
              </a:custGeom>
              <a:solidFill>
                <a:srgbClr val="F0F4FF"/>
              </a:solidFill>
            </p:spPr>
          </p:sp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1006582" cy="1875633"/>
              </a:xfrm>
              <a:custGeom>
                <a:avLst/>
                <a:gdLst/>
                <a:ahLst/>
                <a:cxnLst/>
                <a:rect r="r" b="b" t="t" l="l"/>
                <a:pathLst>
                  <a:path h="1875633" w="11006582">
                    <a:moveTo>
                      <a:pt x="16891" y="0"/>
                    </a:moveTo>
                    <a:lnTo>
                      <a:pt x="10989691" y="0"/>
                    </a:lnTo>
                    <a:cubicBezTo>
                      <a:pt x="10999089" y="0"/>
                      <a:pt x="11006582" y="12370"/>
                      <a:pt x="11006582" y="27419"/>
                    </a:cubicBezTo>
                    <a:lnTo>
                      <a:pt x="11006582" y="1848212"/>
                    </a:lnTo>
                    <a:cubicBezTo>
                      <a:pt x="11006582" y="1863468"/>
                      <a:pt x="10998962" y="1875631"/>
                      <a:pt x="10989691" y="1875631"/>
                    </a:cubicBezTo>
                    <a:lnTo>
                      <a:pt x="16891" y="1875631"/>
                    </a:lnTo>
                    <a:cubicBezTo>
                      <a:pt x="7620" y="1875813"/>
                      <a:pt x="0" y="1863468"/>
                      <a:pt x="0" y="1848212"/>
                    </a:cubicBezTo>
                    <a:lnTo>
                      <a:pt x="0" y="27419"/>
                    </a:lnTo>
                    <a:cubicBezTo>
                      <a:pt x="0" y="12370"/>
                      <a:pt x="7620" y="0"/>
                      <a:pt x="16891" y="0"/>
                    </a:cubicBezTo>
                    <a:moveTo>
                      <a:pt x="16891" y="55044"/>
                    </a:moveTo>
                    <a:lnTo>
                      <a:pt x="16891" y="27419"/>
                    </a:lnTo>
                    <a:lnTo>
                      <a:pt x="33909" y="27419"/>
                    </a:lnTo>
                    <a:lnTo>
                      <a:pt x="33909" y="1848212"/>
                    </a:lnTo>
                    <a:lnTo>
                      <a:pt x="16891" y="1848212"/>
                    </a:lnTo>
                    <a:lnTo>
                      <a:pt x="16891" y="1820793"/>
                    </a:lnTo>
                    <a:lnTo>
                      <a:pt x="10989691" y="1820793"/>
                    </a:lnTo>
                    <a:lnTo>
                      <a:pt x="10989691" y="1848212"/>
                    </a:lnTo>
                    <a:lnTo>
                      <a:pt x="10972800" y="1848212"/>
                    </a:lnTo>
                    <a:lnTo>
                      <a:pt x="10972800" y="27419"/>
                    </a:lnTo>
                    <a:lnTo>
                      <a:pt x="10989691" y="27419"/>
                    </a:lnTo>
                    <a:lnTo>
                      <a:pt x="10989691" y="55044"/>
                    </a:lnTo>
                    <a:lnTo>
                      <a:pt x="16891" y="55044"/>
                    </a:lnTo>
                    <a:close/>
                  </a:path>
                </a:pathLst>
              </a:custGeom>
              <a:solidFill>
                <a:srgbClr val="D0DAEC"/>
              </a:solidFill>
            </p:spPr>
          </p:sp>
        </p:grpSp>
        <p:grpSp>
          <p:nvGrpSpPr>
            <p:cNvPr name="Group 30" id="30"/>
            <p:cNvGrpSpPr/>
            <p:nvPr/>
          </p:nvGrpSpPr>
          <p:grpSpPr>
            <a:xfrm rot="0">
              <a:off x="382689" y="4223221"/>
              <a:ext cx="3657600" cy="1820793"/>
              <a:chOff x="0" y="0"/>
              <a:chExt cx="3657600" cy="1820793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3657600" cy="1820793"/>
              </a:xfrm>
              <a:custGeom>
                <a:avLst/>
                <a:gdLst/>
                <a:ahLst/>
                <a:cxnLst/>
                <a:rect r="r" b="b" t="t" l="l"/>
                <a:pathLst>
                  <a:path h="1820793" w="3657600">
                    <a:moveTo>
                      <a:pt x="0" y="0"/>
                    </a:moveTo>
                    <a:lnTo>
                      <a:pt x="3657600" y="0"/>
                    </a:lnTo>
                    <a:lnTo>
                      <a:pt x="3657600" y="1820793"/>
                    </a:lnTo>
                    <a:lnTo>
                      <a:pt x="0" y="1820793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8339" r="0" b="30057"/>
                </a:stretch>
              </a:blip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47625"/>
                <a:ext cx="3657600" cy="186841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60"/>
                  </a:lnSpc>
                </a:pPr>
                <a:r>
                  <a:rPr lang="en-US" sz="2300" b="true">
                    <a:solidFill>
                      <a:srgbClr val="0097A7"/>
                    </a:solidFill>
                    <a:latin typeface="Consolas Bold"/>
                    <a:ea typeface="Consolas Bold"/>
                    <a:cs typeface="Consolas Bold"/>
                    <a:sym typeface="Consolas Bold"/>
                  </a:rPr>
                  <a:t>Chức năng trong mini app</a:t>
                </a: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4162209" y="4223221"/>
              <a:ext cx="6583680" cy="1820793"/>
              <a:chOff x="0" y="0"/>
              <a:chExt cx="6583680" cy="1820793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6583680" cy="1820793"/>
              </a:xfrm>
              <a:custGeom>
                <a:avLst/>
                <a:gdLst/>
                <a:ahLst/>
                <a:cxnLst/>
                <a:rect r="r" b="b" t="t" l="l"/>
                <a:pathLst>
                  <a:path h="1820793" w="6583680">
                    <a:moveTo>
                      <a:pt x="0" y="0"/>
                    </a:moveTo>
                    <a:lnTo>
                      <a:pt x="6583680" y="0"/>
                    </a:lnTo>
                    <a:lnTo>
                      <a:pt x="6583680" y="1820793"/>
                    </a:lnTo>
                    <a:lnTo>
                      <a:pt x="0" y="1820793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9653" r="0" b="-1256"/>
                </a:stretch>
              </a:blip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47625"/>
                <a:ext cx="6583680" cy="186841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60"/>
                  </a:lnSpc>
                </a:pPr>
                <a:r>
                  <a:rPr lang="en-US" sz="2300">
                    <a:solidFill>
                      <a:srgbClr val="546E7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Thêm sản</a:t>
                </a:r>
                <a:r>
                  <a:rPr lang="en-US" sz="2300">
                    <a:solidFill>
                      <a:srgbClr val="546E7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 phẩm mới, Chỉnh sửa sản phẩm, Validate dữ liệu trước khi lưu</a:t>
                </a:r>
              </a:p>
            </p:txBody>
          </p:sp>
        </p:grpSp>
      </p:grpSp>
      <p:grpSp>
        <p:nvGrpSpPr>
          <p:cNvPr name="Group 36" id="36"/>
          <p:cNvGrpSpPr/>
          <p:nvPr/>
        </p:nvGrpSpPr>
        <p:grpSpPr>
          <a:xfrm rot="0">
            <a:off x="9589706" y="2820658"/>
            <a:ext cx="7796600" cy="3585116"/>
            <a:chOff x="0" y="0"/>
            <a:chExt cx="10395467" cy="4780154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10395467" cy="4780154"/>
              <a:chOff x="0" y="0"/>
              <a:chExt cx="10395467" cy="4780154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14959" y="9423"/>
                <a:ext cx="10365471" cy="4761258"/>
              </a:xfrm>
              <a:custGeom>
                <a:avLst/>
                <a:gdLst/>
                <a:ahLst/>
                <a:cxnLst/>
                <a:rect r="r" b="b" t="t" l="l"/>
                <a:pathLst>
                  <a:path h="4761258" w="10365471">
                    <a:moveTo>
                      <a:pt x="0" y="0"/>
                    </a:moveTo>
                    <a:lnTo>
                      <a:pt x="10365471" y="0"/>
                    </a:lnTo>
                    <a:lnTo>
                      <a:pt x="10365471" y="4761259"/>
                    </a:lnTo>
                    <a:lnTo>
                      <a:pt x="0" y="4761259"/>
                    </a:lnTo>
                    <a:close/>
                  </a:path>
                </a:pathLst>
              </a:custGeom>
              <a:solidFill>
                <a:srgbClr val="1E2A3A"/>
              </a:solidFill>
            </p:spPr>
          </p:sp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0395388" cy="4780105"/>
              </a:xfrm>
              <a:custGeom>
                <a:avLst/>
                <a:gdLst/>
                <a:ahLst/>
                <a:cxnLst/>
                <a:rect r="r" b="b" t="t" l="l"/>
                <a:pathLst>
                  <a:path h="4780105" w="10395388">
                    <a:moveTo>
                      <a:pt x="14959" y="0"/>
                    </a:moveTo>
                    <a:lnTo>
                      <a:pt x="10380430" y="0"/>
                    </a:lnTo>
                    <a:cubicBezTo>
                      <a:pt x="10388753" y="0"/>
                      <a:pt x="10395388" y="4251"/>
                      <a:pt x="10395388" y="9423"/>
                    </a:cubicBezTo>
                    <a:lnTo>
                      <a:pt x="10395388" y="4770682"/>
                    </a:lnTo>
                    <a:cubicBezTo>
                      <a:pt x="10395388" y="4775925"/>
                      <a:pt x="10388640" y="4780105"/>
                      <a:pt x="10380430" y="4780105"/>
                    </a:cubicBezTo>
                    <a:lnTo>
                      <a:pt x="14959" y="4780105"/>
                    </a:lnTo>
                    <a:cubicBezTo>
                      <a:pt x="6636" y="4780105"/>
                      <a:pt x="0" y="4775854"/>
                      <a:pt x="0" y="4770682"/>
                    </a:cubicBezTo>
                    <a:lnTo>
                      <a:pt x="0" y="9423"/>
                    </a:lnTo>
                    <a:cubicBezTo>
                      <a:pt x="0" y="4251"/>
                      <a:pt x="6748" y="0"/>
                      <a:pt x="14959" y="0"/>
                    </a:cubicBezTo>
                    <a:moveTo>
                      <a:pt x="14959" y="18917"/>
                    </a:moveTo>
                    <a:lnTo>
                      <a:pt x="14959" y="9423"/>
                    </a:lnTo>
                    <a:lnTo>
                      <a:pt x="30030" y="9423"/>
                    </a:lnTo>
                    <a:lnTo>
                      <a:pt x="30030" y="4770682"/>
                    </a:lnTo>
                    <a:lnTo>
                      <a:pt x="14959" y="4770682"/>
                    </a:lnTo>
                    <a:lnTo>
                      <a:pt x="14959" y="4761258"/>
                    </a:lnTo>
                    <a:lnTo>
                      <a:pt x="10380430" y="4761258"/>
                    </a:lnTo>
                    <a:lnTo>
                      <a:pt x="10380430" y="4770682"/>
                    </a:lnTo>
                    <a:lnTo>
                      <a:pt x="10365470" y="4770682"/>
                    </a:lnTo>
                    <a:lnTo>
                      <a:pt x="10365470" y="9423"/>
                    </a:lnTo>
                    <a:lnTo>
                      <a:pt x="10380430" y="9423"/>
                    </a:lnTo>
                    <a:lnTo>
                      <a:pt x="10380430" y="18917"/>
                    </a:lnTo>
                    <a:lnTo>
                      <a:pt x="14959" y="18917"/>
                    </a:lnTo>
                    <a:close/>
                  </a:path>
                </a:pathLst>
              </a:custGeom>
              <a:solidFill>
                <a:srgbClr val="1E2A3A"/>
              </a:solidFill>
            </p:spPr>
          </p:sp>
        </p:grpSp>
        <p:sp>
          <p:nvSpPr>
            <p:cNvPr name="TextBox 40" id="40"/>
            <p:cNvSpPr txBox="true"/>
            <p:nvPr/>
          </p:nvSpPr>
          <p:spPr>
            <a:xfrm rot="0">
              <a:off x="284932" y="456502"/>
              <a:ext cx="9825603" cy="3819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A8FF78"/>
                  </a:solidFill>
                  <a:latin typeface="Consolas"/>
                  <a:ea typeface="Consolas"/>
                  <a:cs typeface="Consolas"/>
                  <a:sym typeface="Consolas"/>
                </a:rPr>
                <a:t>&lt;Form.Group className="mb-3"&gt;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A8FF78"/>
                  </a:solidFill>
                  <a:latin typeface="Consolas"/>
                  <a:ea typeface="Consolas"/>
                  <a:cs typeface="Consolas"/>
                  <a:sym typeface="Consolas"/>
                </a:rPr>
                <a:t>  &lt;Form.Label&gt;Tên sản phẩm&lt;/Form.Label&gt;</a:t>
              </a:r>
            </a:p>
            <a:p>
              <a:pPr algn="l">
                <a:lnSpc>
                  <a:spcPts val="2520"/>
                </a:lnSpc>
              </a:pP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A8FF78"/>
                  </a:solidFill>
                  <a:latin typeface="Consolas"/>
                  <a:ea typeface="Consolas"/>
                  <a:cs typeface="Consolas"/>
                  <a:sym typeface="Consolas"/>
                </a:rPr>
                <a:t>  &lt;Form.Control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A8FF78"/>
                  </a:solidFill>
                  <a:latin typeface="Consolas"/>
                  <a:ea typeface="Consolas"/>
                  <a:cs typeface="Consolas"/>
                  <a:sym typeface="Consolas"/>
                </a:rPr>
                <a:t>    type="text"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A8FF78"/>
                  </a:solidFill>
                  <a:latin typeface="Consolas"/>
                  <a:ea typeface="Consolas"/>
                  <a:cs typeface="Consolas"/>
                  <a:sym typeface="Consolas"/>
                </a:rPr>
                <a:t>    placeholder="Nhập tên sản phẩm"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A8FF78"/>
                  </a:solidFill>
                  <a:latin typeface="Consolas"/>
                  <a:ea typeface="Consolas"/>
                  <a:cs typeface="Consolas"/>
                  <a:sym typeface="Consolas"/>
                </a:rPr>
                <a:t>    required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A8FF78"/>
                  </a:solidFill>
                  <a:latin typeface="Consolas"/>
                  <a:ea typeface="Consolas"/>
                  <a:cs typeface="Consolas"/>
                  <a:sym typeface="Consolas"/>
                </a:rPr>
                <a:t>  /&gt;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A8FF78"/>
                  </a:solidFill>
                  <a:latin typeface="Consolas"/>
                  <a:ea typeface="Consolas"/>
                  <a:cs typeface="Consolas"/>
                  <a:sym typeface="Consolas"/>
                </a:rPr>
                <a:t>&lt;/Form.Group&gt;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692640" y="2030730"/>
            <a:ext cx="7680960" cy="731520"/>
            <a:chOff x="0" y="0"/>
            <a:chExt cx="10241280" cy="9753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241280" cy="975360"/>
            </a:xfrm>
            <a:custGeom>
              <a:avLst/>
              <a:gdLst/>
              <a:ahLst/>
              <a:cxnLst/>
              <a:rect r="r" b="b" t="t" l="l"/>
              <a:pathLst>
                <a:path h="9753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02412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Ví dụ</a:t>
              </a: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0">
            <a:off x="933450" y="7033585"/>
            <a:ext cx="16471906" cy="2429606"/>
          </a:xfrm>
          <a:custGeom>
            <a:avLst/>
            <a:gdLst/>
            <a:ahLst/>
            <a:cxnLst/>
            <a:rect r="r" b="b" t="t" l="l"/>
            <a:pathLst>
              <a:path h="2429606" w="16471906">
                <a:moveTo>
                  <a:pt x="0" y="0"/>
                </a:moveTo>
                <a:lnTo>
                  <a:pt x="16471906" y="0"/>
                </a:lnTo>
                <a:lnTo>
                  <a:pt x="16471906" y="2429606"/>
                </a:lnTo>
                <a:lnTo>
                  <a:pt x="0" y="24296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123801"/>
            <a:chOff x="0" y="0"/>
            <a:chExt cx="21945600" cy="1498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98402"/>
            </a:xfrm>
            <a:custGeom>
              <a:avLst/>
              <a:gdLst/>
              <a:ahLst/>
              <a:cxnLst/>
              <a:rect r="r" b="b" t="t" l="l"/>
              <a:pathLst>
                <a:path h="149840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6557" r="0" b="-2341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94560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 Component: Validation Form 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724663"/>
            <a:ext cx="16484603" cy="80267"/>
            <a:chOff x="0" y="0"/>
            <a:chExt cx="21979471" cy="1070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1945599" cy="73152"/>
            </a:xfrm>
            <a:custGeom>
              <a:avLst/>
              <a:gdLst/>
              <a:ahLst/>
              <a:cxnLst/>
              <a:rect r="r" b="b" t="t" l="l"/>
              <a:pathLst>
                <a:path h="73152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E3E8F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79382" cy="106936"/>
            </a:xfrm>
            <a:custGeom>
              <a:avLst/>
              <a:gdLst/>
              <a:ahLst/>
              <a:cxnLst/>
              <a:rect r="r" b="b" t="t" l="l"/>
              <a:pathLst>
                <a:path h="106936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90043"/>
                  </a:lnTo>
                  <a:cubicBezTo>
                    <a:pt x="21979382" y="99441"/>
                    <a:pt x="21971763" y="106934"/>
                    <a:pt x="2196249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21962490" y="73152"/>
                  </a:lnTo>
                  <a:lnTo>
                    <a:pt x="21962490" y="90043"/>
                  </a:lnTo>
                  <a:lnTo>
                    <a:pt x="21945600" y="9004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3E8F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071106" y="2354256"/>
            <a:ext cx="7315200" cy="1814438"/>
            <a:chOff x="0" y="0"/>
            <a:chExt cx="9753600" cy="24192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53600" cy="2419251"/>
            </a:xfrm>
            <a:custGeom>
              <a:avLst/>
              <a:gdLst/>
              <a:ahLst/>
              <a:cxnLst/>
              <a:rect r="r" b="b" t="t" l="l"/>
              <a:pathLst>
                <a:path h="2419251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2419251"/>
                  </a:lnTo>
                  <a:lnTo>
                    <a:pt x="0" y="24192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398" r="0" b="128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9753600" cy="24859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Kế</a:t>
              </a:r>
              <a:r>
                <a:rPr lang="en-US" sz="2799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 quả</a:t>
              </a:r>
            </a:p>
            <a:p>
              <a:pPr algn="l" marL="604519" indent="-302260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799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Nếu bỏ trống → hiển thị lỗi màu đỏ</a:t>
              </a:r>
            </a:p>
            <a:p>
              <a:pPr algn="l" marL="604519" indent="-302260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799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Nếu hợp lệ → form submit thành công</a:t>
              </a:r>
            </a:p>
            <a:p>
              <a:pPr algn="l">
                <a:lnSpc>
                  <a:spcPts val="33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7740" y="2354256"/>
            <a:ext cx="8255003" cy="3387339"/>
            <a:chOff x="0" y="0"/>
            <a:chExt cx="11006671" cy="4516452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1006671" cy="2509858"/>
              <a:chOff x="0" y="0"/>
              <a:chExt cx="11006671" cy="250985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16891" y="36688"/>
                <a:ext cx="10972800" cy="2436289"/>
              </a:xfrm>
              <a:custGeom>
                <a:avLst/>
                <a:gdLst/>
                <a:ahLst/>
                <a:cxnLst/>
                <a:rect r="r" b="b" t="t" l="l"/>
                <a:pathLst>
                  <a:path h="2436289" w="10972800">
                    <a:moveTo>
                      <a:pt x="0" y="0"/>
                    </a:moveTo>
                    <a:lnTo>
                      <a:pt x="10972800" y="0"/>
                    </a:lnTo>
                    <a:lnTo>
                      <a:pt x="10972800" y="2436289"/>
                    </a:lnTo>
                    <a:lnTo>
                      <a:pt x="0" y="2436289"/>
                    </a:lnTo>
                    <a:close/>
                  </a:path>
                </a:pathLst>
              </a:custGeom>
              <a:solidFill>
                <a:srgbClr val="F0F4FF"/>
              </a:solidFill>
            </p:spPr>
          </p:sp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1006582" cy="2509667"/>
              </a:xfrm>
              <a:custGeom>
                <a:avLst/>
                <a:gdLst/>
                <a:ahLst/>
                <a:cxnLst/>
                <a:rect r="r" b="b" t="t" l="l"/>
                <a:pathLst>
                  <a:path h="2509667" w="11006582">
                    <a:moveTo>
                      <a:pt x="16891" y="0"/>
                    </a:moveTo>
                    <a:lnTo>
                      <a:pt x="10989691" y="0"/>
                    </a:lnTo>
                    <a:cubicBezTo>
                      <a:pt x="10999089" y="0"/>
                      <a:pt x="11006582" y="16551"/>
                      <a:pt x="11006582" y="36688"/>
                    </a:cubicBezTo>
                    <a:lnTo>
                      <a:pt x="11006582" y="2472977"/>
                    </a:lnTo>
                    <a:cubicBezTo>
                      <a:pt x="11006582" y="2493390"/>
                      <a:pt x="10998962" y="2509665"/>
                      <a:pt x="10989691" y="2509665"/>
                    </a:cubicBezTo>
                    <a:lnTo>
                      <a:pt x="16891" y="2509665"/>
                    </a:lnTo>
                    <a:cubicBezTo>
                      <a:pt x="7620" y="2509896"/>
                      <a:pt x="0" y="2493390"/>
                      <a:pt x="0" y="2472977"/>
                    </a:cubicBezTo>
                    <a:lnTo>
                      <a:pt x="0" y="36688"/>
                    </a:lnTo>
                    <a:cubicBezTo>
                      <a:pt x="0" y="16551"/>
                      <a:pt x="7620" y="0"/>
                      <a:pt x="16891" y="0"/>
                    </a:cubicBezTo>
                    <a:moveTo>
                      <a:pt x="16891" y="73651"/>
                    </a:moveTo>
                    <a:lnTo>
                      <a:pt x="16891" y="36688"/>
                    </a:lnTo>
                    <a:lnTo>
                      <a:pt x="33909" y="36688"/>
                    </a:lnTo>
                    <a:lnTo>
                      <a:pt x="33909" y="2472977"/>
                    </a:lnTo>
                    <a:lnTo>
                      <a:pt x="16891" y="2472977"/>
                    </a:lnTo>
                    <a:lnTo>
                      <a:pt x="16891" y="2436289"/>
                    </a:lnTo>
                    <a:lnTo>
                      <a:pt x="10989691" y="2436289"/>
                    </a:lnTo>
                    <a:lnTo>
                      <a:pt x="10989691" y="2472977"/>
                    </a:lnTo>
                    <a:lnTo>
                      <a:pt x="10972800" y="2472977"/>
                    </a:lnTo>
                    <a:lnTo>
                      <a:pt x="10972800" y="36688"/>
                    </a:lnTo>
                    <a:lnTo>
                      <a:pt x="10989691" y="36688"/>
                    </a:lnTo>
                    <a:lnTo>
                      <a:pt x="10989691" y="73651"/>
                    </a:lnTo>
                    <a:lnTo>
                      <a:pt x="16891" y="73651"/>
                    </a:lnTo>
                    <a:close/>
                  </a:path>
                </a:pathLst>
              </a:custGeom>
              <a:solidFill>
                <a:srgbClr val="D0DAEC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382689" y="26882"/>
              <a:ext cx="3657600" cy="1781140"/>
              <a:chOff x="0" y="0"/>
              <a:chExt cx="3657600" cy="178114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657600" cy="1781140"/>
              </a:xfrm>
              <a:custGeom>
                <a:avLst/>
                <a:gdLst/>
                <a:ahLst/>
                <a:cxnLst/>
                <a:rect r="r" b="b" t="t" l="l"/>
                <a:pathLst>
                  <a:path h="1781140" w="3657600">
                    <a:moveTo>
                      <a:pt x="0" y="0"/>
                    </a:moveTo>
                    <a:lnTo>
                      <a:pt x="3657600" y="0"/>
                    </a:lnTo>
                    <a:lnTo>
                      <a:pt x="3657600" y="1781140"/>
                    </a:lnTo>
                    <a:lnTo>
                      <a:pt x="0" y="178114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8525" r="0" b="28499"/>
                </a:stretch>
              </a:blip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3657600" cy="18287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60"/>
                  </a:lnSpc>
                </a:pPr>
                <a:r>
                  <a:rPr lang="en-US" sz="2300" b="true">
                    <a:solidFill>
                      <a:srgbClr val="0097A7"/>
                    </a:solidFill>
                    <a:latin typeface="Consolas Bold"/>
                    <a:ea typeface="Consolas Bold"/>
                    <a:cs typeface="Consolas Bold"/>
                    <a:sym typeface="Consolas Bold"/>
                  </a:rPr>
                  <a:t>Mục đích</a:t>
                </a: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4162209" y="26882"/>
              <a:ext cx="6583680" cy="2079065"/>
              <a:chOff x="0" y="0"/>
              <a:chExt cx="6583680" cy="207906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583680" cy="2079066"/>
              </a:xfrm>
              <a:custGeom>
                <a:avLst/>
                <a:gdLst/>
                <a:ahLst/>
                <a:cxnLst/>
                <a:rect r="r" b="b" t="t" l="l"/>
                <a:pathLst>
                  <a:path h="2079066" w="6583680">
                    <a:moveTo>
                      <a:pt x="0" y="0"/>
                    </a:moveTo>
                    <a:lnTo>
                      <a:pt x="6583680" y="0"/>
                    </a:lnTo>
                    <a:lnTo>
                      <a:pt x="6583680" y="2079066"/>
                    </a:lnTo>
                    <a:lnTo>
                      <a:pt x="0" y="207906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4727" r="0" b="11322"/>
                </a:stretch>
              </a:blip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6583680" cy="212669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60"/>
                  </a:lnSpc>
                </a:pPr>
                <a:r>
                  <a:rPr lang="en-US" sz="2300">
                    <a:solidFill>
                      <a:srgbClr val="546E7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K</a:t>
                </a:r>
                <a:r>
                  <a:rPr lang="en-US" sz="2300">
                    <a:solidFill>
                      <a:srgbClr val="546E7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iểm tra dữ liệu trước khi submit, tránh dữ liệu rỗng hoặc sai định dạng</a:t>
                </a: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1808022"/>
              <a:ext cx="11006671" cy="2531929"/>
              <a:chOff x="0" y="0"/>
              <a:chExt cx="11006671" cy="2531929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16891" y="37010"/>
                <a:ext cx="10972800" cy="2457714"/>
              </a:xfrm>
              <a:custGeom>
                <a:avLst/>
                <a:gdLst/>
                <a:ahLst/>
                <a:cxnLst/>
                <a:rect r="r" b="b" t="t" l="l"/>
                <a:pathLst>
                  <a:path h="2457714" w="10972800">
                    <a:moveTo>
                      <a:pt x="0" y="0"/>
                    </a:moveTo>
                    <a:lnTo>
                      <a:pt x="10972800" y="0"/>
                    </a:lnTo>
                    <a:lnTo>
                      <a:pt x="10972800" y="2457714"/>
                    </a:lnTo>
                    <a:lnTo>
                      <a:pt x="0" y="245771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1006582" cy="2531737"/>
              </a:xfrm>
              <a:custGeom>
                <a:avLst/>
                <a:gdLst/>
                <a:ahLst/>
                <a:cxnLst/>
                <a:rect r="r" b="b" t="t" l="l"/>
                <a:pathLst>
                  <a:path h="2531737" w="11006582">
                    <a:moveTo>
                      <a:pt x="16891" y="0"/>
                    </a:moveTo>
                    <a:lnTo>
                      <a:pt x="10989691" y="0"/>
                    </a:lnTo>
                    <a:cubicBezTo>
                      <a:pt x="10999089" y="0"/>
                      <a:pt x="11006582" y="16696"/>
                      <a:pt x="11006582" y="37010"/>
                    </a:cubicBezTo>
                    <a:lnTo>
                      <a:pt x="11006582" y="2494724"/>
                    </a:lnTo>
                    <a:cubicBezTo>
                      <a:pt x="11006582" y="2515316"/>
                      <a:pt x="10998962" y="2531735"/>
                      <a:pt x="10989691" y="2531735"/>
                    </a:cubicBezTo>
                    <a:lnTo>
                      <a:pt x="16891" y="2531735"/>
                    </a:lnTo>
                    <a:cubicBezTo>
                      <a:pt x="7620" y="2531968"/>
                      <a:pt x="0" y="2515316"/>
                      <a:pt x="0" y="2494724"/>
                    </a:cubicBezTo>
                    <a:lnTo>
                      <a:pt x="0" y="37010"/>
                    </a:lnTo>
                    <a:cubicBezTo>
                      <a:pt x="0" y="16696"/>
                      <a:pt x="7620" y="0"/>
                      <a:pt x="16891" y="0"/>
                    </a:cubicBezTo>
                    <a:moveTo>
                      <a:pt x="16891" y="74299"/>
                    </a:moveTo>
                    <a:lnTo>
                      <a:pt x="16891" y="37010"/>
                    </a:lnTo>
                    <a:lnTo>
                      <a:pt x="33909" y="37010"/>
                    </a:lnTo>
                    <a:lnTo>
                      <a:pt x="33909" y="2494724"/>
                    </a:lnTo>
                    <a:lnTo>
                      <a:pt x="16891" y="2494724"/>
                    </a:lnTo>
                    <a:lnTo>
                      <a:pt x="16891" y="2457714"/>
                    </a:lnTo>
                    <a:lnTo>
                      <a:pt x="10989691" y="2457714"/>
                    </a:lnTo>
                    <a:lnTo>
                      <a:pt x="10989691" y="2494724"/>
                    </a:lnTo>
                    <a:lnTo>
                      <a:pt x="10972800" y="2494724"/>
                    </a:lnTo>
                    <a:lnTo>
                      <a:pt x="10972800" y="37010"/>
                    </a:lnTo>
                    <a:lnTo>
                      <a:pt x="10989691" y="37010"/>
                    </a:lnTo>
                    <a:lnTo>
                      <a:pt x="10989691" y="74299"/>
                    </a:lnTo>
                    <a:lnTo>
                      <a:pt x="16891" y="74299"/>
                    </a:lnTo>
                    <a:close/>
                  </a:path>
                </a:pathLst>
              </a:custGeom>
              <a:solidFill>
                <a:srgbClr val="D0DAEC"/>
              </a:solid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382689" y="2079065"/>
              <a:ext cx="3657600" cy="1781140"/>
              <a:chOff x="0" y="0"/>
              <a:chExt cx="3657600" cy="178114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3657600" cy="1781140"/>
              </a:xfrm>
              <a:custGeom>
                <a:avLst/>
                <a:gdLst/>
                <a:ahLst/>
                <a:cxnLst/>
                <a:rect r="r" b="b" t="t" l="l"/>
                <a:pathLst>
                  <a:path h="1781140" w="3657600">
                    <a:moveTo>
                      <a:pt x="0" y="0"/>
                    </a:moveTo>
                    <a:lnTo>
                      <a:pt x="3657600" y="0"/>
                    </a:lnTo>
                    <a:lnTo>
                      <a:pt x="3657600" y="1781140"/>
                    </a:lnTo>
                    <a:lnTo>
                      <a:pt x="0" y="178114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8525" r="0" b="28499"/>
                </a:stretch>
              </a:blip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47625"/>
                <a:ext cx="3657600" cy="18287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60"/>
                  </a:lnSpc>
                </a:pPr>
                <a:r>
                  <a:rPr lang="en-US" sz="2300" b="true">
                    <a:solidFill>
                      <a:srgbClr val="0097A7"/>
                    </a:solidFill>
                    <a:latin typeface="Consolas Bold"/>
                    <a:ea typeface="Consolas Bold"/>
                    <a:cs typeface="Consolas Bold"/>
                    <a:sym typeface="Consolas Bold"/>
                  </a:rPr>
                  <a:t>Các hoạt động</a:t>
                </a: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4179157" y="1993665"/>
              <a:ext cx="6583680" cy="2522788"/>
              <a:chOff x="0" y="0"/>
              <a:chExt cx="6583680" cy="2522788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6583680" cy="2522788"/>
              </a:xfrm>
              <a:custGeom>
                <a:avLst/>
                <a:gdLst/>
                <a:ahLst/>
                <a:cxnLst/>
                <a:rect r="r" b="b" t="t" l="l"/>
                <a:pathLst>
                  <a:path h="2522788" w="6583680">
                    <a:moveTo>
                      <a:pt x="0" y="0"/>
                    </a:moveTo>
                    <a:lnTo>
                      <a:pt x="6583680" y="0"/>
                    </a:lnTo>
                    <a:lnTo>
                      <a:pt x="6583680" y="2522788"/>
                    </a:lnTo>
                    <a:lnTo>
                      <a:pt x="0" y="252278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28619" r="0" b="26919"/>
                </a:stretch>
              </a:blip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47625"/>
                <a:ext cx="6583680" cy="257041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60"/>
                  </a:lnSpc>
                </a:pPr>
                <a:r>
                  <a:rPr lang="en-US" sz="2300">
                    <a:solidFill>
                      <a:srgbClr val="546E7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React-Bo</a:t>
                </a:r>
                <a:r>
                  <a:rPr lang="en-US" sz="2300">
                    <a:solidFill>
                      <a:srgbClr val="546E7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otstrap dùng:</a:t>
                </a:r>
              </a:p>
              <a:p>
                <a:pPr algn="l" marL="496571" indent="-248285" lvl="1">
                  <a:lnSpc>
                    <a:spcPts val="2760"/>
                  </a:lnSpc>
                  <a:buFont typeface="Arial"/>
                  <a:buChar char="•"/>
                </a:pPr>
                <a:r>
                  <a:rPr lang="en-US" sz="2300">
                    <a:solidFill>
                      <a:srgbClr val="546E7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valid</a:t>
                </a:r>
                <a:r>
                  <a:rPr lang="en-US" sz="2300">
                    <a:solidFill>
                      <a:srgbClr val="546E7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ated</a:t>
                </a:r>
              </a:p>
              <a:p>
                <a:pPr algn="l" marL="496571" indent="-248285" lvl="1">
                  <a:lnSpc>
                    <a:spcPts val="2760"/>
                  </a:lnSpc>
                  <a:buFont typeface="Arial"/>
                  <a:buChar char="•"/>
                </a:pPr>
                <a:r>
                  <a:rPr lang="en-US" sz="2300">
                    <a:solidFill>
                      <a:srgbClr val="546E7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required</a:t>
                </a:r>
              </a:p>
              <a:p>
                <a:pPr algn="l" marL="496571" indent="-248285" lvl="1">
                  <a:lnSpc>
                    <a:spcPts val="2760"/>
                  </a:lnSpc>
                  <a:buFont typeface="Arial"/>
                  <a:buChar char="•"/>
                </a:pPr>
                <a:r>
                  <a:rPr lang="en-US" sz="2300">
                    <a:solidFill>
                      <a:srgbClr val="546E7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Form.Control.Feedback</a:t>
                </a:r>
              </a:p>
              <a:p>
                <a:pPr algn="l">
                  <a:lnSpc>
                    <a:spcPts val="2760"/>
                  </a:lnSpc>
                </a:pPr>
              </a:p>
            </p:txBody>
          </p:sp>
        </p:grpSp>
      </p:grpSp>
      <p:sp>
        <p:nvSpPr>
          <p:cNvPr name="Freeform 30" id="30"/>
          <p:cNvSpPr/>
          <p:nvPr/>
        </p:nvSpPr>
        <p:spPr>
          <a:xfrm flipH="false" flipV="false" rot="0">
            <a:off x="972048" y="6294046"/>
            <a:ext cx="16343914" cy="2553737"/>
          </a:xfrm>
          <a:custGeom>
            <a:avLst/>
            <a:gdLst/>
            <a:ahLst/>
            <a:cxnLst/>
            <a:rect r="r" b="b" t="t" l="l"/>
            <a:pathLst>
              <a:path h="2553737" w="16343914">
                <a:moveTo>
                  <a:pt x="0" y="0"/>
                </a:moveTo>
                <a:lnTo>
                  <a:pt x="16343914" y="0"/>
                </a:lnTo>
                <a:lnTo>
                  <a:pt x="16343914" y="2553736"/>
                </a:lnTo>
                <a:lnTo>
                  <a:pt x="0" y="2553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123801"/>
            <a:chOff x="0" y="0"/>
            <a:chExt cx="21945600" cy="1498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98402"/>
            </a:xfrm>
            <a:custGeom>
              <a:avLst/>
              <a:gdLst/>
              <a:ahLst/>
              <a:cxnLst/>
              <a:rect r="r" b="b" t="t" l="l"/>
              <a:pathLst>
                <a:path h="149840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6557" r="0" b="-2341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94560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 Component: Modals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724663"/>
            <a:ext cx="16484603" cy="80267"/>
            <a:chOff x="0" y="0"/>
            <a:chExt cx="21979471" cy="1070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1945599" cy="73152"/>
            </a:xfrm>
            <a:custGeom>
              <a:avLst/>
              <a:gdLst/>
              <a:ahLst/>
              <a:cxnLst/>
              <a:rect r="r" b="b" t="t" l="l"/>
              <a:pathLst>
                <a:path h="73152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E3E8F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79382" cy="106936"/>
            </a:xfrm>
            <a:custGeom>
              <a:avLst/>
              <a:gdLst/>
              <a:ahLst/>
              <a:cxnLst/>
              <a:rect r="r" b="b" t="t" l="l"/>
              <a:pathLst>
                <a:path h="106936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90043"/>
                  </a:lnTo>
                  <a:cubicBezTo>
                    <a:pt x="21979382" y="99441"/>
                    <a:pt x="21971763" y="106934"/>
                    <a:pt x="2196249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21962490" y="73152"/>
                  </a:lnTo>
                  <a:lnTo>
                    <a:pt x="21962490" y="90043"/>
                  </a:lnTo>
                  <a:lnTo>
                    <a:pt x="21945600" y="9004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3E8F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01703" y="1998983"/>
            <a:ext cx="8803643" cy="7702801"/>
            <a:chOff x="0" y="0"/>
            <a:chExt cx="11738191" cy="102704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20246"/>
              <a:ext cx="11704320" cy="10229802"/>
            </a:xfrm>
            <a:custGeom>
              <a:avLst/>
              <a:gdLst/>
              <a:ahLst/>
              <a:cxnLst/>
              <a:rect r="r" b="b" t="t" l="l"/>
              <a:pathLst>
                <a:path h="10229802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0229802"/>
                  </a:lnTo>
                  <a:lnTo>
                    <a:pt x="0" y="10229802"/>
                  </a:lnTo>
                  <a:close/>
                </a:path>
              </a:pathLst>
            </a:custGeom>
            <a:solidFill>
              <a:srgbClr val="1E2A3A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738101" cy="10270294"/>
            </a:xfrm>
            <a:custGeom>
              <a:avLst/>
              <a:gdLst/>
              <a:ahLst/>
              <a:cxnLst/>
              <a:rect r="r" b="b" t="t" l="l"/>
              <a:pathLst>
                <a:path h="10270294" w="11738101">
                  <a:moveTo>
                    <a:pt x="16891" y="0"/>
                  </a:moveTo>
                  <a:lnTo>
                    <a:pt x="11721211" y="0"/>
                  </a:lnTo>
                  <a:cubicBezTo>
                    <a:pt x="11730609" y="0"/>
                    <a:pt x="11738101" y="9134"/>
                    <a:pt x="11738101" y="20246"/>
                  </a:cubicBezTo>
                  <a:lnTo>
                    <a:pt x="11738101" y="10250048"/>
                  </a:lnTo>
                  <a:cubicBezTo>
                    <a:pt x="11738101" y="10261313"/>
                    <a:pt x="11730482" y="10270294"/>
                    <a:pt x="11721211" y="10270294"/>
                  </a:cubicBezTo>
                  <a:lnTo>
                    <a:pt x="16891" y="10270294"/>
                  </a:lnTo>
                  <a:cubicBezTo>
                    <a:pt x="7493" y="10270294"/>
                    <a:pt x="0" y="10261160"/>
                    <a:pt x="0" y="10250048"/>
                  </a:cubicBezTo>
                  <a:lnTo>
                    <a:pt x="0" y="20246"/>
                  </a:lnTo>
                  <a:cubicBezTo>
                    <a:pt x="0" y="9134"/>
                    <a:pt x="7620" y="0"/>
                    <a:pt x="16891" y="0"/>
                  </a:cubicBezTo>
                  <a:moveTo>
                    <a:pt x="16891" y="40645"/>
                  </a:moveTo>
                  <a:lnTo>
                    <a:pt x="16891" y="20246"/>
                  </a:lnTo>
                  <a:lnTo>
                    <a:pt x="33909" y="20246"/>
                  </a:lnTo>
                  <a:lnTo>
                    <a:pt x="33909" y="10250048"/>
                  </a:lnTo>
                  <a:lnTo>
                    <a:pt x="16891" y="10250048"/>
                  </a:lnTo>
                  <a:lnTo>
                    <a:pt x="16891" y="10229802"/>
                  </a:lnTo>
                  <a:lnTo>
                    <a:pt x="11721211" y="10229802"/>
                  </a:lnTo>
                  <a:lnTo>
                    <a:pt x="11721211" y="10250048"/>
                  </a:lnTo>
                  <a:lnTo>
                    <a:pt x="11704320" y="10250048"/>
                  </a:lnTo>
                  <a:lnTo>
                    <a:pt x="11704320" y="20246"/>
                  </a:lnTo>
                  <a:lnTo>
                    <a:pt x="11721211" y="20246"/>
                  </a:lnTo>
                  <a:lnTo>
                    <a:pt x="11721211" y="40645"/>
                  </a:lnTo>
                  <a:lnTo>
                    <a:pt x="16891" y="40645"/>
                  </a:lnTo>
                  <a:close/>
                </a:path>
              </a:pathLst>
            </a:custGeom>
            <a:solidFill>
              <a:srgbClr val="1E2A3A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43005" y="2110359"/>
            <a:ext cx="8321040" cy="759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&lt;Modal show={show} onHide={handleClose}&gt;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&lt;Modal.Header closeButton&gt;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&lt;Modal.Title&gt;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  Xác nhận xoá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&lt;/Modal.Title&gt;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&lt;/Modal.Header&gt;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&lt;Modal.Body&gt;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Bạn có chắc muốn xoá sản phẩm?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&lt;/Modal.Body&gt;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&lt;Modal.Footer&gt;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&lt;Button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  variant="secondary"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  onClick={handleClose}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&gt;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  Hủy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&lt;/Button&gt;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&lt;Button variant="danger"&gt;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  Xoá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&lt;/Button&gt;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&lt;/Modal.Footer&gt;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&lt;/Modal&gt;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856345" y="6535140"/>
            <a:ext cx="7517255" cy="3166644"/>
          </a:xfrm>
          <a:custGeom>
            <a:avLst/>
            <a:gdLst/>
            <a:ahLst/>
            <a:cxnLst/>
            <a:rect r="r" b="b" t="t" l="l"/>
            <a:pathLst>
              <a:path h="3166644" w="7517255">
                <a:moveTo>
                  <a:pt x="0" y="0"/>
                </a:moveTo>
                <a:lnTo>
                  <a:pt x="7517255" y="0"/>
                </a:lnTo>
                <a:lnTo>
                  <a:pt x="7517255" y="3166644"/>
                </a:lnTo>
                <a:lnTo>
                  <a:pt x="0" y="3166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9856345" y="1998983"/>
            <a:ext cx="7529961" cy="3851400"/>
            <a:chOff x="0" y="0"/>
            <a:chExt cx="10039948" cy="5135201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0039948" cy="4086213"/>
              <a:chOff x="0" y="0"/>
              <a:chExt cx="10039948" cy="4086213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15407" y="59730"/>
                <a:ext cx="10009052" cy="3966439"/>
              </a:xfrm>
              <a:custGeom>
                <a:avLst/>
                <a:gdLst/>
                <a:ahLst/>
                <a:cxnLst/>
                <a:rect r="r" b="b" t="t" l="l"/>
                <a:pathLst>
                  <a:path h="3966439" w="10009052">
                    <a:moveTo>
                      <a:pt x="0" y="0"/>
                    </a:moveTo>
                    <a:lnTo>
                      <a:pt x="10009052" y="0"/>
                    </a:lnTo>
                    <a:lnTo>
                      <a:pt x="10009052" y="3966439"/>
                    </a:lnTo>
                    <a:lnTo>
                      <a:pt x="0" y="3966439"/>
                    </a:lnTo>
                    <a:close/>
                  </a:path>
                </a:pathLst>
              </a:custGeom>
              <a:solidFill>
                <a:srgbClr val="F0F4FF"/>
              </a:solidFill>
            </p:spPr>
          </p:sp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039867" cy="4085902"/>
              </a:xfrm>
              <a:custGeom>
                <a:avLst/>
                <a:gdLst/>
                <a:ahLst/>
                <a:cxnLst/>
                <a:rect r="r" b="b" t="t" l="l"/>
                <a:pathLst>
                  <a:path h="4085902" w="10039867">
                    <a:moveTo>
                      <a:pt x="15407" y="0"/>
                    </a:moveTo>
                    <a:lnTo>
                      <a:pt x="10024459" y="0"/>
                    </a:lnTo>
                    <a:cubicBezTo>
                      <a:pt x="10033033" y="0"/>
                      <a:pt x="10039867" y="26946"/>
                      <a:pt x="10039867" y="59730"/>
                    </a:cubicBezTo>
                    <a:lnTo>
                      <a:pt x="10039867" y="4026169"/>
                    </a:lnTo>
                    <a:cubicBezTo>
                      <a:pt x="10039867" y="4059402"/>
                      <a:pt x="10032916" y="4085899"/>
                      <a:pt x="10024459" y="4085899"/>
                    </a:cubicBezTo>
                    <a:lnTo>
                      <a:pt x="15407" y="4085899"/>
                    </a:lnTo>
                    <a:cubicBezTo>
                      <a:pt x="6951" y="4086251"/>
                      <a:pt x="0" y="4059402"/>
                      <a:pt x="0" y="4026169"/>
                    </a:cubicBezTo>
                    <a:lnTo>
                      <a:pt x="0" y="59730"/>
                    </a:lnTo>
                    <a:cubicBezTo>
                      <a:pt x="0" y="26946"/>
                      <a:pt x="6951" y="0"/>
                      <a:pt x="15407" y="0"/>
                    </a:cubicBezTo>
                    <a:moveTo>
                      <a:pt x="15407" y="119909"/>
                    </a:moveTo>
                    <a:lnTo>
                      <a:pt x="15407" y="59730"/>
                    </a:lnTo>
                    <a:lnTo>
                      <a:pt x="30931" y="59730"/>
                    </a:lnTo>
                    <a:lnTo>
                      <a:pt x="30931" y="4026169"/>
                    </a:lnTo>
                    <a:lnTo>
                      <a:pt x="15407" y="4026169"/>
                    </a:lnTo>
                    <a:lnTo>
                      <a:pt x="15407" y="3966439"/>
                    </a:lnTo>
                    <a:lnTo>
                      <a:pt x="10024459" y="3966439"/>
                    </a:lnTo>
                    <a:lnTo>
                      <a:pt x="10024459" y="4026169"/>
                    </a:lnTo>
                    <a:lnTo>
                      <a:pt x="10009052" y="4026169"/>
                    </a:lnTo>
                    <a:lnTo>
                      <a:pt x="10009052" y="59730"/>
                    </a:lnTo>
                    <a:lnTo>
                      <a:pt x="10024459" y="59730"/>
                    </a:lnTo>
                    <a:lnTo>
                      <a:pt x="10024459" y="119909"/>
                    </a:lnTo>
                    <a:lnTo>
                      <a:pt x="15407" y="119909"/>
                    </a:lnTo>
                    <a:close/>
                  </a:path>
                </a:pathLst>
              </a:custGeom>
              <a:solidFill>
                <a:srgbClr val="D0DAEC"/>
              </a:solid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349077" y="43766"/>
              <a:ext cx="3336351" cy="2899813"/>
              <a:chOff x="0" y="0"/>
              <a:chExt cx="3336351" cy="2899813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336351" cy="2899813"/>
              </a:xfrm>
              <a:custGeom>
                <a:avLst/>
                <a:gdLst/>
                <a:ahLst/>
                <a:cxnLst/>
                <a:rect r="r" b="b" t="t" l="l"/>
                <a:pathLst>
                  <a:path h="2899813" w="3336351">
                    <a:moveTo>
                      <a:pt x="0" y="0"/>
                    </a:moveTo>
                    <a:lnTo>
                      <a:pt x="3336351" y="0"/>
                    </a:lnTo>
                    <a:lnTo>
                      <a:pt x="3336351" y="2899813"/>
                    </a:lnTo>
                    <a:lnTo>
                      <a:pt x="0" y="2899813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5236" r="-9628" b="56082"/>
                </a:stretch>
              </a:blip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47625"/>
                <a:ext cx="3336351" cy="294743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60"/>
                  </a:lnSpc>
                </a:pPr>
                <a:r>
                  <a:rPr lang="en-US" sz="2300" b="true">
                    <a:solidFill>
                      <a:srgbClr val="0097A7"/>
                    </a:solidFill>
                    <a:latin typeface="Consolas Bold"/>
                    <a:ea typeface="Consolas Bold"/>
                    <a:cs typeface="Consolas Bold"/>
                    <a:sym typeface="Consolas Bold"/>
                  </a:rPr>
                  <a:t>Khái niệm</a:t>
                </a: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3865175" y="139929"/>
              <a:ext cx="6005431" cy="3351585"/>
              <a:chOff x="0" y="0"/>
              <a:chExt cx="6005431" cy="3351585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6005431" cy="3351585"/>
              </a:xfrm>
              <a:custGeom>
                <a:avLst/>
                <a:gdLst/>
                <a:ahLst/>
                <a:cxnLst/>
                <a:rect r="r" b="b" t="t" l="l"/>
                <a:pathLst>
                  <a:path h="3351585" w="6005431">
                    <a:moveTo>
                      <a:pt x="0" y="0"/>
                    </a:moveTo>
                    <a:lnTo>
                      <a:pt x="6005431" y="0"/>
                    </a:lnTo>
                    <a:lnTo>
                      <a:pt x="6005431" y="3351585"/>
                    </a:lnTo>
                    <a:lnTo>
                      <a:pt x="0" y="3351585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21542" r="-9628" b="44991"/>
                </a:stretch>
              </a:blip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47625"/>
                <a:ext cx="6005431" cy="339921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 marL="496571" indent="-248285" lvl="1">
                  <a:lnSpc>
                    <a:spcPts val="2760"/>
                  </a:lnSpc>
                  <a:buFont typeface="Arial"/>
                  <a:buChar char="•"/>
                </a:pPr>
                <a:r>
                  <a:rPr lang="en-US" sz="2300">
                    <a:solidFill>
                      <a:srgbClr val="546E7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Modal là co</a:t>
                </a:r>
                <a:r>
                  <a:rPr lang="en-US" sz="2300">
                    <a:solidFill>
                      <a:srgbClr val="546E7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mponent tạo cửa sổ popup hiển thị phía trên giao diện chính</a:t>
                </a:r>
              </a:p>
              <a:p>
                <a:pPr algn="l" marL="496570" indent="-248285" lvl="1">
                  <a:lnSpc>
                    <a:spcPts val="2760"/>
                  </a:lnSpc>
                  <a:buFont typeface="Arial"/>
                  <a:buChar char="•"/>
                </a:pPr>
                <a:r>
                  <a:rPr lang="en-US" sz="2300">
                    <a:solidFill>
                      <a:srgbClr val="546E7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Thường dùng để xác nhận thao tác hoặc hiển thị thông tin quan trọng</a:t>
                </a:r>
              </a:p>
              <a:p>
                <a:pPr algn="l">
                  <a:lnSpc>
                    <a:spcPts val="2760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0" y="2943579"/>
              <a:ext cx="10039948" cy="1891182"/>
              <a:chOff x="0" y="0"/>
              <a:chExt cx="10039948" cy="1891182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15407" y="27644"/>
                <a:ext cx="10009052" cy="1835748"/>
              </a:xfrm>
              <a:custGeom>
                <a:avLst/>
                <a:gdLst/>
                <a:ahLst/>
                <a:cxnLst/>
                <a:rect r="r" b="b" t="t" l="l"/>
                <a:pathLst>
                  <a:path h="1835748" w="10009052">
                    <a:moveTo>
                      <a:pt x="0" y="0"/>
                    </a:moveTo>
                    <a:lnTo>
                      <a:pt x="10009052" y="0"/>
                    </a:lnTo>
                    <a:lnTo>
                      <a:pt x="10009052" y="1835748"/>
                    </a:lnTo>
                    <a:lnTo>
                      <a:pt x="0" y="183574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0039867" cy="1891039"/>
              </a:xfrm>
              <a:custGeom>
                <a:avLst/>
                <a:gdLst/>
                <a:ahLst/>
                <a:cxnLst/>
                <a:rect r="r" b="b" t="t" l="l"/>
                <a:pathLst>
                  <a:path h="1891039" w="10039867">
                    <a:moveTo>
                      <a:pt x="15407" y="0"/>
                    </a:moveTo>
                    <a:lnTo>
                      <a:pt x="10024459" y="0"/>
                    </a:lnTo>
                    <a:cubicBezTo>
                      <a:pt x="10033033" y="0"/>
                      <a:pt x="10039867" y="12471"/>
                      <a:pt x="10039867" y="27644"/>
                    </a:cubicBezTo>
                    <a:lnTo>
                      <a:pt x="10039867" y="1863392"/>
                    </a:lnTo>
                    <a:cubicBezTo>
                      <a:pt x="10039867" y="1878774"/>
                      <a:pt x="10032916" y="1891037"/>
                      <a:pt x="10024459" y="1891037"/>
                    </a:cubicBezTo>
                    <a:lnTo>
                      <a:pt x="15407" y="1891037"/>
                    </a:lnTo>
                    <a:cubicBezTo>
                      <a:pt x="6951" y="1891220"/>
                      <a:pt x="0" y="1878774"/>
                      <a:pt x="0" y="1863392"/>
                    </a:cubicBezTo>
                    <a:lnTo>
                      <a:pt x="0" y="27644"/>
                    </a:lnTo>
                    <a:cubicBezTo>
                      <a:pt x="0" y="12471"/>
                      <a:pt x="6951" y="0"/>
                      <a:pt x="15407" y="0"/>
                    </a:cubicBezTo>
                    <a:moveTo>
                      <a:pt x="15407" y="55496"/>
                    </a:moveTo>
                    <a:lnTo>
                      <a:pt x="15407" y="27644"/>
                    </a:lnTo>
                    <a:lnTo>
                      <a:pt x="30931" y="27644"/>
                    </a:lnTo>
                    <a:lnTo>
                      <a:pt x="30931" y="1863392"/>
                    </a:lnTo>
                    <a:lnTo>
                      <a:pt x="15407" y="1863392"/>
                    </a:lnTo>
                    <a:lnTo>
                      <a:pt x="15407" y="1835748"/>
                    </a:lnTo>
                    <a:lnTo>
                      <a:pt x="10024459" y="1835748"/>
                    </a:lnTo>
                    <a:lnTo>
                      <a:pt x="10024459" y="1863392"/>
                    </a:lnTo>
                    <a:lnTo>
                      <a:pt x="10009052" y="1863392"/>
                    </a:lnTo>
                    <a:lnTo>
                      <a:pt x="10009052" y="27644"/>
                    </a:lnTo>
                    <a:lnTo>
                      <a:pt x="10024459" y="27644"/>
                    </a:lnTo>
                    <a:lnTo>
                      <a:pt x="10024459" y="55496"/>
                    </a:lnTo>
                    <a:lnTo>
                      <a:pt x="15407" y="55496"/>
                    </a:lnTo>
                    <a:close/>
                  </a:path>
                </a:pathLst>
              </a:custGeom>
              <a:solidFill>
                <a:srgbClr val="D0DAEC"/>
              </a:solidFill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349077" y="3240077"/>
              <a:ext cx="3336351" cy="1298187"/>
              <a:chOff x="0" y="0"/>
              <a:chExt cx="3336351" cy="1298187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3336351" cy="1298187"/>
              </a:xfrm>
              <a:custGeom>
                <a:avLst/>
                <a:gdLst/>
                <a:ahLst/>
                <a:cxnLst/>
                <a:rect r="r" b="b" t="t" l="l"/>
                <a:pathLst>
                  <a:path h="1298187" w="3336351">
                    <a:moveTo>
                      <a:pt x="0" y="0"/>
                    </a:moveTo>
                    <a:lnTo>
                      <a:pt x="3336351" y="0"/>
                    </a:lnTo>
                    <a:lnTo>
                      <a:pt x="3336351" y="1298187"/>
                    </a:lnTo>
                    <a:lnTo>
                      <a:pt x="0" y="1298187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1697" r="-9628" b="1900"/>
                </a:stretch>
              </a:blip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47625"/>
                <a:ext cx="3336351" cy="134581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60"/>
                  </a:lnSpc>
                </a:pPr>
                <a:r>
                  <a:rPr lang="en-US" sz="2300" b="true">
                    <a:solidFill>
                      <a:srgbClr val="0097A7"/>
                    </a:solidFill>
                    <a:latin typeface="Consolas Bold"/>
                    <a:ea typeface="Consolas Bold"/>
                    <a:cs typeface="Consolas Bold"/>
                    <a:sym typeface="Consolas Bold"/>
                  </a:rPr>
                  <a:t>Mục đích</a:t>
                </a: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3865175" y="3155216"/>
              <a:ext cx="6005431" cy="1979985"/>
              <a:chOff x="0" y="0"/>
              <a:chExt cx="6005431" cy="1979985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6005431" cy="1979985"/>
              </a:xfrm>
              <a:custGeom>
                <a:avLst/>
                <a:gdLst/>
                <a:ahLst/>
                <a:cxnLst/>
                <a:rect r="r" b="b" t="t" l="l"/>
                <a:pathLst>
                  <a:path h="1979985" w="6005431">
                    <a:moveTo>
                      <a:pt x="0" y="0"/>
                    </a:moveTo>
                    <a:lnTo>
                      <a:pt x="6005431" y="0"/>
                    </a:lnTo>
                    <a:lnTo>
                      <a:pt x="6005431" y="1979985"/>
                    </a:lnTo>
                    <a:lnTo>
                      <a:pt x="0" y="1979985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6464" r="-9628" b="6884"/>
                </a:stretch>
              </a:blip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47625"/>
                <a:ext cx="6005431" cy="202761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 marL="496571" indent="-248285" lvl="1">
                  <a:lnSpc>
                    <a:spcPts val="2760"/>
                  </a:lnSpc>
                  <a:buFont typeface="Arial"/>
                  <a:buChar char="•"/>
                </a:pPr>
                <a:r>
                  <a:rPr lang="en-US" sz="2300">
                    <a:solidFill>
                      <a:srgbClr val="546E7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Xác nhận x</a:t>
                </a:r>
                <a:r>
                  <a:rPr lang="en-US" sz="2300">
                    <a:solidFill>
                      <a:srgbClr val="546E7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oá sản phẩm</a:t>
                </a:r>
              </a:p>
              <a:p>
                <a:pPr algn="l" marL="496571" indent="-248285" lvl="1">
                  <a:lnSpc>
                    <a:spcPts val="2760"/>
                  </a:lnSpc>
                  <a:buFont typeface="Arial"/>
                  <a:buChar char="•"/>
                </a:pPr>
                <a:r>
                  <a:rPr lang="en-US" sz="2300">
                    <a:solidFill>
                      <a:srgbClr val="546E7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Chỉnh sửa thông tin sản phẩm</a:t>
                </a:r>
              </a:p>
              <a:p>
                <a:pPr algn="l" marL="496571" indent="-248285" lvl="1">
                  <a:lnSpc>
                    <a:spcPts val="2760"/>
                  </a:lnSpc>
                  <a:buFont typeface="Arial"/>
                  <a:buChar char="•"/>
                </a:pPr>
                <a:r>
                  <a:rPr lang="en-US" sz="2300">
                    <a:solidFill>
                      <a:srgbClr val="546E7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</a:t>
                </a:r>
                <a:r>
                  <a:rPr lang="en-US" sz="2300">
                    <a:solidFill>
                      <a:srgbClr val="546E7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ránh thao tác nhầm dữ liệu</a:t>
                </a:r>
              </a:p>
              <a:p>
                <a:pPr algn="l">
                  <a:lnSpc>
                    <a:spcPts val="2760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123801"/>
            <a:chOff x="0" y="0"/>
            <a:chExt cx="21945600" cy="1498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98402"/>
            </a:xfrm>
            <a:custGeom>
              <a:avLst/>
              <a:gdLst/>
              <a:ahLst/>
              <a:cxnLst/>
              <a:rect r="r" b="b" t="t" l="l"/>
              <a:pathLst>
                <a:path h="149840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6557" r="0" b="-2341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94560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 Component: Alert 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724663"/>
            <a:ext cx="16484603" cy="80267"/>
            <a:chOff x="0" y="0"/>
            <a:chExt cx="21979471" cy="1070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1945599" cy="73152"/>
            </a:xfrm>
            <a:custGeom>
              <a:avLst/>
              <a:gdLst/>
              <a:ahLst/>
              <a:cxnLst/>
              <a:rect r="r" b="b" t="t" l="l"/>
              <a:pathLst>
                <a:path h="73152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E3E8F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79382" cy="106936"/>
            </a:xfrm>
            <a:custGeom>
              <a:avLst/>
              <a:gdLst/>
              <a:ahLst/>
              <a:cxnLst/>
              <a:rect r="r" b="b" t="t" l="l"/>
              <a:pathLst>
                <a:path h="106936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90043"/>
                  </a:lnTo>
                  <a:cubicBezTo>
                    <a:pt x="21979382" y="99441"/>
                    <a:pt x="21971763" y="106934"/>
                    <a:pt x="2196249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21962490" y="73152"/>
                  </a:lnTo>
                  <a:lnTo>
                    <a:pt x="21962490" y="90043"/>
                  </a:lnTo>
                  <a:lnTo>
                    <a:pt x="21945600" y="9004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3E8F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01703" y="1998983"/>
            <a:ext cx="8803643" cy="6426203"/>
            <a:chOff x="0" y="0"/>
            <a:chExt cx="11738191" cy="85682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1704320" cy="8534400"/>
            </a:xfrm>
            <a:custGeom>
              <a:avLst/>
              <a:gdLst/>
              <a:ahLst/>
              <a:cxnLst/>
              <a:rect r="r" b="b" t="t" l="l"/>
              <a:pathLst>
                <a:path h="85344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1E2A3A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738101" cy="8568182"/>
            </a:xfrm>
            <a:custGeom>
              <a:avLst/>
              <a:gdLst/>
              <a:ahLst/>
              <a:cxnLst/>
              <a:rect r="r" b="b" t="t" l="l"/>
              <a:pathLst>
                <a:path h="8568182" w="11738101">
                  <a:moveTo>
                    <a:pt x="16891" y="0"/>
                  </a:moveTo>
                  <a:lnTo>
                    <a:pt x="11721211" y="0"/>
                  </a:lnTo>
                  <a:cubicBezTo>
                    <a:pt x="11730609" y="0"/>
                    <a:pt x="11738101" y="7620"/>
                    <a:pt x="11738101" y="16891"/>
                  </a:cubicBezTo>
                  <a:lnTo>
                    <a:pt x="11738101" y="8551291"/>
                  </a:lnTo>
                  <a:cubicBezTo>
                    <a:pt x="11738101" y="8560689"/>
                    <a:pt x="11730482" y="8568182"/>
                    <a:pt x="11721211" y="8568182"/>
                  </a:cubicBezTo>
                  <a:lnTo>
                    <a:pt x="16891" y="8568182"/>
                  </a:lnTo>
                  <a:cubicBezTo>
                    <a:pt x="7493" y="8568182"/>
                    <a:pt x="0" y="8560562"/>
                    <a:pt x="0" y="855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551291"/>
                  </a:lnTo>
                  <a:lnTo>
                    <a:pt x="16891" y="8551291"/>
                  </a:lnTo>
                  <a:lnTo>
                    <a:pt x="16891" y="8534400"/>
                  </a:lnTo>
                  <a:lnTo>
                    <a:pt x="11721211" y="8534400"/>
                  </a:lnTo>
                  <a:lnTo>
                    <a:pt x="11721211" y="8551291"/>
                  </a:lnTo>
                  <a:lnTo>
                    <a:pt x="11704320" y="8551291"/>
                  </a:lnTo>
                  <a:lnTo>
                    <a:pt x="11704320" y="16891"/>
                  </a:lnTo>
                  <a:lnTo>
                    <a:pt x="11721211" y="16891"/>
                  </a:lnTo>
                  <a:lnTo>
                    <a:pt x="11721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A3A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88720" y="2110359"/>
            <a:ext cx="8321040" cy="6174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&lt;Form onSubmit={handleSubmit}&gt;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&lt;Row&gt;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&lt;Col&gt;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&lt;Form.Group&gt;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&lt;Form.Label&gt;Tên sản phẩm&lt;/Form.Label&gt;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&lt;Form.Control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  type="text"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  placeholder="Nhập tên..."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  value={name}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  onChange={e =&gt; setName(e.target.value)}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/&gt;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&lt;/Form.Group&gt;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&lt;/Col&gt;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&lt;Col&gt;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&lt;Form.Group&gt;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&lt;Form.Label&gt;Đơn giá&lt;/Form.Label&gt;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&lt;Form.Control type="number" /&gt;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&lt;/Form.Group&gt;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&lt;/Col&gt;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&lt;/Row&gt;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&lt;Button type="submit" variant="primary"&gt;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Lưu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&lt;/Button&gt;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&lt;/Form&gt;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058400" y="1852555"/>
            <a:ext cx="7315200" cy="731520"/>
            <a:chOff x="0" y="0"/>
            <a:chExt cx="9753600" cy="975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97536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Alert variants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058400" y="5947732"/>
            <a:ext cx="7340603" cy="2525080"/>
            <a:chOff x="0" y="0"/>
            <a:chExt cx="9787471" cy="3366773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9787471" cy="745102"/>
              <a:chOff x="0" y="0"/>
              <a:chExt cx="9787471" cy="74510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16891" y="8408"/>
                <a:ext cx="9753600" cy="728242"/>
              </a:xfrm>
              <a:custGeom>
                <a:avLst/>
                <a:gdLst/>
                <a:ahLst/>
                <a:cxnLst/>
                <a:rect r="r" b="b" t="t" l="l"/>
                <a:pathLst>
                  <a:path h="728242" w="9753600">
                    <a:moveTo>
                      <a:pt x="0" y="0"/>
                    </a:moveTo>
                    <a:lnTo>
                      <a:pt x="9753600" y="0"/>
                    </a:lnTo>
                    <a:lnTo>
                      <a:pt x="9753600" y="728242"/>
                    </a:lnTo>
                    <a:lnTo>
                      <a:pt x="0" y="728242"/>
                    </a:lnTo>
                    <a:close/>
                  </a:path>
                </a:pathLst>
              </a:custGeom>
              <a:solidFill>
                <a:srgbClr val="E8F5E9"/>
              </a:solidFill>
            </p:spPr>
          </p:sp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9787382" cy="745057"/>
              </a:xfrm>
              <a:custGeom>
                <a:avLst/>
                <a:gdLst/>
                <a:ahLst/>
                <a:cxnLst/>
                <a:rect r="r" b="b" t="t" l="l"/>
                <a:pathLst>
                  <a:path h="745057" w="9787382">
                    <a:moveTo>
                      <a:pt x="16891" y="0"/>
                    </a:moveTo>
                    <a:lnTo>
                      <a:pt x="9770491" y="0"/>
                    </a:lnTo>
                    <a:cubicBezTo>
                      <a:pt x="9779889" y="0"/>
                      <a:pt x="9787382" y="3793"/>
                      <a:pt x="9787382" y="8408"/>
                    </a:cubicBezTo>
                    <a:lnTo>
                      <a:pt x="9787382" y="736650"/>
                    </a:lnTo>
                    <a:cubicBezTo>
                      <a:pt x="9787382" y="741328"/>
                      <a:pt x="9779762" y="745057"/>
                      <a:pt x="9770491" y="745057"/>
                    </a:cubicBezTo>
                    <a:lnTo>
                      <a:pt x="16891" y="745057"/>
                    </a:lnTo>
                    <a:cubicBezTo>
                      <a:pt x="7493" y="745057"/>
                      <a:pt x="0" y="741264"/>
                      <a:pt x="0" y="736650"/>
                    </a:cubicBezTo>
                    <a:lnTo>
                      <a:pt x="0" y="8408"/>
                    </a:lnTo>
                    <a:cubicBezTo>
                      <a:pt x="0" y="3793"/>
                      <a:pt x="7620" y="0"/>
                      <a:pt x="16891" y="0"/>
                    </a:cubicBezTo>
                    <a:moveTo>
                      <a:pt x="16891" y="16879"/>
                    </a:moveTo>
                    <a:lnTo>
                      <a:pt x="16891" y="8408"/>
                    </a:lnTo>
                    <a:lnTo>
                      <a:pt x="33909" y="8408"/>
                    </a:lnTo>
                    <a:lnTo>
                      <a:pt x="33909" y="736650"/>
                    </a:lnTo>
                    <a:lnTo>
                      <a:pt x="16891" y="736650"/>
                    </a:lnTo>
                    <a:lnTo>
                      <a:pt x="16891" y="728242"/>
                    </a:lnTo>
                    <a:lnTo>
                      <a:pt x="9770491" y="728242"/>
                    </a:lnTo>
                    <a:lnTo>
                      <a:pt x="9770491" y="736650"/>
                    </a:lnTo>
                    <a:lnTo>
                      <a:pt x="9753600" y="736650"/>
                    </a:lnTo>
                    <a:lnTo>
                      <a:pt x="9753600" y="8408"/>
                    </a:lnTo>
                    <a:lnTo>
                      <a:pt x="9770491" y="8408"/>
                    </a:lnTo>
                    <a:lnTo>
                      <a:pt x="9770491" y="16879"/>
                    </a:lnTo>
                    <a:lnTo>
                      <a:pt x="16891" y="16879"/>
                    </a:lnTo>
                    <a:close/>
                  </a:path>
                </a:pathLst>
              </a:custGeom>
              <a:solidFill>
                <a:srgbClr val="4CAF50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0"/>
              <a:ext cx="228943" cy="745102"/>
              <a:chOff x="0" y="0"/>
              <a:chExt cx="228943" cy="745102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16891" y="8408"/>
                <a:ext cx="195072" cy="728242"/>
              </a:xfrm>
              <a:custGeom>
                <a:avLst/>
                <a:gdLst/>
                <a:ahLst/>
                <a:cxnLst/>
                <a:rect r="r" b="b" t="t" l="l"/>
                <a:pathLst>
                  <a:path h="728242" w="195072">
                    <a:moveTo>
                      <a:pt x="0" y="0"/>
                    </a:moveTo>
                    <a:lnTo>
                      <a:pt x="195072" y="0"/>
                    </a:lnTo>
                    <a:lnTo>
                      <a:pt x="195072" y="728242"/>
                    </a:lnTo>
                    <a:lnTo>
                      <a:pt x="0" y="728242"/>
                    </a:lnTo>
                    <a:close/>
                  </a:path>
                </a:pathLst>
              </a:custGeom>
              <a:solidFill>
                <a:srgbClr val="4CAF50"/>
              </a:solidFill>
            </p:spPr>
          </p:sp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28854" cy="745057"/>
              </a:xfrm>
              <a:custGeom>
                <a:avLst/>
                <a:gdLst/>
                <a:ahLst/>
                <a:cxnLst/>
                <a:rect r="r" b="b" t="t" l="l"/>
                <a:pathLst>
                  <a:path h="745057" w="228854">
                    <a:moveTo>
                      <a:pt x="16891" y="0"/>
                    </a:moveTo>
                    <a:lnTo>
                      <a:pt x="211963" y="0"/>
                    </a:lnTo>
                    <a:cubicBezTo>
                      <a:pt x="221361" y="0"/>
                      <a:pt x="228854" y="3793"/>
                      <a:pt x="228854" y="8408"/>
                    </a:cubicBezTo>
                    <a:lnTo>
                      <a:pt x="228854" y="736650"/>
                    </a:lnTo>
                    <a:cubicBezTo>
                      <a:pt x="228854" y="741328"/>
                      <a:pt x="221234" y="745057"/>
                      <a:pt x="211963" y="745057"/>
                    </a:cubicBezTo>
                    <a:lnTo>
                      <a:pt x="16891" y="745057"/>
                    </a:lnTo>
                    <a:cubicBezTo>
                      <a:pt x="7493" y="745057"/>
                      <a:pt x="0" y="741264"/>
                      <a:pt x="0" y="736650"/>
                    </a:cubicBezTo>
                    <a:lnTo>
                      <a:pt x="0" y="8408"/>
                    </a:lnTo>
                    <a:cubicBezTo>
                      <a:pt x="0" y="3793"/>
                      <a:pt x="7620" y="0"/>
                      <a:pt x="16891" y="0"/>
                    </a:cubicBezTo>
                    <a:moveTo>
                      <a:pt x="16891" y="16879"/>
                    </a:moveTo>
                    <a:lnTo>
                      <a:pt x="16891" y="8408"/>
                    </a:lnTo>
                    <a:lnTo>
                      <a:pt x="33909" y="8408"/>
                    </a:lnTo>
                    <a:lnTo>
                      <a:pt x="33909" y="736650"/>
                    </a:lnTo>
                    <a:lnTo>
                      <a:pt x="16891" y="736650"/>
                    </a:lnTo>
                    <a:lnTo>
                      <a:pt x="16891" y="728242"/>
                    </a:lnTo>
                    <a:lnTo>
                      <a:pt x="211963" y="728242"/>
                    </a:lnTo>
                    <a:lnTo>
                      <a:pt x="211963" y="736650"/>
                    </a:lnTo>
                    <a:lnTo>
                      <a:pt x="195072" y="736650"/>
                    </a:lnTo>
                    <a:lnTo>
                      <a:pt x="195072" y="8408"/>
                    </a:lnTo>
                    <a:lnTo>
                      <a:pt x="211963" y="8408"/>
                    </a:lnTo>
                    <a:lnTo>
                      <a:pt x="211963" y="16879"/>
                    </a:lnTo>
                    <a:lnTo>
                      <a:pt x="16891" y="16879"/>
                    </a:lnTo>
                    <a:close/>
                  </a:path>
                </a:pathLst>
              </a:custGeom>
              <a:solidFill>
                <a:srgbClr val="4CAF50"/>
              </a:solid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382689" y="8427"/>
              <a:ext cx="9144000" cy="728242"/>
              <a:chOff x="0" y="0"/>
              <a:chExt cx="9144000" cy="72824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144000" cy="728242"/>
              </a:xfrm>
              <a:custGeom>
                <a:avLst/>
                <a:gdLst/>
                <a:ahLst/>
                <a:cxnLst/>
                <a:rect r="r" b="b" t="t" l="l"/>
                <a:pathLst>
                  <a:path h="728242" w="9144000">
                    <a:moveTo>
                      <a:pt x="0" y="0"/>
                    </a:moveTo>
                    <a:lnTo>
                      <a:pt x="9144000" y="0"/>
                    </a:lnTo>
                    <a:lnTo>
                      <a:pt x="9144000" y="728242"/>
                    </a:lnTo>
                    <a:lnTo>
                      <a:pt x="0" y="72824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44209" r="0" b="-245109"/>
                </a:stretch>
              </a:blip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47625"/>
                <a:ext cx="9144000" cy="77586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60"/>
                  </a:lnSpc>
                </a:pPr>
                <a:r>
                  <a:rPr lang="en-US" sz="2300">
                    <a:solidFill>
                      <a:srgbClr val="1A1A2E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✅  Thêm sản phẩm thành công!</a:t>
                </a: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0" y="873890"/>
              <a:ext cx="9787471" cy="745102"/>
              <a:chOff x="0" y="0"/>
              <a:chExt cx="9787471" cy="745102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16891" y="8408"/>
                <a:ext cx="9753600" cy="728242"/>
              </a:xfrm>
              <a:custGeom>
                <a:avLst/>
                <a:gdLst/>
                <a:ahLst/>
                <a:cxnLst/>
                <a:rect r="r" b="b" t="t" l="l"/>
                <a:pathLst>
                  <a:path h="728242" w="9753600">
                    <a:moveTo>
                      <a:pt x="0" y="0"/>
                    </a:moveTo>
                    <a:lnTo>
                      <a:pt x="9753600" y="0"/>
                    </a:lnTo>
                    <a:lnTo>
                      <a:pt x="9753600" y="728242"/>
                    </a:lnTo>
                    <a:lnTo>
                      <a:pt x="0" y="728242"/>
                    </a:lnTo>
                    <a:close/>
                  </a:path>
                </a:pathLst>
              </a:custGeom>
              <a:solidFill>
                <a:srgbClr val="FFEBEE"/>
              </a:solidFill>
            </p:spPr>
          </p:sp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9787382" cy="745057"/>
              </a:xfrm>
              <a:custGeom>
                <a:avLst/>
                <a:gdLst/>
                <a:ahLst/>
                <a:cxnLst/>
                <a:rect r="r" b="b" t="t" l="l"/>
                <a:pathLst>
                  <a:path h="745057" w="9787382">
                    <a:moveTo>
                      <a:pt x="16891" y="0"/>
                    </a:moveTo>
                    <a:lnTo>
                      <a:pt x="9770491" y="0"/>
                    </a:lnTo>
                    <a:cubicBezTo>
                      <a:pt x="9779889" y="0"/>
                      <a:pt x="9787382" y="3793"/>
                      <a:pt x="9787382" y="8408"/>
                    </a:cubicBezTo>
                    <a:lnTo>
                      <a:pt x="9787382" y="736650"/>
                    </a:lnTo>
                    <a:cubicBezTo>
                      <a:pt x="9787382" y="741328"/>
                      <a:pt x="9779762" y="745057"/>
                      <a:pt x="9770491" y="745057"/>
                    </a:cubicBezTo>
                    <a:lnTo>
                      <a:pt x="16891" y="745057"/>
                    </a:lnTo>
                    <a:cubicBezTo>
                      <a:pt x="7493" y="745057"/>
                      <a:pt x="0" y="741264"/>
                      <a:pt x="0" y="736650"/>
                    </a:cubicBezTo>
                    <a:lnTo>
                      <a:pt x="0" y="8408"/>
                    </a:lnTo>
                    <a:cubicBezTo>
                      <a:pt x="0" y="3793"/>
                      <a:pt x="7620" y="0"/>
                      <a:pt x="16891" y="0"/>
                    </a:cubicBezTo>
                    <a:moveTo>
                      <a:pt x="16891" y="16879"/>
                    </a:moveTo>
                    <a:lnTo>
                      <a:pt x="16891" y="8408"/>
                    </a:lnTo>
                    <a:lnTo>
                      <a:pt x="33909" y="8408"/>
                    </a:lnTo>
                    <a:lnTo>
                      <a:pt x="33909" y="736650"/>
                    </a:lnTo>
                    <a:lnTo>
                      <a:pt x="16891" y="736650"/>
                    </a:lnTo>
                    <a:lnTo>
                      <a:pt x="16891" y="728242"/>
                    </a:lnTo>
                    <a:lnTo>
                      <a:pt x="9770491" y="728242"/>
                    </a:lnTo>
                    <a:lnTo>
                      <a:pt x="9770491" y="736650"/>
                    </a:lnTo>
                    <a:lnTo>
                      <a:pt x="9753600" y="736650"/>
                    </a:lnTo>
                    <a:lnTo>
                      <a:pt x="9753600" y="8408"/>
                    </a:lnTo>
                    <a:lnTo>
                      <a:pt x="9770491" y="8408"/>
                    </a:lnTo>
                    <a:lnTo>
                      <a:pt x="9770491" y="16879"/>
                    </a:lnTo>
                    <a:lnTo>
                      <a:pt x="16891" y="16879"/>
                    </a:lnTo>
                    <a:close/>
                  </a:path>
                </a:pathLst>
              </a:custGeom>
              <a:solidFill>
                <a:srgbClr val="F44336"/>
              </a:solidFill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873890"/>
              <a:ext cx="228943" cy="745102"/>
              <a:chOff x="0" y="0"/>
              <a:chExt cx="228943" cy="745102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16891" y="8408"/>
                <a:ext cx="195072" cy="728242"/>
              </a:xfrm>
              <a:custGeom>
                <a:avLst/>
                <a:gdLst/>
                <a:ahLst/>
                <a:cxnLst/>
                <a:rect r="r" b="b" t="t" l="l"/>
                <a:pathLst>
                  <a:path h="728242" w="195072">
                    <a:moveTo>
                      <a:pt x="0" y="0"/>
                    </a:moveTo>
                    <a:lnTo>
                      <a:pt x="195072" y="0"/>
                    </a:lnTo>
                    <a:lnTo>
                      <a:pt x="195072" y="728242"/>
                    </a:lnTo>
                    <a:lnTo>
                      <a:pt x="0" y="728242"/>
                    </a:lnTo>
                    <a:close/>
                  </a:path>
                </a:pathLst>
              </a:custGeom>
              <a:solidFill>
                <a:srgbClr val="F44336"/>
              </a:solidFill>
            </p:spPr>
          </p:sp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28854" cy="745057"/>
              </a:xfrm>
              <a:custGeom>
                <a:avLst/>
                <a:gdLst/>
                <a:ahLst/>
                <a:cxnLst/>
                <a:rect r="r" b="b" t="t" l="l"/>
                <a:pathLst>
                  <a:path h="745057" w="228854">
                    <a:moveTo>
                      <a:pt x="16891" y="0"/>
                    </a:moveTo>
                    <a:lnTo>
                      <a:pt x="211963" y="0"/>
                    </a:lnTo>
                    <a:cubicBezTo>
                      <a:pt x="221361" y="0"/>
                      <a:pt x="228854" y="3793"/>
                      <a:pt x="228854" y="8408"/>
                    </a:cubicBezTo>
                    <a:lnTo>
                      <a:pt x="228854" y="736650"/>
                    </a:lnTo>
                    <a:cubicBezTo>
                      <a:pt x="228854" y="741328"/>
                      <a:pt x="221234" y="745057"/>
                      <a:pt x="211963" y="745057"/>
                    </a:cubicBezTo>
                    <a:lnTo>
                      <a:pt x="16891" y="745057"/>
                    </a:lnTo>
                    <a:cubicBezTo>
                      <a:pt x="7493" y="745057"/>
                      <a:pt x="0" y="741264"/>
                      <a:pt x="0" y="736650"/>
                    </a:cubicBezTo>
                    <a:lnTo>
                      <a:pt x="0" y="8408"/>
                    </a:lnTo>
                    <a:cubicBezTo>
                      <a:pt x="0" y="3793"/>
                      <a:pt x="7620" y="0"/>
                      <a:pt x="16891" y="0"/>
                    </a:cubicBezTo>
                    <a:moveTo>
                      <a:pt x="16891" y="16879"/>
                    </a:moveTo>
                    <a:lnTo>
                      <a:pt x="16891" y="8408"/>
                    </a:lnTo>
                    <a:lnTo>
                      <a:pt x="33909" y="8408"/>
                    </a:lnTo>
                    <a:lnTo>
                      <a:pt x="33909" y="736650"/>
                    </a:lnTo>
                    <a:lnTo>
                      <a:pt x="16891" y="736650"/>
                    </a:lnTo>
                    <a:lnTo>
                      <a:pt x="16891" y="728242"/>
                    </a:lnTo>
                    <a:lnTo>
                      <a:pt x="211963" y="728242"/>
                    </a:lnTo>
                    <a:lnTo>
                      <a:pt x="211963" y="736650"/>
                    </a:lnTo>
                    <a:lnTo>
                      <a:pt x="195072" y="736650"/>
                    </a:lnTo>
                    <a:lnTo>
                      <a:pt x="195072" y="8408"/>
                    </a:lnTo>
                    <a:lnTo>
                      <a:pt x="211963" y="8408"/>
                    </a:lnTo>
                    <a:lnTo>
                      <a:pt x="211963" y="16879"/>
                    </a:lnTo>
                    <a:lnTo>
                      <a:pt x="16891" y="16879"/>
                    </a:lnTo>
                    <a:close/>
                  </a:path>
                </a:pathLst>
              </a:custGeom>
              <a:solidFill>
                <a:srgbClr val="F44336"/>
              </a:solidFill>
            </p:spPr>
          </p:sp>
        </p:grpSp>
        <p:grpSp>
          <p:nvGrpSpPr>
            <p:cNvPr name="Group 31" id="31"/>
            <p:cNvGrpSpPr/>
            <p:nvPr/>
          </p:nvGrpSpPr>
          <p:grpSpPr>
            <a:xfrm rot="0">
              <a:off x="382689" y="882317"/>
              <a:ext cx="9144000" cy="728242"/>
              <a:chOff x="0" y="0"/>
              <a:chExt cx="9144000" cy="728242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9144000" cy="728242"/>
              </a:xfrm>
              <a:custGeom>
                <a:avLst/>
                <a:gdLst/>
                <a:ahLst/>
                <a:cxnLst/>
                <a:rect r="r" b="b" t="t" l="l"/>
                <a:pathLst>
                  <a:path h="728242" w="9144000">
                    <a:moveTo>
                      <a:pt x="0" y="0"/>
                    </a:moveTo>
                    <a:lnTo>
                      <a:pt x="9144000" y="0"/>
                    </a:lnTo>
                    <a:lnTo>
                      <a:pt x="9144000" y="728242"/>
                    </a:lnTo>
                    <a:lnTo>
                      <a:pt x="0" y="72824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44209" r="0" b="-245109"/>
                </a:stretch>
              </a:blip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47625"/>
                <a:ext cx="9144000" cy="77586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60"/>
                  </a:lnSpc>
                </a:pPr>
                <a:r>
                  <a:rPr lang="en-US" sz="2300">
                    <a:solidFill>
                      <a:srgbClr val="1A1A2E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❌  Vui lòng nhập đầy đủ thông tin!</a:t>
                </a: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1747781"/>
              <a:ext cx="9787471" cy="745102"/>
              <a:chOff x="0" y="0"/>
              <a:chExt cx="9787471" cy="745102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16891" y="8408"/>
                <a:ext cx="9753600" cy="728242"/>
              </a:xfrm>
              <a:custGeom>
                <a:avLst/>
                <a:gdLst/>
                <a:ahLst/>
                <a:cxnLst/>
                <a:rect r="r" b="b" t="t" l="l"/>
                <a:pathLst>
                  <a:path h="728242" w="9753600">
                    <a:moveTo>
                      <a:pt x="0" y="0"/>
                    </a:moveTo>
                    <a:lnTo>
                      <a:pt x="9753600" y="0"/>
                    </a:lnTo>
                    <a:lnTo>
                      <a:pt x="9753600" y="728242"/>
                    </a:lnTo>
                    <a:lnTo>
                      <a:pt x="0" y="728242"/>
                    </a:lnTo>
                    <a:close/>
                  </a:path>
                </a:pathLst>
              </a:custGeom>
              <a:solidFill>
                <a:srgbClr val="FFF8E1"/>
              </a:solidFill>
            </p:spPr>
          </p:sp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9787382" cy="745057"/>
              </a:xfrm>
              <a:custGeom>
                <a:avLst/>
                <a:gdLst/>
                <a:ahLst/>
                <a:cxnLst/>
                <a:rect r="r" b="b" t="t" l="l"/>
                <a:pathLst>
                  <a:path h="745057" w="9787382">
                    <a:moveTo>
                      <a:pt x="16891" y="0"/>
                    </a:moveTo>
                    <a:lnTo>
                      <a:pt x="9770491" y="0"/>
                    </a:lnTo>
                    <a:cubicBezTo>
                      <a:pt x="9779889" y="0"/>
                      <a:pt x="9787382" y="3793"/>
                      <a:pt x="9787382" y="8408"/>
                    </a:cubicBezTo>
                    <a:lnTo>
                      <a:pt x="9787382" y="736650"/>
                    </a:lnTo>
                    <a:cubicBezTo>
                      <a:pt x="9787382" y="741328"/>
                      <a:pt x="9779762" y="745057"/>
                      <a:pt x="9770491" y="745057"/>
                    </a:cubicBezTo>
                    <a:lnTo>
                      <a:pt x="16891" y="745057"/>
                    </a:lnTo>
                    <a:cubicBezTo>
                      <a:pt x="7493" y="745057"/>
                      <a:pt x="0" y="741264"/>
                      <a:pt x="0" y="736650"/>
                    </a:cubicBezTo>
                    <a:lnTo>
                      <a:pt x="0" y="8408"/>
                    </a:lnTo>
                    <a:cubicBezTo>
                      <a:pt x="0" y="3793"/>
                      <a:pt x="7620" y="0"/>
                      <a:pt x="16891" y="0"/>
                    </a:cubicBezTo>
                    <a:moveTo>
                      <a:pt x="16891" y="16879"/>
                    </a:moveTo>
                    <a:lnTo>
                      <a:pt x="16891" y="8408"/>
                    </a:lnTo>
                    <a:lnTo>
                      <a:pt x="33909" y="8408"/>
                    </a:lnTo>
                    <a:lnTo>
                      <a:pt x="33909" y="736650"/>
                    </a:lnTo>
                    <a:lnTo>
                      <a:pt x="16891" y="736650"/>
                    </a:lnTo>
                    <a:lnTo>
                      <a:pt x="16891" y="728242"/>
                    </a:lnTo>
                    <a:lnTo>
                      <a:pt x="9770491" y="728242"/>
                    </a:lnTo>
                    <a:lnTo>
                      <a:pt x="9770491" y="736650"/>
                    </a:lnTo>
                    <a:lnTo>
                      <a:pt x="9753600" y="736650"/>
                    </a:lnTo>
                    <a:lnTo>
                      <a:pt x="9753600" y="8408"/>
                    </a:lnTo>
                    <a:lnTo>
                      <a:pt x="9770491" y="8408"/>
                    </a:lnTo>
                    <a:lnTo>
                      <a:pt x="9770491" y="16879"/>
                    </a:lnTo>
                    <a:lnTo>
                      <a:pt x="16891" y="16879"/>
                    </a:lnTo>
                    <a:close/>
                  </a:path>
                </a:pathLst>
              </a:custGeom>
              <a:solidFill>
                <a:srgbClr val="FFC107"/>
              </a:solidFill>
            </p:spPr>
          </p:sp>
        </p:grpSp>
        <p:grpSp>
          <p:nvGrpSpPr>
            <p:cNvPr name="Group 37" id="37"/>
            <p:cNvGrpSpPr/>
            <p:nvPr/>
          </p:nvGrpSpPr>
          <p:grpSpPr>
            <a:xfrm rot="0">
              <a:off x="0" y="1747781"/>
              <a:ext cx="228943" cy="745102"/>
              <a:chOff x="0" y="0"/>
              <a:chExt cx="228943" cy="745102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16891" y="8408"/>
                <a:ext cx="195072" cy="728242"/>
              </a:xfrm>
              <a:custGeom>
                <a:avLst/>
                <a:gdLst/>
                <a:ahLst/>
                <a:cxnLst/>
                <a:rect r="r" b="b" t="t" l="l"/>
                <a:pathLst>
                  <a:path h="728242" w="195072">
                    <a:moveTo>
                      <a:pt x="0" y="0"/>
                    </a:moveTo>
                    <a:lnTo>
                      <a:pt x="195072" y="0"/>
                    </a:lnTo>
                    <a:lnTo>
                      <a:pt x="195072" y="728242"/>
                    </a:lnTo>
                    <a:lnTo>
                      <a:pt x="0" y="728242"/>
                    </a:lnTo>
                    <a:close/>
                  </a:path>
                </a:pathLst>
              </a:custGeom>
              <a:solidFill>
                <a:srgbClr val="FFC107"/>
              </a:solidFill>
            </p:spPr>
          </p:sp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228854" cy="745057"/>
              </a:xfrm>
              <a:custGeom>
                <a:avLst/>
                <a:gdLst/>
                <a:ahLst/>
                <a:cxnLst/>
                <a:rect r="r" b="b" t="t" l="l"/>
                <a:pathLst>
                  <a:path h="745057" w="228854">
                    <a:moveTo>
                      <a:pt x="16891" y="0"/>
                    </a:moveTo>
                    <a:lnTo>
                      <a:pt x="211963" y="0"/>
                    </a:lnTo>
                    <a:cubicBezTo>
                      <a:pt x="221361" y="0"/>
                      <a:pt x="228854" y="3793"/>
                      <a:pt x="228854" y="8408"/>
                    </a:cubicBezTo>
                    <a:lnTo>
                      <a:pt x="228854" y="736650"/>
                    </a:lnTo>
                    <a:cubicBezTo>
                      <a:pt x="228854" y="741328"/>
                      <a:pt x="221234" y="745057"/>
                      <a:pt x="211963" y="745057"/>
                    </a:cubicBezTo>
                    <a:lnTo>
                      <a:pt x="16891" y="745057"/>
                    </a:lnTo>
                    <a:cubicBezTo>
                      <a:pt x="7493" y="745057"/>
                      <a:pt x="0" y="741264"/>
                      <a:pt x="0" y="736650"/>
                    </a:cubicBezTo>
                    <a:lnTo>
                      <a:pt x="0" y="8408"/>
                    </a:lnTo>
                    <a:cubicBezTo>
                      <a:pt x="0" y="3793"/>
                      <a:pt x="7620" y="0"/>
                      <a:pt x="16891" y="0"/>
                    </a:cubicBezTo>
                    <a:moveTo>
                      <a:pt x="16891" y="16879"/>
                    </a:moveTo>
                    <a:lnTo>
                      <a:pt x="16891" y="8408"/>
                    </a:lnTo>
                    <a:lnTo>
                      <a:pt x="33909" y="8408"/>
                    </a:lnTo>
                    <a:lnTo>
                      <a:pt x="33909" y="736650"/>
                    </a:lnTo>
                    <a:lnTo>
                      <a:pt x="16891" y="736650"/>
                    </a:lnTo>
                    <a:lnTo>
                      <a:pt x="16891" y="728242"/>
                    </a:lnTo>
                    <a:lnTo>
                      <a:pt x="211963" y="728242"/>
                    </a:lnTo>
                    <a:lnTo>
                      <a:pt x="211963" y="736650"/>
                    </a:lnTo>
                    <a:lnTo>
                      <a:pt x="195072" y="736650"/>
                    </a:lnTo>
                    <a:lnTo>
                      <a:pt x="195072" y="8408"/>
                    </a:lnTo>
                    <a:lnTo>
                      <a:pt x="211963" y="8408"/>
                    </a:lnTo>
                    <a:lnTo>
                      <a:pt x="211963" y="16879"/>
                    </a:lnTo>
                    <a:lnTo>
                      <a:pt x="16891" y="16879"/>
                    </a:lnTo>
                    <a:close/>
                  </a:path>
                </a:pathLst>
              </a:custGeom>
              <a:solidFill>
                <a:srgbClr val="FFC107"/>
              </a:solidFill>
            </p:spPr>
          </p:sp>
        </p:grpSp>
        <p:grpSp>
          <p:nvGrpSpPr>
            <p:cNvPr name="Group 40" id="40"/>
            <p:cNvGrpSpPr/>
            <p:nvPr/>
          </p:nvGrpSpPr>
          <p:grpSpPr>
            <a:xfrm rot="0">
              <a:off x="382689" y="1756208"/>
              <a:ext cx="9144000" cy="728242"/>
              <a:chOff x="0" y="0"/>
              <a:chExt cx="9144000" cy="728242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9144000" cy="728242"/>
              </a:xfrm>
              <a:custGeom>
                <a:avLst/>
                <a:gdLst/>
                <a:ahLst/>
                <a:cxnLst/>
                <a:rect r="r" b="b" t="t" l="l"/>
                <a:pathLst>
                  <a:path h="728242" w="9144000">
                    <a:moveTo>
                      <a:pt x="0" y="0"/>
                    </a:moveTo>
                    <a:lnTo>
                      <a:pt x="9144000" y="0"/>
                    </a:lnTo>
                    <a:lnTo>
                      <a:pt x="9144000" y="728242"/>
                    </a:lnTo>
                    <a:lnTo>
                      <a:pt x="0" y="72824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44209" r="0" b="-245109"/>
                </a:stretch>
              </a:blip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47625"/>
                <a:ext cx="9144000" cy="77586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60"/>
                  </a:lnSpc>
                </a:pPr>
                <a:r>
                  <a:rPr lang="en-US" sz="2300">
                    <a:solidFill>
                      <a:srgbClr val="1A1A2E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⚠️  Đã xoá sản phẩm thành công!</a:t>
                </a: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0" y="2621671"/>
              <a:ext cx="9787471" cy="745102"/>
              <a:chOff x="0" y="0"/>
              <a:chExt cx="9787471" cy="745102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16891" y="8408"/>
                <a:ext cx="9753600" cy="728242"/>
              </a:xfrm>
              <a:custGeom>
                <a:avLst/>
                <a:gdLst/>
                <a:ahLst/>
                <a:cxnLst/>
                <a:rect r="r" b="b" t="t" l="l"/>
                <a:pathLst>
                  <a:path h="728242" w="9753600">
                    <a:moveTo>
                      <a:pt x="0" y="0"/>
                    </a:moveTo>
                    <a:lnTo>
                      <a:pt x="9753600" y="0"/>
                    </a:lnTo>
                    <a:lnTo>
                      <a:pt x="9753600" y="728242"/>
                    </a:lnTo>
                    <a:lnTo>
                      <a:pt x="0" y="728242"/>
                    </a:lnTo>
                    <a:close/>
                  </a:path>
                </a:pathLst>
              </a:custGeom>
              <a:solidFill>
                <a:srgbClr val="E3F2FD"/>
              </a:solidFill>
            </p:spPr>
          </p:sp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9787382" cy="745057"/>
              </a:xfrm>
              <a:custGeom>
                <a:avLst/>
                <a:gdLst/>
                <a:ahLst/>
                <a:cxnLst/>
                <a:rect r="r" b="b" t="t" l="l"/>
                <a:pathLst>
                  <a:path h="745057" w="9787382">
                    <a:moveTo>
                      <a:pt x="16891" y="0"/>
                    </a:moveTo>
                    <a:lnTo>
                      <a:pt x="9770491" y="0"/>
                    </a:lnTo>
                    <a:cubicBezTo>
                      <a:pt x="9779889" y="0"/>
                      <a:pt x="9787382" y="3793"/>
                      <a:pt x="9787382" y="8408"/>
                    </a:cubicBezTo>
                    <a:lnTo>
                      <a:pt x="9787382" y="736650"/>
                    </a:lnTo>
                    <a:cubicBezTo>
                      <a:pt x="9787382" y="741328"/>
                      <a:pt x="9779762" y="745057"/>
                      <a:pt x="9770491" y="745057"/>
                    </a:cubicBezTo>
                    <a:lnTo>
                      <a:pt x="16891" y="745057"/>
                    </a:lnTo>
                    <a:cubicBezTo>
                      <a:pt x="7493" y="745057"/>
                      <a:pt x="0" y="741264"/>
                      <a:pt x="0" y="736650"/>
                    </a:cubicBezTo>
                    <a:lnTo>
                      <a:pt x="0" y="8408"/>
                    </a:lnTo>
                    <a:cubicBezTo>
                      <a:pt x="0" y="3793"/>
                      <a:pt x="7620" y="0"/>
                      <a:pt x="16891" y="0"/>
                    </a:cubicBezTo>
                    <a:moveTo>
                      <a:pt x="16891" y="16879"/>
                    </a:moveTo>
                    <a:lnTo>
                      <a:pt x="16891" y="8408"/>
                    </a:lnTo>
                    <a:lnTo>
                      <a:pt x="33909" y="8408"/>
                    </a:lnTo>
                    <a:lnTo>
                      <a:pt x="33909" y="736650"/>
                    </a:lnTo>
                    <a:lnTo>
                      <a:pt x="16891" y="736650"/>
                    </a:lnTo>
                    <a:lnTo>
                      <a:pt x="16891" y="728242"/>
                    </a:lnTo>
                    <a:lnTo>
                      <a:pt x="9770491" y="728242"/>
                    </a:lnTo>
                    <a:lnTo>
                      <a:pt x="9770491" y="736650"/>
                    </a:lnTo>
                    <a:lnTo>
                      <a:pt x="9753600" y="736650"/>
                    </a:lnTo>
                    <a:lnTo>
                      <a:pt x="9753600" y="8408"/>
                    </a:lnTo>
                    <a:lnTo>
                      <a:pt x="9770491" y="8408"/>
                    </a:lnTo>
                    <a:lnTo>
                      <a:pt x="9770491" y="16879"/>
                    </a:lnTo>
                    <a:lnTo>
                      <a:pt x="16891" y="16879"/>
                    </a:lnTo>
                    <a:close/>
                  </a:path>
                </a:pathLst>
              </a:custGeom>
              <a:solidFill>
                <a:srgbClr val="2196F3"/>
              </a:solidFill>
            </p:spPr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2621671"/>
              <a:ext cx="228943" cy="745102"/>
              <a:chOff x="0" y="0"/>
              <a:chExt cx="228943" cy="745102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16891" y="8408"/>
                <a:ext cx="195072" cy="728242"/>
              </a:xfrm>
              <a:custGeom>
                <a:avLst/>
                <a:gdLst/>
                <a:ahLst/>
                <a:cxnLst/>
                <a:rect r="r" b="b" t="t" l="l"/>
                <a:pathLst>
                  <a:path h="728242" w="195072">
                    <a:moveTo>
                      <a:pt x="0" y="0"/>
                    </a:moveTo>
                    <a:lnTo>
                      <a:pt x="195072" y="0"/>
                    </a:lnTo>
                    <a:lnTo>
                      <a:pt x="195072" y="728242"/>
                    </a:lnTo>
                    <a:lnTo>
                      <a:pt x="0" y="728242"/>
                    </a:lnTo>
                    <a:close/>
                  </a:path>
                </a:pathLst>
              </a:custGeom>
              <a:solidFill>
                <a:srgbClr val="2196F3"/>
              </a:solidFill>
            </p:spPr>
          </p:sp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228854" cy="745057"/>
              </a:xfrm>
              <a:custGeom>
                <a:avLst/>
                <a:gdLst/>
                <a:ahLst/>
                <a:cxnLst/>
                <a:rect r="r" b="b" t="t" l="l"/>
                <a:pathLst>
                  <a:path h="745057" w="228854">
                    <a:moveTo>
                      <a:pt x="16891" y="0"/>
                    </a:moveTo>
                    <a:lnTo>
                      <a:pt x="211963" y="0"/>
                    </a:lnTo>
                    <a:cubicBezTo>
                      <a:pt x="221361" y="0"/>
                      <a:pt x="228854" y="3793"/>
                      <a:pt x="228854" y="8408"/>
                    </a:cubicBezTo>
                    <a:lnTo>
                      <a:pt x="228854" y="736650"/>
                    </a:lnTo>
                    <a:cubicBezTo>
                      <a:pt x="228854" y="741328"/>
                      <a:pt x="221234" y="745057"/>
                      <a:pt x="211963" y="745057"/>
                    </a:cubicBezTo>
                    <a:lnTo>
                      <a:pt x="16891" y="745057"/>
                    </a:lnTo>
                    <a:cubicBezTo>
                      <a:pt x="7493" y="745057"/>
                      <a:pt x="0" y="741264"/>
                      <a:pt x="0" y="736650"/>
                    </a:cubicBezTo>
                    <a:lnTo>
                      <a:pt x="0" y="8408"/>
                    </a:lnTo>
                    <a:cubicBezTo>
                      <a:pt x="0" y="3793"/>
                      <a:pt x="7620" y="0"/>
                      <a:pt x="16891" y="0"/>
                    </a:cubicBezTo>
                    <a:moveTo>
                      <a:pt x="16891" y="16879"/>
                    </a:moveTo>
                    <a:lnTo>
                      <a:pt x="16891" y="8408"/>
                    </a:lnTo>
                    <a:lnTo>
                      <a:pt x="33909" y="8408"/>
                    </a:lnTo>
                    <a:lnTo>
                      <a:pt x="33909" y="736650"/>
                    </a:lnTo>
                    <a:lnTo>
                      <a:pt x="16891" y="736650"/>
                    </a:lnTo>
                    <a:lnTo>
                      <a:pt x="16891" y="728242"/>
                    </a:lnTo>
                    <a:lnTo>
                      <a:pt x="211963" y="728242"/>
                    </a:lnTo>
                    <a:lnTo>
                      <a:pt x="211963" y="736650"/>
                    </a:lnTo>
                    <a:lnTo>
                      <a:pt x="195072" y="736650"/>
                    </a:lnTo>
                    <a:lnTo>
                      <a:pt x="195072" y="8408"/>
                    </a:lnTo>
                    <a:lnTo>
                      <a:pt x="211963" y="8408"/>
                    </a:lnTo>
                    <a:lnTo>
                      <a:pt x="211963" y="16879"/>
                    </a:lnTo>
                    <a:lnTo>
                      <a:pt x="16891" y="16879"/>
                    </a:lnTo>
                    <a:close/>
                  </a:path>
                </a:pathLst>
              </a:custGeom>
              <a:solidFill>
                <a:srgbClr val="2196F3"/>
              </a:solidFill>
            </p:spPr>
          </p:sp>
        </p:grpSp>
        <p:grpSp>
          <p:nvGrpSpPr>
            <p:cNvPr name="Group 49" id="49"/>
            <p:cNvGrpSpPr/>
            <p:nvPr/>
          </p:nvGrpSpPr>
          <p:grpSpPr>
            <a:xfrm rot="0">
              <a:off x="382689" y="2630098"/>
              <a:ext cx="9144000" cy="728242"/>
              <a:chOff x="0" y="0"/>
              <a:chExt cx="9144000" cy="728242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9144000" cy="728242"/>
              </a:xfrm>
              <a:custGeom>
                <a:avLst/>
                <a:gdLst/>
                <a:ahLst/>
                <a:cxnLst/>
                <a:rect r="r" b="b" t="t" l="l"/>
                <a:pathLst>
                  <a:path h="728242" w="9144000">
                    <a:moveTo>
                      <a:pt x="0" y="0"/>
                    </a:moveTo>
                    <a:lnTo>
                      <a:pt x="9144000" y="0"/>
                    </a:lnTo>
                    <a:lnTo>
                      <a:pt x="9144000" y="728242"/>
                    </a:lnTo>
                    <a:lnTo>
                      <a:pt x="0" y="72824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44209" r="0" b="-245109"/>
                </a:stretch>
              </a:blip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47625"/>
                <a:ext cx="9144000" cy="77586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60"/>
                  </a:lnSpc>
                </a:pPr>
                <a:r>
                  <a:rPr lang="en-US" sz="2300">
                    <a:solidFill>
                      <a:srgbClr val="1A1A2E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ℹ️  Phần mềm đang phát triển...</a:t>
                </a:r>
              </a:p>
            </p:txBody>
          </p:sp>
        </p:grpSp>
      </p:grpSp>
      <p:grpSp>
        <p:nvGrpSpPr>
          <p:cNvPr name="Group 52" id="52"/>
          <p:cNvGrpSpPr/>
          <p:nvPr/>
        </p:nvGrpSpPr>
        <p:grpSpPr>
          <a:xfrm rot="0">
            <a:off x="901703" y="8674103"/>
            <a:ext cx="16484603" cy="1031243"/>
            <a:chOff x="0" y="0"/>
            <a:chExt cx="21979471" cy="137499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6891" y="16891"/>
              <a:ext cx="2194559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E8F5E9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979382" cy="1374902"/>
            </a:xfrm>
            <a:custGeom>
              <a:avLst/>
              <a:gdLst/>
              <a:ahLst/>
              <a:cxnLst/>
              <a:rect r="r" b="b" t="t" l="l"/>
              <a:pathLst>
                <a:path h="1374902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1358011"/>
                  </a:lnTo>
                  <a:cubicBezTo>
                    <a:pt x="21979382" y="1367409"/>
                    <a:pt x="21971763" y="1374902"/>
                    <a:pt x="21962490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1962490" y="1341120"/>
                  </a:lnTo>
                  <a:lnTo>
                    <a:pt x="21962490" y="1358011"/>
                  </a:lnTo>
                  <a:lnTo>
                    <a:pt x="21945600" y="1358011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CAF50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188720" y="8686800"/>
            <a:ext cx="15910560" cy="1005840"/>
            <a:chOff x="0" y="0"/>
            <a:chExt cx="21214080" cy="13411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12140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8217" r="0" b="-25821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2121408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E7D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💡  Khi validate: dữ liệu hợp lệ → Alert xanh + reset form | Thiếu thông tin → Alert đỏ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032997" y="2512767"/>
            <a:ext cx="7340603" cy="3387339"/>
            <a:chOff x="0" y="0"/>
            <a:chExt cx="9787471" cy="4516452"/>
          </a:xfrm>
        </p:grpSpPr>
        <p:grpSp>
          <p:nvGrpSpPr>
            <p:cNvPr name="Group 59" id="59"/>
            <p:cNvGrpSpPr/>
            <p:nvPr/>
          </p:nvGrpSpPr>
          <p:grpSpPr>
            <a:xfrm rot="0">
              <a:off x="0" y="0"/>
              <a:ext cx="9787471" cy="2509858"/>
              <a:chOff x="0" y="0"/>
              <a:chExt cx="9787471" cy="2509858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15020" y="36688"/>
                <a:ext cx="9757352" cy="2436289"/>
              </a:xfrm>
              <a:custGeom>
                <a:avLst/>
                <a:gdLst/>
                <a:ahLst/>
                <a:cxnLst/>
                <a:rect r="r" b="b" t="t" l="l"/>
                <a:pathLst>
                  <a:path h="2436289" w="9757352">
                    <a:moveTo>
                      <a:pt x="0" y="0"/>
                    </a:moveTo>
                    <a:lnTo>
                      <a:pt x="9757352" y="0"/>
                    </a:lnTo>
                    <a:lnTo>
                      <a:pt x="9757352" y="2436289"/>
                    </a:lnTo>
                    <a:lnTo>
                      <a:pt x="0" y="2436289"/>
                    </a:lnTo>
                    <a:close/>
                  </a:path>
                </a:pathLst>
              </a:custGeom>
              <a:solidFill>
                <a:srgbClr val="F0F4FF"/>
              </a:solidFill>
            </p:spPr>
          </p:sp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9787392" cy="2509667"/>
              </a:xfrm>
              <a:custGeom>
                <a:avLst/>
                <a:gdLst/>
                <a:ahLst/>
                <a:cxnLst/>
                <a:rect r="r" b="b" t="t" l="l"/>
                <a:pathLst>
                  <a:path h="2509667" w="9787392">
                    <a:moveTo>
                      <a:pt x="15020" y="0"/>
                    </a:moveTo>
                    <a:lnTo>
                      <a:pt x="9772372" y="0"/>
                    </a:lnTo>
                    <a:cubicBezTo>
                      <a:pt x="9780729" y="0"/>
                      <a:pt x="9787392" y="16551"/>
                      <a:pt x="9787392" y="36688"/>
                    </a:cubicBezTo>
                    <a:lnTo>
                      <a:pt x="9787392" y="2472977"/>
                    </a:lnTo>
                    <a:cubicBezTo>
                      <a:pt x="9787392" y="2493390"/>
                      <a:pt x="9780616" y="2509665"/>
                      <a:pt x="9772372" y="2509665"/>
                    </a:cubicBezTo>
                    <a:lnTo>
                      <a:pt x="15020" y="2509665"/>
                    </a:lnTo>
                    <a:cubicBezTo>
                      <a:pt x="6776" y="2509896"/>
                      <a:pt x="0" y="2493390"/>
                      <a:pt x="0" y="2472977"/>
                    </a:cubicBezTo>
                    <a:lnTo>
                      <a:pt x="0" y="36688"/>
                    </a:lnTo>
                    <a:cubicBezTo>
                      <a:pt x="0" y="16551"/>
                      <a:pt x="6776" y="0"/>
                      <a:pt x="15020" y="0"/>
                    </a:cubicBezTo>
                    <a:moveTo>
                      <a:pt x="15020" y="73651"/>
                    </a:moveTo>
                    <a:lnTo>
                      <a:pt x="15020" y="36688"/>
                    </a:lnTo>
                    <a:lnTo>
                      <a:pt x="30153" y="36688"/>
                    </a:lnTo>
                    <a:lnTo>
                      <a:pt x="30153" y="2472977"/>
                    </a:lnTo>
                    <a:lnTo>
                      <a:pt x="15020" y="2472977"/>
                    </a:lnTo>
                    <a:lnTo>
                      <a:pt x="15020" y="2436289"/>
                    </a:lnTo>
                    <a:lnTo>
                      <a:pt x="9772372" y="2436289"/>
                    </a:lnTo>
                    <a:lnTo>
                      <a:pt x="9772372" y="2472977"/>
                    </a:lnTo>
                    <a:lnTo>
                      <a:pt x="9757352" y="2472977"/>
                    </a:lnTo>
                    <a:lnTo>
                      <a:pt x="9757352" y="36688"/>
                    </a:lnTo>
                    <a:lnTo>
                      <a:pt x="9772372" y="36688"/>
                    </a:lnTo>
                    <a:lnTo>
                      <a:pt x="9772372" y="73651"/>
                    </a:lnTo>
                    <a:lnTo>
                      <a:pt x="15020" y="73651"/>
                    </a:lnTo>
                    <a:close/>
                  </a:path>
                </a:pathLst>
              </a:custGeom>
              <a:solidFill>
                <a:srgbClr val="D0DAEC"/>
              </a:solidFill>
            </p:spPr>
          </p:sp>
        </p:grpSp>
        <p:grpSp>
          <p:nvGrpSpPr>
            <p:cNvPr name="Group 62" id="62"/>
            <p:cNvGrpSpPr/>
            <p:nvPr/>
          </p:nvGrpSpPr>
          <p:grpSpPr>
            <a:xfrm rot="0">
              <a:off x="340299" y="26882"/>
              <a:ext cx="3252451" cy="1781140"/>
              <a:chOff x="0" y="0"/>
              <a:chExt cx="3252451" cy="1781140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3252451" cy="1781140"/>
              </a:xfrm>
              <a:custGeom>
                <a:avLst/>
                <a:gdLst/>
                <a:ahLst/>
                <a:cxnLst/>
                <a:rect r="r" b="b" t="t" l="l"/>
                <a:pathLst>
                  <a:path h="1781140" w="3252451">
                    <a:moveTo>
                      <a:pt x="0" y="0"/>
                    </a:moveTo>
                    <a:lnTo>
                      <a:pt x="3252451" y="0"/>
                    </a:lnTo>
                    <a:lnTo>
                      <a:pt x="3252451" y="1781140"/>
                    </a:lnTo>
                    <a:lnTo>
                      <a:pt x="0" y="178114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8525" r="-12456" b="28499"/>
                </a:stretch>
              </a:blipFill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47625"/>
                <a:ext cx="3252451" cy="18287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60"/>
                  </a:lnSpc>
                </a:pPr>
                <a:r>
                  <a:rPr lang="en-US" sz="2300" b="true">
                    <a:solidFill>
                      <a:srgbClr val="0097A7"/>
                    </a:solidFill>
                    <a:latin typeface="Consolas Bold"/>
                    <a:ea typeface="Consolas Bold"/>
                    <a:cs typeface="Consolas Bold"/>
                    <a:sym typeface="Consolas Bold"/>
                  </a:rPr>
                  <a:t>Khái niệm</a:t>
                </a:r>
              </a:p>
            </p:txBody>
          </p:sp>
        </p:grpSp>
        <p:grpSp>
          <p:nvGrpSpPr>
            <p:cNvPr name="Group 65" id="65"/>
            <p:cNvGrpSpPr/>
            <p:nvPr/>
          </p:nvGrpSpPr>
          <p:grpSpPr>
            <a:xfrm rot="0">
              <a:off x="3701165" y="26882"/>
              <a:ext cx="5854411" cy="2079065"/>
              <a:chOff x="0" y="0"/>
              <a:chExt cx="5854411" cy="2079065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5854411" cy="2079066"/>
              </a:xfrm>
              <a:custGeom>
                <a:avLst/>
                <a:gdLst/>
                <a:ahLst/>
                <a:cxnLst/>
                <a:rect r="r" b="b" t="t" l="l"/>
                <a:pathLst>
                  <a:path h="2079066" w="5854411">
                    <a:moveTo>
                      <a:pt x="0" y="0"/>
                    </a:moveTo>
                    <a:lnTo>
                      <a:pt x="5854411" y="0"/>
                    </a:lnTo>
                    <a:lnTo>
                      <a:pt x="5854411" y="2079066"/>
                    </a:lnTo>
                    <a:lnTo>
                      <a:pt x="0" y="207906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4727" r="-12456" b="11322"/>
                </a:stretch>
              </a:blipFill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-47625"/>
                <a:ext cx="5854411" cy="212669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60"/>
                  </a:lnSpc>
                </a:pPr>
                <a:r>
                  <a:rPr lang="en-US" sz="2300">
                    <a:solidFill>
                      <a:srgbClr val="546E7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Mo</a:t>
                </a:r>
                <a:r>
                  <a:rPr lang="en-US" sz="2300">
                    <a:solidFill>
                      <a:srgbClr val="546E7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dal là popup hiển thị phía trên giao diện chính.</a:t>
                </a:r>
              </a:p>
            </p:txBody>
          </p:sp>
        </p:grpSp>
        <p:grpSp>
          <p:nvGrpSpPr>
            <p:cNvPr name="Group 68" id="68"/>
            <p:cNvGrpSpPr/>
            <p:nvPr/>
          </p:nvGrpSpPr>
          <p:grpSpPr>
            <a:xfrm rot="0">
              <a:off x="0" y="1808022"/>
              <a:ext cx="9787471" cy="2531929"/>
              <a:chOff x="0" y="0"/>
              <a:chExt cx="9787471" cy="2531929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15020" y="37010"/>
                <a:ext cx="9757352" cy="2457714"/>
              </a:xfrm>
              <a:custGeom>
                <a:avLst/>
                <a:gdLst/>
                <a:ahLst/>
                <a:cxnLst/>
                <a:rect r="r" b="b" t="t" l="l"/>
                <a:pathLst>
                  <a:path h="2457714" w="9757352">
                    <a:moveTo>
                      <a:pt x="0" y="0"/>
                    </a:moveTo>
                    <a:lnTo>
                      <a:pt x="9757352" y="0"/>
                    </a:lnTo>
                    <a:lnTo>
                      <a:pt x="9757352" y="2457714"/>
                    </a:lnTo>
                    <a:lnTo>
                      <a:pt x="0" y="245771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9787392" cy="2531737"/>
              </a:xfrm>
              <a:custGeom>
                <a:avLst/>
                <a:gdLst/>
                <a:ahLst/>
                <a:cxnLst/>
                <a:rect r="r" b="b" t="t" l="l"/>
                <a:pathLst>
                  <a:path h="2531737" w="9787392">
                    <a:moveTo>
                      <a:pt x="15020" y="0"/>
                    </a:moveTo>
                    <a:lnTo>
                      <a:pt x="9772372" y="0"/>
                    </a:lnTo>
                    <a:cubicBezTo>
                      <a:pt x="9780729" y="0"/>
                      <a:pt x="9787392" y="16696"/>
                      <a:pt x="9787392" y="37010"/>
                    </a:cubicBezTo>
                    <a:lnTo>
                      <a:pt x="9787392" y="2494724"/>
                    </a:lnTo>
                    <a:cubicBezTo>
                      <a:pt x="9787392" y="2515316"/>
                      <a:pt x="9780616" y="2531735"/>
                      <a:pt x="9772372" y="2531735"/>
                    </a:cubicBezTo>
                    <a:lnTo>
                      <a:pt x="15020" y="2531735"/>
                    </a:lnTo>
                    <a:cubicBezTo>
                      <a:pt x="6776" y="2531968"/>
                      <a:pt x="0" y="2515316"/>
                      <a:pt x="0" y="2494724"/>
                    </a:cubicBezTo>
                    <a:lnTo>
                      <a:pt x="0" y="37010"/>
                    </a:lnTo>
                    <a:cubicBezTo>
                      <a:pt x="0" y="16696"/>
                      <a:pt x="6776" y="0"/>
                      <a:pt x="15020" y="0"/>
                    </a:cubicBezTo>
                    <a:moveTo>
                      <a:pt x="15020" y="74299"/>
                    </a:moveTo>
                    <a:lnTo>
                      <a:pt x="15020" y="37010"/>
                    </a:lnTo>
                    <a:lnTo>
                      <a:pt x="30153" y="37010"/>
                    </a:lnTo>
                    <a:lnTo>
                      <a:pt x="30153" y="2494724"/>
                    </a:lnTo>
                    <a:lnTo>
                      <a:pt x="15020" y="2494724"/>
                    </a:lnTo>
                    <a:lnTo>
                      <a:pt x="15020" y="2457714"/>
                    </a:lnTo>
                    <a:lnTo>
                      <a:pt x="9772372" y="2457714"/>
                    </a:lnTo>
                    <a:lnTo>
                      <a:pt x="9772372" y="2494724"/>
                    </a:lnTo>
                    <a:lnTo>
                      <a:pt x="9757352" y="2494724"/>
                    </a:lnTo>
                    <a:lnTo>
                      <a:pt x="9757352" y="37010"/>
                    </a:lnTo>
                    <a:lnTo>
                      <a:pt x="9772372" y="37010"/>
                    </a:lnTo>
                    <a:lnTo>
                      <a:pt x="9772372" y="74299"/>
                    </a:lnTo>
                    <a:lnTo>
                      <a:pt x="15020" y="74299"/>
                    </a:lnTo>
                    <a:close/>
                  </a:path>
                </a:pathLst>
              </a:custGeom>
              <a:solidFill>
                <a:srgbClr val="D0DAEC"/>
              </a:solidFill>
            </p:spPr>
          </p:sp>
        </p:grpSp>
        <p:grpSp>
          <p:nvGrpSpPr>
            <p:cNvPr name="Group 71" id="71"/>
            <p:cNvGrpSpPr/>
            <p:nvPr/>
          </p:nvGrpSpPr>
          <p:grpSpPr>
            <a:xfrm rot="0">
              <a:off x="340299" y="2079065"/>
              <a:ext cx="3252451" cy="1781140"/>
              <a:chOff x="0" y="0"/>
              <a:chExt cx="3252451" cy="1781140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3252451" cy="1781140"/>
              </a:xfrm>
              <a:custGeom>
                <a:avLst/>
                <a:gdLst/>
                <a:ahLst/>
                <a:cxnLst/>
                <a:rect r="r" b="b" t="t" l="l"/>
                <a:pathLst>
                  <a:path h="1781140" w="3252451">
                    <a:moveTo>
                      <a:pt x="0" y="0"/>
                    </a:moveTo>
                    <a:lnTo>
                      <a:pt x="3252451" y="0"/>
                    </a:lnTo>
                    <a:lnTo>
                      <a:pt x="3252451" y="1781140"/>
                    </a:lnTo>
                    <a:lnTo>
                      <a:pt x="0" y="178114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8525" r="-12456" b="28499"/>
                </a:stretch>
              </a:blipFill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0" y="-47625"/>
                <a:ext cx="3252451" cy="18287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60"/>
                  </a:lnSpc>
                </a:pPr>
                <a:r>
                  <a:rPr lang="en-US" sz="2300" b="true">
                    <a:solidFill>
                      <a:srgbClr val="0097A7"/>
                    </a:solidFill>
                    <a:latin typeface="Consolas Bold"/>
                    <a:ea typeface="Consolas Bold"/>
                    <a:cs typeface="Consolas Bold"/>
                    <a:sym typeface="Consolas Bold"/>
                  </a:rPr>
                  <a:t>Mục đích</a:t>
                </a:r>
              </a:p>
            </p:txBody>
          </p:sp>
        </p:grpSp>
        <p:grpSp>
          <p:nvGrpSpPr>
            <p:cNvPr name="Group 74" id="74"/>
            <p:cNvGrpSpPr/>
            <p:nvPr/>
          </p:nvGrpSpPr>
          <p:grpSpPr>
            <a:xfrm rot="0">
              <a:off x="3716235" y="1993665"/>
              <a:ext cx="5854411" cy="2522788"/>
              <a:chOff x="0" y="0"/>
              <a:chExt cx="5854411" cy="2522788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5854411" cy="2522788"/>
              </a:xfrm>
              <a:custGeom>
                <a:avLst/>
                <a:gdLst/>
                <a:ahLst/>
                <a:cxnLst/>
                <a:rect r="r" b="b" t="t" l="l"/>
                <a:pathLst>
                  <a:path h="2522788" w="5854411">
                    <a:moveTo>
                      <a:pt x="0" y="0"/>
                    </a:moveTo>
                    <a:lnTo>
                      <a:pt x="5854411" y="0"/>
                    </a:lnTo>
                    <a:lnTo>
                      <a:pt x="5854411" y="2522788"/>
                    </a:lnTo>
                    <a:lnTo>
                      <a:pt x="0" y="252278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28619" r="-12456" b="26919"/>
                </a:stretch>
              </a:blipFill>
            </p:spPr>
          </p:sp>
          <p:sp>
            <p:nvSpPr>
              <p:cNvPr name="TextBox 76" id="76"/>
              <p:cNvSpPr txBox="true"/>
              <p:nvPr/>
            </p:nvSpPr>
            <p:spPr>
              <a:xfrm>
                <a:off x="0" y="-47625"/>
                <a:ext cx="5854411" cy="257041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 marL="496571" indent="-248285" lvl="1">
                  <a:lnSpc>
                    <a:spcPts val="2760"/>
                  </a:lnSpc>
                  <a:buFont typeface="Arial"/>
                  <a:buChar char="•"/>
                </a:pPr>
                <a:r>
                  <a:rPr lang="en-US" sz="2300">
                    <a:solidFill>
                      <a:srgbClr val="546E7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Xác nhận x</a:t>
                </a:r>
                <a:r>
                  <a:rPr lang="en-US" sz="2300">
                    <a:solidFill>
                      <a:srgbClr val="546E7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oá dữ liệu</a:t>
                </a:r>
              </a:p>
              <a:p>
                <a:pPr algn="l" marL="496571" indent="-248285" lvl="1">
                  <a:lnSpc>
                    <a:spcPts val="2760"/>
                  </a:lnSpc>
                  <a:buFont typeface="Arial"/>
                  <a:buChar char="•"/>
                </a:pPr>
                <a:r>
                  <a:rPr lang="en-US" sz="2300">
                    <a:solidFill>
                      <a:srgbClr val="546E7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Chỉnh sửa thông tin</a:t>
                </a:r>
              </a:p>
              <a:p>
                <a:pPr algn="l" marL="496571" indent="-248285" lvl="1">
                  <a:lnSpc>
                    <a:spcPts val="2760"/>
                  </a:lnSpc>
                  <a:buFont typeface="Arial"/>
                  <a:buChar char="•"/>
                </a:pPr>
                <a:r>
                  <a:rPr lang="en-US" sz="2300">
                    <a:solidFill>
                      <a:srgbClr val="546E7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Hiển thị </a:t>
                </a:r>
                <a:r>
                  <a:rPr lang="en-US" sz="2300">
                    <a:solidFill>
                      <a:srgbClr val="546E7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thông báo quan trọng</a:t>
                </a:r>
              </a:p>
              <a:p>
                <a:pPr algn="l">
                  <a:lnSpc>
                    <a:spcPts val="2760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42687" y="524662"/>
            <a:ext cx="9847633" cy="1123801"/>
            <a:chOff x="0" y="0"/>
            <a:chExt cx="13130178" cy="1498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30178" cy="1498402"/>
            </a:xfrm>
            <a:custGeom>
              <a:avLst/>
              <a:gdLst/>
              <a:ahLst/>
              <a:cxnLst/>
              <a:rect r="r" b="b" t="t" l="l"/>
              <a:pathLst>
                <a:path h="1498402" w="13130178">
                  <a:moveTo>
                    <a:pt x="0" y="0"/>
                  </a:moveTo>
                  <a:lnTo>
                    <a:pt x="13130178" y="0"/>
                  </a:lnTo>
                  <a:lnTo>
                    <a:pt x="13130178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6557" r="-67138" b="-2341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3130178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04 - Mini-App: Quản lý Sản phẩm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724663"/>
            <a:ext cx="16484603" cy="80267"/>
            <a:chOff x="0" y="0"/>
            <a:chExt cx="21979471" cy="1070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1945599" cy="73152"/>
            </a:xfrm>
            <a:custGeom>
              <a:avLst/>
              <a:gdLst/>
              <a:ahLst/>
              <a:cxnLst/>
              <a:rect r="r" b="b" t="t" l="l"/>
              <a:pathLst>
                <a:path h="73152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E3E8F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79382" cy="106936"/>
            </a:xfrm>
            <a:custGeom>
              <a:avLst/>
              <a:gdLst/>
              <a:ahLst/>
              <a:cxnLst/>
              <a:rect r="r" b="b" t="t" l="l"/>
              <a:pathLst>
                <a:path h="106936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90043"/>
                  </a:lnTo>
                  <a:cubicBezTo>
                    <a:pt x="21979382" y="99441"/>
                    <a:pt x="21971763" y="106934"/>
                    <a:pt x="2196249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21962490" y="73152"/>
                  </a:lnTo>
                  <a:lnTo>
                    <a:pt x="21962490" y="90043"/>
                  </a:lnTo>
                  <a:lnTo>
                    <a:pt x="21945600" y="9004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3E8F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01703" y="1998983"/>
            <a:ext cx="9169403" cy="1159259"/>
            <a:chOff x="0" y="0"/>
            <a:chExt cx="12225871" cy="15456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21920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0F4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225782" cy="1545590"/>
            </a:xfrm>
            <a:custGeom>
              <a:avLst/>
              <a:gdLst/>
              <a:ahLst/>
              <a:cxnLst/>
              <a:rect r="r" b="b" t="t" l="l"/>
              <a:pathLst>
                <a:path h="1545590" w="12225782">
                  <a:moveTo>
                    <a:pt x="16891" y="0"/>
                  </a:moveTo>
                  <a:lnTo>
                    <a:pt x="12208891" y="0"/>
                  </a:lnTo>
                  <a:cubicBezTo>
                    <a:pt x="12218289" y="0"/>
                    <a:pt x="12225782" y="7620"/>
                    <a:pt x="12225782" y="16891"/>
                  </a:cubicBezTo>
                  <a:lnTo>
                    <a:pt x="12225782" y="1528699"/>
                  </a:lnTo>
                  <a:cubicBezTo>
                    <a:pt x="12225782" y="1538097"/>
                    <a:pt x="12218162" y="1545590"/>
                    <a:pt x="1220889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2208891" y="1511808"/>
                  </a:lnTo>
                  <a:lnTo>
                    <a:pt x="12208891" y="1528699"/>
                  </a:lnTo>
                  <a:lnTo>
                    <a:pt x="12192000" y="1528699"/>
                  </a:lnTo>
                  <a:lnTo>
                    <a:pt x="12192000" y="16891"/>
                  </a:lnTo>
                  <a:lnTo>
                    <a:pt x="12208891" y="16891"/>
                  </a:lnTo>
                  <a:lnTo>
                    <a:pt x="12208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AE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88720" y="2011680"/>
            <a:ext cx="4572000" cy="1133856"/>
            <a:chOff x="0" y="0"/>
            <a:chExt cx="6096000" cy="15118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0960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568" r="0" b="-2856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609600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Xem danh sách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839463" y="2236727"/>
            <a:ext cx="3865883" cy="647195"/>
            <a:chOff x="0" y="0"/>
            <a:chExt cx="5154511" cy="86292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5120767" cy="829056"/>
            </a:xfrm>
            <a:custGeom>
              <a:avLst/>
              <a:gdLst/>
              <a:ahLst/>
              <a:cxnLst/>
              <a:rect r="r" b="b" t="t" l="l"/>
              <a:pathLst>
                <a:path h="829056" w="5120767">
                  <a:moveTo>
                    <a:pt x="0" y="121920"/>
                  </a:moveTo>
                  <a:cubicBezTo>
                    <a:pt x="0" y="54610"/>
                    <a:pt x="56388" y="0"/>
                    <a:pt x="126111" y="0"/>
                  </a:cubicBezTo>
                  <a:lnTo>
                    <a:pt x="4994656" y="0"/>
                  </a:lnTo>
                  <a:cubicBezTo>
                    <a:pt x="5064252" y="0"/>
                    <a:pt x="5120767" y="54610"/>
                    <a:pt x="5120767" y="121920"/>
                  </a:cubicBezTo>
                  <a:lnTo>
                    <a:pt x="5120767" y="707136"/>
                  </a:lnTo>
                  <a:cubicBezTo>
                    <a:pt x="5120767" y="774446"/>
                    <a:pt x="5064379" y="829056"/>
                    <a:pt x="4994656" y="829056"/>
                  </a:cubicBezTo>
                  <a:lnTo>
                    <a:pt x="126111" y="829056"/>
                  </a:lnTo>
                  <a:cubicBezTo>
                    <a:pt x="56515" y="829056"/>
                    <a:pt x="0" y="774446"/>
                    <a:pt x="0" y="707136"/>
                  </a:cubicBezTo>
                  <a:close/>
                </a:path>
              </a:pathLst>
            </a:custGeom>
            <a:solidFill>
              <a:srgbClr val="E3F2FD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54549" cy="862838"/>
            </a:xfrm>
            <a:custGeom>
              <a:avLst/>
              <a:gdLst/>
              <a:ahLst/>
              <a:cxnLst/>
              <a:rect r="r" b="b" t="t" l="l"/>
              <a:pathLst>
                <a:path h="862838" w="5154549">
                  <a:moveTo>
                    <a:pt x="0" y="138811"/>
                  </a:moveTo>
                  <a:cubicBezTo>
                    <a:pt x="0" y="61595"/>
                    <a:pt x="64516" y="0"/>
                    <a:pt x="143002" y="0"/>
                  </a:cubicBezTo>
                  <a:lnTo>
                    <a:pt x="5011547" y="0"/>
                  </a:lnTo>
                  <a:lnTo>
                    <a:pt x="5011547" y="16891"/>
                  </a:lnTo>
                  <a:lnTo>
                    <a:pt x="5011547" y="0"/>
                  </a:lnTo>
                  <a:cubicBezTo>
                    <a:pt x="5090033" y="0"/>
                    <a:pt x="5154549" y="61595"/>
                    <a:pt x="5154549" y="138811"/>
                  </a:cubicBezTo>
                  <a:lnTo>
                    <a:pt x="5137658" y="138811"/>
                  </a:lnTo>
                  <a:lnTo>
                    <a:pt x="5154549" y="138811"/>
                  </a:lnTo>
                  <a:lnTo>
                    <a:pt x="5154549" y="724027"/>
                  </a:lnTo>
                  <a:lnTo>
                    <a:pt x="5137658" y="724027"/>
                  </a:lnTo>
                  <a:lnTo>
                    <a:pt x="5154549" y="724027"/>
                  </a:lnTo>
                  <a:cubicBezTo>
                    <a:pt x="5154549" y="801243"/>
                    <a:pt x="5090033" y="862838"/>
                    <a:pt x="5011547" y="862838"/>
                  </a:cubicBezTo>
                  <a:lnTo>
                    <a:pt x="5011547" y="845947"/>
                  </a:lnTo>
                  <a:lnTo>
                    <a:pt x="5011547" y="862838"/>
                  </a:lnTo>
                  <a:lnTo>
                    <a:pt x="143002" y="862838"/>
                  </a:lnTo>
                  <a:lnTo>
                    <a:pt x="143002" y="845947"/>
                  </a:lnTo>
                  <a:lnTo>
                    <a:pt x="143002" y="862838"/>
                  </a:lnTo>
                  <a:cubicBezTo>
                    <a:pt x="64516" y="862965"/>
                    <a:pt x="0" y="801243"/>
                    <a:pt x="0" y="724027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724027"/>
                  </a:lnTo>
                  <a:lnTo>
                    <a:pt x="16891" y="724027"/>
                  </a:lnTo>
                  <a:lnTo>
                    <a:pt x="33909" y="724027"/>
                  </a:lnTo>
                  <a:cubicBezTo>
                    <a:pt x="33909" y="781431"/>
                    <a:pt x="82169" y="829056"/>
                    <a:pt x="143002" y="829056"/>
                  </a:cubicBezTo>
                  <a:lnTo>
                    <a:pt x="5011547" y="829056"/>
                  </a:lnTo>
                  <a:cubicBezTo>
                    <a:pt x="5072380" y="829056"/>
                    <a:pt x="5120640" y="781558"/>
                    <a:pt x="5120640" y="724027"/>
                  </a:cubicBezTo>
                  <a:lnTo>
                    <a:pt x="5120640" y="138811"/>
                  </a:lnTo>
                  <a:cubicBezTo>
                    <a:pt x="5120640" y="81407"/>
                    <a:pt x="5072380" y="33782"/>
                    <a:pt x="5011547" y="33782"/>
                  </a:cubicBezTo>
                  <a:lnTo>
                    <a:pt x="143002" y="33782"/>
                  </a:lnTo>
                  <a:lnTo>
                    <a:pt x="143002" y="16891"/>
                  </a:lnTo>
                  <a:lnTo>
                    <a:pt x="143002" y="33909"/>
                  </a:lnTo>
                  <a:cubicBezTo>
                    <a:pt x="82169" y="33909"/>
                    <a:pt x="33909" y="81407"/>
                    <a:pt x="33909" y="138938"/>
                  </a:cubicBezTo>
                  <a:close/>
                </a:path>
              </a:pathLst>
            </a:custGeom>
            <a:solidFill>
              <a:srgbClr val="90CAF9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852160" y="2249424"/>
            <a:ext cx="3840480" cy="621792"/>
            <a:chOff x="0" y="0"/>
            <a:chExt cx="5120640" cy="8290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20640" cy="829056"/>
            </a:xfrm>
            <a:custGeom>
              <a:avLst/>
              <a:gdLst/>
              <a:ahLst/>
              <a:cxnLst/>
              <a:rect r="r" b="b" t="t" l="l"/>
              <a:pathLst>
                <a:path h="82905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348" r="0" b="-7034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512064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1565C0"/>
                  </a:solidFill>
                  <a:latin typeface="Consolas"/>
                  <a:ea typeface="Consolas"/>
                  <a:cs typeface="Consolas"/>
                  <a:sym typeface="Consolas"/>
                </a:rPr>
                <a:t>&lt;Table&gt;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01703" y="3334007"/>
            <a:ext cx="9169403" cy="1159259"/>
            <a:chOff x="0" y="0"/>
            <a:chExt cx="12225871" cy="154567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21920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225782" cy="1545590"/>
            </a:xfrm>
            <a:custGeom>
              <a:avLst/>
              <a:gdLst/>
              <a:ahLst/>
              <a:cxnLst/>
              <a:rect r="r" b="b" t="t" l="l"/>
              <a:pathLst>
                <a:path h="1545590" w="12225782">
                  <a:moveTo>
                    <a:pt x="16891" y="0"/>
                  </a:moveTo>
                  <a:lnTo>
                    <a:pt x="12208891" y="0"/>
                  </a:lnTo>
                  <a:cubicBezTo>
                    <a:pt x="12218289" y="0"/>
                    <a:pt x="12225782" y="7620"/>
                    <a:pt x="12225782" y="16891"/>
                  </a:cubicBezTo>
                  <a:lnTo>
                    <a:pt x="12225782" y="1528699"/>
                  </a:lnTo>
                  <a:cubicBezTo>
                    <a:pt x="12225782" y="1538097"/>
                    <a:pt x="12218162" y="1545590"/>
                    <a:pt x="1220889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2208891" y="1511808"/>
                  </a:lnTo>
                  <a:lnTo>
                    <a:pt x="12208891" y="1528699"/>
                  </a:lnTo>
                  <a:lnTo>
                    <a:pt x="12192000" y="1528699"/>
                  </a:lnTo>
                  <a:lnTo>
                    <a:pt x="12192000" y="16891"/>
                  </a:lnTo>
                  <a:lnTo>
                    <a:pt x="12208891" y="16891"/>
                  </a:lnTo>
                  <a:lnTo>
                    <a:pt x="12208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AEC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88720" y="3346704"/>
            <a:ext cx="4572000" cy="1133856"/>
            <a:chOff x="0" y="0"/>
            <a:chExt cx="6096000" cy="151180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0960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568" r="0" b="-2856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609600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Thêm sản phẩm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839463" y="3571751"/>
            <a:ext cx="3865883" cy="647195"/>
            <a:chOff x="0" y="0"/>
            <a:chExt cx="5154511" cy="86292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5120767" cy="829056"/>
            </a:xfrm>
            <a:custGeom>
              <a:avLst/>
              <a:gdLst/>
              <a:ahLst/>
              <a:cxnLst/>
              <a:rect r="r" b="b" t="t" l="l"/>
              <a:pathLst>
                <a:path h="829056" w="5120767">
                  <a:moveTo>
                    <a:pt x="0" y="121920"/>
                  </a:moveTo>
                  <a:cubicBezTo>
                    <a:pt x="0" y="54610"/>
                    <a:pt x="56388" y="0"/>
                    <a:pt x="126111" y="0"/>
                  </a:cubicBezTo>
                  <a:lnTo>
                    <a:pt x="4994656" y="0"/>
                  </a:lnTo>
                  <a:cubicBezTo>
                    <a:pt x="5064252" y="0"/>
                    <a:pt x="5120767" y="54610"/>
                    <a:pt x="5120767" y="121920"/>
                  </a:cubicBezTo>
                  <a:lnTo>
                    <a:pt x="5120767" y="707136"/>
                  </a:lnTo>
                  <a:cubicBezTo>
                    <a:pt x="5120767" y="774446"/>
                    <a:pt x="5064379" y="829056"/>
                    <a:pt x="4994656" y="829056"/>
                  </a:cubicBezTo>
                  <a:lnTo>
                    <a:pt x="126111" y="829056"/>
                  </a:lnTo>
                  <a:cubicBezTo>
                    <a:pt x="56515" y="829056"/>
                    <a:pt x="0" y="774446"/>
                    <a:pt x="0" y="707136"/>
                  </a:cubicBezTo>
                  <a:close/>
                </a:path>
              </a:pathLst>
            </a:custGeom>
            <a:solidFill>
              <a:srgbClr val="E3F2FD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54549" cy="862838"/>
            </a:xfrm>
            <a:custGeom>
              <a:avLst/>
              <a:gdLst/>
              <a:ahLst/>
              <a:cxnLst/>
              <a:rect r="r" b="b" t="t" l="l"/>
              <a:pathLst>
                <a:path h="862838" w="5154549">
                  <a:moveTo>
                    <a:pt x="0" y="138811"/>
                  </a:moveTo>
                  <a:cubicBezTo>
                    <a:pt x="0" y="61595"/>
                    <a:pt x="64516" y="0"/>
                    <a:pt x="143002" y="0"/>
                  </a:cubicBezTo>
                  <a:lnTo>
                    <a:pt x="5011547" y="0"/>
                  </a:lnTo>
                  <a:lnTo>
                    <a:pt x="5011547" y="16891"/>
                  </a:lnTo>
                  <a:lnTo>
                    <a:pt x="5011547" y="0"/>
                  </a:lnTo>
                  <a:cubicBezTo>
                    <a:pt x="5090033" y="0"/>
                    <a:pt x="5154549" y="61595"/>
                    <a:pt x="5154549" y="138811"/>
                  </a:cubicBezTo>
                  <a:lnTo>
                    <a:pt x="5137658" y="138811"/>
                  </a:lnTo>
                  <a:lnTo>
                    <a:pt x="5154549" y="138811"/>
                  </a:lnTo>
                  <a:lnTo>
                    <a:pt x="5154549" y="724027"/>
                  </a:lnTo>
                  <a:lnTo>
                    <a:pt x="5137658" y="724027"/>
                  </a:lnTo>
                  <a:lnTo>
                    <a:pt x="5154549" y="724027"/>
                  </a:lnTo>
                  <a:cubicBezTo>
                    <a:pt x="5154549" y="801243"/>
                    <a:pt x="5090033" y="862838"/>
                    <a:pt x="5011547" y="862838"/>
                  </a:cubicBezTo>
                  <a:lnTo>
                    <a:pt x="5011547" y="845947"/>
                  </a:lnTo>
                  <a:lnTo>
                    <a:pt x="5011547" y="862838"/>
                  </a:lnTo>
                  <a:lnTo>
                    <a:pt x="143002" y="862838"/>
                  </a:lnTo>
                  <a:lnTo>
                    <a:pt x="143002" y="845947"/>
                  </a:lnTo>
                  <a:lnTo>
                    <a:pt x="143002" y="862838"/>
                  </a:lnTo>
                  <a:cubicBezTo>
                    <a:pt x="64516" y="862965"/>
                    <a:pt x="0" y="801243"/>
                    <a:pt x="0" y="724027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724027"/>
                  </a:lnTo>
                  <a:lnTo>
                    <a:pt x="16891" y="724027"/>
                  </a:lnTo>
                  <a:lnTo>
                    <a:pt x="33909" y="724027"/>
                  </a:lnTo>
                  <a:cubicBezTo>
                    <a:pt x="33909" y="781431"/>
                    <a:pt x="82169" y="829056"/>
                    <a:pt x="143002" y="829056"/>
                  </a:cubicBezTo>
                  <a:lnTo>
                    <a:pt x="5011547" y="829056"/>
                  </a:lnTo>
                  <a:cubicBezTo>
                    <a:pt x="5072380" y="829056"/>
                    <a:pt x="5120640" y="781558"/>
                    <a:pt x="5120640" y="724027"/>
                  </a:cubicBezTo>
                  <a:lnTo>
                    <a:pt x="5120640" y="138811"/>
                  </a:lnTo>
                  <a:cubicBezTo>
                    <a:pt x="5120640" y="81407"/>
                    <a:pt x="5072380" y="33782"/>
                    <a:pt x="5011547" y="33782"/>
                  </a:cubicBezTo>
                  <a:lnTo>
                    <a:pt x="143002" y="33782"/>
                  </a:lnTo>
                  <a:lnTo>
                    <a:pt x="143002" y="16891"/>
                  </a:lnTo>
                  <a:lnTo>
                    <a:pt x="143002" y="33909"/>
                  </a:lnTo>
                  <a:cubicBezTo>
                    <a:pt x="82169" y="33909"/>
                    <a:pt x="33909" y="81407"/>
                    <a:pt x="33909" y="138938"/>
                  </a:cubicBezTo>
                  <a:close/>
                </a:path>
              </a:pathLst>
            </a:custGeom>
            <a:solidFill>
              <a:srgbClr val="90CAF9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852160" y="3584448"/>
            <a:ext cx="3840480" cy="621792"/>
            <a:chOff x="0" y="0"/>
            <a:chExt cx="5120640" cy="8290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20640" cy="829056"/>
            </a:xfrm>
            <a:custGeom>
              <a:avLst/>
              <a:gdLst/>
              <a:ahLst/>
              <a:cxnLst/>
              <a:rect r="r" b="b" t="t" l="l"/>
              <a:pathLst>
                <a:path h="82905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348" r="0" b="-7034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512064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1565C0"/>
                  </a:solidFill>
                  <a:latin typeface="Consolas"/>
                  <a:ea typeface="Consolas"/>
                  <a:cs typeface="Consolas"/>
                  <a:sym typeface="Consolas"/>
                </a:rPr>
                <a:t>&lt;Form&gt; + &lt;Button&gt;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01703" y="4669031"/>
            <a:ext cx="9169403" cy="1159259"/>
            <a:chOff x="0" y="0"/>
            <a:chExt cx="12225871" cy="154567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21920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0F4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225782" cy="1545590"/>
            </a:xfrm>
            <a:custGeom>
              <a:avLst/>
              <a:gdLst/>
              <a:ahLst/>
              <a:cxnLst/>
              <a:rect r="r" b="b" t="t" l="l"/>
              <a:pathLst>
                <a:path h="1545590" w="12225782">
                  <a:moveTo>
                    <a:pt x="16891" y="0"/>
                  </a:moveTo>
                  <a:lnTo>
                    <a:pt x="12208891" y="0"/>
                  </a:lnTo>
                  <a:cubicBezTo>
                    <a:pt x="12218289" y="0"/>
                    <a:pt x="12225782" y="7620"/>
                    <a:pt x="12225782" y="16891"/>
                  </a:cubicBezTo>
                  <a:lnTo>
                    <a:pt x="12225782" y="1528699"/>
                  </a:lnTo>
                  <a:cubicBezTo>
                    <a:pt x="12225782" y="1538097"/>
                    <a:pt x="12218162" y="1545590"/>
                    <a:pt x="1220889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2208891" y="1511808"/>
                  </a:lnTo>
                  <a:lnTo>
                    <a:pt x="12208891" y="1528699"/>
                  </a:lnTo>
                  <a:lnTo>
                    <a:pt x="12192000" y="1528699"/>
                  </a:lnTo>
                  <a:lnTo>
                    <a:pt x="12192000" y="16891"/>
                  </a:lnTo>
                  <a:lnTo>
                    <a:pt x="12208891" y="16891"/>
                  </a:lnTo>
                  <a:lnTo>
                    <a:pt x="12208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AEC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88720" y="4681728"/>
            <a:ext cx="4572000" cy="1133856"/>
            <a:chOff x="0" y="0"/>
            <a:chExt cx="6096000" cy="151180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0960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568" r="0" b="-2856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609600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Sửa sản phẩm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839463" y="4906775"/>
            <a:ext cx="3865883" cy="647195"/>
            <a:chOff x="0" y="0"/>
            <a:chExt cx="5154511" cy="86292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5120767" cy="829056"/>
            </a:xfrm>
            <a:custGeom>
              <a:avLst/>
              <a:gdLst/>
              <a:ahLst/>
              <a:cxnLst/>
              <a:rect r="r" b="b" t="t" l="l"/>
              <a:pathLst>
                <a:path h="829056" w="5120767">
                  <a:moveTo>
                    <a:pt x="0" y="121920"/>
                  </a:moveTo>
                  <a:cubicBezTo>
                    <a:pt x="0" y="54610"/>
                    <a:pt x="56388" y="0"/>
                    <a:pt x="126111" y="0"/>
                  </a:cubicBezTo>
                  <a:lnTo>
                    <a:pt x="4994656" y="0"/>
                  </a:lnTo>
                  <a:cubicBezTo>
                    <a:pt x="5064252" y="0"/>
                    <a:pt x="5120767" y="54610"/>
                    <a:pt x="5120767" y="121920"/>
                  </a:cubicBezTo>
                  <a:lnTo>
                    <a:pt x="5120767" y="707136"/>
                  </a:lnTo>
                  <a:cubicBezTo>
                    <a:pt x="5120767" y="774446"/>
                    <a:pt x="5064379" y="829056"/>
                    <a:pt x="4994656" y="829056"/>
                  </a:cubicBezTo>
                  <a:lnTo>
                    <a:pt x="126111" y="829056"/>
                  </a:lnTo>
                  <a:cubicBezTo>
                    <a:pt x="56515" y="829056"/>
                    <a:pt x="0" y="774446"/>
                    <a:pt x="0" y="707136"/>
                  </a:cubicBezTo>
                  <a:close/>
                </a:path>
              </a:pathLst>
            </a:custGeom>
            <a:solidFill>
              <a:srgbClr val="E3F2FD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154549" cy="862838"/>
            </a:xfrm>
            <a:custGeom>
              <a:avLst/>
              <a:gdLst/>
              <a:ahLst/>
              <a:cxnLst/>
              <a:rect r="r" b="b" t="t" l="l"/>
              <a:pathLst>
                <a:path h="862838" w="5154549">
                  <a:moveTo>
                    <a:pt x="0" y="138811"/>
                  </a:moveTo>
                  <a:cubicBezTo>
                    <a:pt x="0" y="61595"/>
                    <a:pt x="64516" y="0"/>
                    <a:pt x="143002" y="0"/>
                  </a:cubicBezTo>
                  <a:lnTo>
                    <a:pt x="5011547" y="0"/>
                  </a:lnTo>
                  <a:lnTo>
                    <a:pt x="5011547" y="16891"/>
                  </a:lnTo>
                  <a:lnTo>
                    <a:pt x="5011547" y="0"/>
                  </a:lnTo>
                  <a:cubicBezTo>
                    <a:pt x="5090033" y="0"/>
                    <a:pt x="5154549" y="61595"/>
                    <a:pt x="5154549" y="138811"/>
                  </a:cubicBezTo>
                  <a:lnTo>
                    <a:pt x="5137658" y="138811"/>
                  </a:lnTo>
                  <a:lnTo>
                    <a:pt x="5154549" y="138811"/>
                  </a:lnTo>
                  <a:lnTo>
                    <a:pt x="5154549" y="724027"/>
                  </a:lnTo>
                  <a:lnTo>
                    <a:pt x="5137658" y="724027"/>
                  </a:lnTo>
                  <a:lnTo>
                    <a:pt x="5154549" y="724027"/>
                  </a:lnTo>
                  <a:cubicBezTo>
                    <a:pt x="5154549" y="801243"/>
                    <a:pt x="5090033" y="862838"/>
                    <a:pt x="5011547" y="862838"/>
                  </a:cubicBezTo>
                  <a:lnTo>
                    <a:pt x="5011547" y="845947"/>
                  </a:lnTo>
                  <a:lnTo>
                    <a:pt x="5011547" y="862838"/>
                  </a:lnTo>
                  <a:lnTo>
                    <a:pt x="143002" y="862838"/>
                  </a:lnTo>
                  <a:lnTo>
                    <a:pt x="143002" y="845947"/>
                  </a:lnTo>
                  <a:lnTo>
                    <a:pt x="143002" y="862838"/>
                  </a:lnTo>
                  <a:cubicBezTo>
                    <a:pt x="64516" y="862965"/>
                    <a:pt x="0" y="801243"/>
                    <a:pt x="0" y="724027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724027"/>
                  </a:lnTo>
                  <a:lnTo>
                    <a:pt x="16891" y="724027"/>
                  </a:lnTo>
                  <a:lnTo>
                    <a:pt x="33909" y="724027"/>
                  </a:lnTo>
                  <a:cubicBezTo>
                    <a:pt x="33909" y="781431"/>
                    <a:pt x="82169" y="829056"/>
                    <a:pt x="143002" y="829056"/>
                  </a:cubicBezTo>
                  <a:lnTo>
                    <a:pt x="5011547" y="829056"/>
                  </a:lnTo>
                  <a:cubicBezTo>
                    <a:pt x="5072380" y="829056"/>
                    <a:pt x="5120640" y="781558"/>
                    <a:pt x="5120640" y="724027"/>
                  </a:cubicBezTo>
                  <a:lnTo>
                    <a:pt x="5120640" y="138811"/>
                  </a:lnTo>
                  <a:cubicBezTo>
                    <a:pt x="5120640" y="81407"/>
                    <a:pt x="5072380" y="33782"/>
                    <a:pt x="5011547" y="33782"/>
                  </a:cubicBezTo>
                  <a:lnTo>
                    <a:pt x="143002" y="33782"/>
                  </a:lnTo>
                  <a:lnTo>
                    <a:pt x="143002" y="16891"/>
                  </a:lnTo>
                  <a:lnTo>
                    <a:pt x="143002" y="33909"/>
                  </a:lnTo>
                  <a:cubicBezTo>
                    <a:pt x="82169" y="33909"/>
                    <a:pt x="33909" y="81407"/>
                    <a:pt x="33909" y="138938"/>
                  </a:cubicBezTo>
                  <a:close/>
                </a:path>
              </a:pathLst>
            </a:custGeom>
            <a:solidFill>
              <a:srgbClr val="90CAF9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5852160" y="4919472"/>
            <a:ext cx="3840480" cy="621792"/>
            <a:chOff x="0" y="0"/>
            <a:chExt cx="5120640" cy="82905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120640" cy="829056"/>
            </a:xfrm>
            <a:custGeom>
              <a:avLst/>
              <a:gdLst/>
              <a:ahLst/>
              <a:cxnLst/>
              <a:rect r="r" b="b" t="t" l="l"/>
              <a:pathLst>
                <a:path h="82905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348" r="0" b="-7034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512064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1565C0"/>
                  </a:solidFill>
                  <a:latin typeface="Consolas"/>
                  <a:ea typeface="Consolas"/>
                  <a:cs typeface="Consolas"/>
                  <a:sym typeface="Consolas"/>
                </a:rPr>
                <a:t>&lt;Modal&gt; + &lt;Form&gt;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01703" y="6004055"/>
            <a:ext cx="9169403" cy="1159259"/>
            <a:chOff x="0" y="0"/>
            <a:chExt cx="12225871" cy="154567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21920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225782" cy="1545590"/>
            </a:xfrm>
            <a:custGeom>
              <a:avLst/>
              <a:gdLst/>
              <a:ahLst/>
              <a:cxnLst/>
              <a:rect r="r" b="b" t="t" l="l"/>
              <a:pathLst>
                <a:path h="1545590" w="12225782">
                  <a:moveTo>
                    <a:pt x="16891" y="0"/>
                  </a:moveTo>
                  <a:lnTo>
                    <a:pt x="12208891" y="0"/>
                  </a:lnTo>
                  <a:cubicBezTo>
                    <a:pt x="12218289" y="0"/>
                    <a:pt x="12225782" y="7620"/>
                    <a:pt x="12225782" y="16891"/>
                  </a:cubicBezTo>
                  <a:lnTo>
                    <a:pt x="12225782" y="1528699"/>
                  </a:lnTo>
                  <a:cubicBezTo>
                    <a:pt x="12225782" y="1538097"/>
                    <a:pt x="12218162" y="1545590"/>
                    <a:pt x="1220889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2208891" y="1511808"/>
                  </a:lnTo>
                  <a:lnTo>
                    <a:pt x="12208891" y="1528699"/>
                  </a:lnTo>
                  <a:lnTo>
                    <a:pt x="12192000" y="1528699"/>
                  </a:lnTo>
                  <a:lnTo>
                    <a:pt x="12192000" y="16891"/>
                  </a:lnTo>
                  <a:lnTo>
                    <a:pt x="12208891" y="16891"/>
                  </a:lnTo>
                  <a:lnTo>
                    <a:pt x="12208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AEC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88720" y="6016752"/>
            <a:ext cx="4572000" cy="1133856"/>
            <a:chOff x="0" y="0"/>
            <a:chExt cx="6096000" cy="151180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0960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568" r="0" b="-2856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609600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Xoá sản phẩm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839463" y="6241799"/>
            <a:ext cx="3865883" cy="647195"/>
            <a:chOff x="0" y="0"/>
            <a:chExt cx="5154511" cy="86292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5120767" cy="829056"/>
            </a:xfrm>
            <a:custGeom>
              <a:avLst/>
              <a:gdLst/>
              <a:ahLst/>
              <a:cxnLst/>
              <a:rect r="r" b="b" t="t" l="l"/>
              <a:pathLst>
                <a:path h="829056" w="5120767">
                  <a:moveTo>
                    <a:pt x="0" y="121920"/>
                  </a:moveTo>
                  <a:cubicBezTo>
                    <a:pt x="0" y="54610"/>
                    <a:pt x="56388" y="0"/>
                    <a:pt x="126111" y="0"/>
                  </a:cubicBezTo>
                  <a:lnTo>
                    <a:pt x="4994656" y="0"/>
                  </a:lnTo>
                  <a:cubicBezTo>
                    <a:pt x="5064252" y="0"/>
                    <a:pt x="5120767" y="54610"/>
                    <a:pt x="5120767" y="121920"/>
                  </a:cubicBezTo>
                  <a:lnTo>
                    <a:pt x="5120767" y="707136"/>
                  </a:lnTo>
                  <a:cubicBezTo>
                    <a:pt x="5120767" y="774446"/>
                    <a:pt x="5064379" y="829056"/>
                    <a:pt x="4994656" y="829056"/>
                  </a:cubicBezTo>
                  <a:lnTo>
                    <a:pt x="126111" y="829056"/>
                  </a:lnTo>
                  <a:cubicBezTo>
                    <a:pt x="56515" y="829056"/>
                    <a:pt x="0" y="774446"/>
                    <a:pt x="0" y="707136"/>
                  </a:cubicBezTo>
                  <a:close/>
                </a:path>
              </a:pathLst>
            </a:custGeom>
            <a:solidFill>
              <a:srgbClr val="E3F2FD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154549" cy="862838"/>
            </a:xfrm>
            <a:custGeom>
              <a:avLst/>
              <a:gdLst/>
              <a:ahLst/>
              <a:cxnLst/>
              <a:rect r="r" b="b" t="t" l="l"/>
              <a:pathLst>
                <a:path h="862838" w="5154549">
                  <a:moveTo>
                    <a:pt x="0" y="138811"/>
                  </a:moveTo>
                  <a:cubicBezTo>
                    <a:pt x="0" y="61595"/>
                    <a:pt x="64516" y="0"/>
                    <a:pt x="143002" y="0"/>
                  </a:cubicBezTo>
                  <a:lnTo>
                    <a:pt x="5011547" y="0"/>
                  </a:lnTo>
                  <a:lnTo>
                    <a:pt x="5011547" y="16891"/>
                  </a:lnTo>
                  <a:lnTo>
                    <a:pt x="5011547" y="0"/>
                  </a:lnTo>
                  <a:cubicBezTo>
                    <a:pt x="5090033" y="0"/>
                    <a:pt x="5154549" y="61595"/>
                    <a:pt x="5154549" y="138811"/>
                  </a:cubicBezTo>
                  <a:lnTo>
                    <a:pt x="5137658" y="138811"/>
                  </a:lnTo>
                  <a:lnTo>
                    <a:pt x="5154549" y="138811"/>
                  </a:lnTo>
                  <a:lnTo>
                    <a:pt x="5154549" y="724027"/>
                  </a:lnTo>
                  <a:lnTo>
                    <a:pt x="5137658" y="724027"/>
                  </a:lnTo>
                  <a:lnTo>
                    <a:pt x="5154549" y="724027"/>
                  </a:lnTo>
                  <a:cubicBezTo>
                    <a:pt x="5154549" y="801243"/>
                    <a:pt x="5090033" y="862838"/>
                    <a:pt x="5011547" y="862838"/>
                  </a:cubicBezTo>
                  <a:lnTo>
                    <a:pt x="5011547" y="845947"/>
                  </a:lnTo>
                  <a:lnTo>
                    <a:pt x="5011547" y="862838"/>
                  </a:lnTo>
                  <a:lnTo>
                    <a:pt x="143002" y="862838"/>
                  </a:lnTo>
                  <a:lnTo>
                    <a:pt x="143002" y="845947"/>
                  </a:lnTo>
                  <a:lnTo>
                    <a:pt x="143002" y="862838"/>
                  </a:lnTo>
                  <a:cubicBezTo>
                    <a:pt x="64516" y="862965"/>
                    <a:pt x="0" y="801243"/>
                    <a:pt x="0" y="724027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724027"/>
                  </a:lnTo>
                  <a:lnTo>
                    <a:pt x="16891" y="724027"/>
                  </a:lnTo>
                  <a:lnTo>
                    <a:pt x="33909" y="724027"/>
                  </a:lnTo>
                  <a:cubicBezTo>
                    <a:pt x="33909" y="781431"/>
                    <a:pt x="82169" y="829056"/>
                    <a:pt x="143002" y="829056"/>
                  </a:cubicBezTo>
                  <a:lnTo>
                    <a:pt x="5011547" y="829056"/>
                  </a:lnTo>
                  <a:cubicBezTo>
                    <a:pt x="5072380" y="829056"/>
                    <a:pt x="5120640" y="781558"/>
                    <a:pt x="5120640" y="724027"/>
                  </a:cubicBezTo>
                  <a:lnTo>
                    <a:pt x="5120640" y="138811"/>
                  </a:lnTo>
                  <a:cubicBezTo>
                    <a:pt x="5120640" y="81407"/>
                    <a:pt x="5072380" y="33782"/>
                    <a:pt x="5011547" y="33782"/>
                  </a:cubicBezTo>
                  <a:lnTo>
                    <a:pt x="143002" y="33782"/>
                  </a:lnTo>
                  <a:lnTo>
                    <a:pt x="143002" y="16891"/>
                  </a:lnTo>
                  <a:lnTo>
                    <a:pt x="143002" y="33909"/>
                  </a:lnTo>
                  <a:cubicBezTo>
                    <a:pt x="82169" y="33909"/>
                    <a:pt x="33909" y="81407"/>
                    <a:pt x="33909" y="138938"/>
                  </a:cubicBezTo>
                  <a:close/>
                </a:path>
              </a:pathLst>
            </a:custGeom>
            <a:solidFill>
              <a:srgbClr val="90CAF9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5852160" y="6254496"/>
            <a:ext cx="3840480" cy="621792"/>
            <a:chOff x="0" y="0"/>
            <a:chExt cx="5120640" cy="82905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120640" cy="829056"/>
            </a:xfrm>
            <a:custGeom>
              <a:avLst/>
              <a:gdLst/>
              <a:ahLst/>
              <a:cxnLst/>
              <a:rect r="r" b="b" t="t" l="l"/>
              <a:pathLst>
                <a:path h="82905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348" r="0" b="-7034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512064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1565C0"/>
                  </a:solidFill>
                  <a:latin typeface="Consolas"/>
                  <a:ea typeface="Consolas"/>
                  <a:cs typeface="Consolas"/>
                  <a:sym typeface="Consolas"/>
                </a:rPr>
                <a:t>&lt;Modal&gt; confirm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01703" y="7339079"/>
            <a:ext cx="9169403" cy="1159259"/>
            <a:chOff x="0" y="0"/>
            <a:chExt cx="12225871" cy="154567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21920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0F4FF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2225782" cy="1545590"/>
            </a:xfrm>
            <a:custGeom>
              <a:avLst/>
              <a:gdLst/>
              <a:ahLst/>
              <a:cxnLst/>
              <a:rect r="r" b="b" t="t" l="l"/>
              <a:pathLst>
                <a:path h="1545590" w="12225782">
                  <a:moveTo>
                    <a:pt x="16891" y="0"/>
                  </a:moveTo>
                  <a:lnTo>
                    <a:pt x="12208891" y="0"/>
                  </a:lnTo>
                  <a:cubicBezTo>
                    <a:pt x="12218289" y="0"/>
                    <a:pt x="12225782" y="7620"/>
                    <a:pt x="12225782" y="16891"/>
                  </a:cubicBezTo>
                  <a:lnTo>
                    <a:pt x="12225782" y="1528699"/>
                  </a:lnTo>
                  <a:cubicBezTo>
                    <a:pt x="12225782" y="1538097"/>
                    <a:pt x="12218162" y="1545590"/>
                    <a:pt x="1220889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2208891" y="1511808"/>
                  </a:lnTo>
                  <a:lnTo>
                    <a:pt x="12208891" y="1528699"/>
                  </a:lnTo>
                  <a:lnTo>
                    <a:pt x="12192000" y="1528699"/>
                  </a:lnTo>
                  <a:lnTo>
                    <a:pt x="12192000" y="16891"/>
                  </a:lnTo>
                  <a:lnTo>
                    <a:pt x="12208891" y="16891"/>
                  </a:lnTo>
                  <a:lnTo>
                    <a:pt x="12208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AEC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188720" y="7351776"/>
            <a:ext cx="4572000" cy="1133856"/>
            <a:chOff x="0" y="0"/>
            <a:chExt cx="6096000" cy="151180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0960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568" r="0" b="-2856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609600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Thông báo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839463" y="7576823"/>
            <a:ext cx="3865883" cy="647195"/>
            <a:chOff x="0" y="0"/>
            <a:chExt cx="5154511" cy="86292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5120767" cy="829056"/>
            </a:xfrm>
            <a:custGeom>
              <a:avLst/>
              <a:gdLst/>
              <a:ahLst/>
              <a:cxnLst/>
              <a:rect r="r" b="b" t="t" l="l"/>
              <a:pathLst>
                <a:path h="829056" w="5120767">
                  <a:moveTo>
                    <a:pt x="0" y="121920"/>
                  </a:moveTo>
                  <a:cubicBezTo>
                    <a:pt x="0" y="54610"/>
                    <a:pt x="56388" y="0"/>
                    <a:pt x="126111" y="0"/>
                  </a:cubicBezTo>
                  <a:lnTo>
                    <a:pt x="4994656" y="0"/>
                  </a:lnTo>
                  <a:cubicBezTo>
                    <a:pt x="5064252" y="0"/>
                    <a:pt x="5120767" y="54610"/>
                    <a:pt x="5120767" y="121920"/>
                  </a:cubicBezTo>
                  <a:lnTo>
                    <a:pt x="5120767" y="707136"/>
                  </a:lnTo>
                  <a:cubicBezTo>
                    <a:pt x="5120767" y="774446"/>
                    <a:pt x="5064379" y="829056"/>
                    <a:pt x="4994656" y="829056"/>
                  </a:cubicBezTo>
                  <a:lnTo>
                    <a:pt x="126111" y="829056"/>
                  </a:lnTo>
                  <a:cubicBezTo>
                    <a:pt x="56515" y="829056"/>
                    <a:pt x="0" y="774446"/>
                    <a:pt x="0" y="707136"/>
                  </a:cubicBezTo>
                  <a:close/>
                </a:path>
              </a:pathLst>
            </a:custGeom>
            <a:solidFill>
              <a:srgbClr val="E3F2FD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154549" cy="862838"/>
            </a:xfrm>
            <a:custGeom>
              <a:avLst/>
              <a:gdLst/>
              <a:ahLst/>
              <a:cxnLst/>
              <a:rect r="r" b="b" t="t" l="l"/>
              <a:pathLst>
                <a:path h="862838" w="5154549">
                  <a:moveTo>
                    <a:pt x="0" y="138811"/>
                  </a:moveTo>
                  <a:cubicBezTo>
                    <a:pt x="0" y="61595"/>
                    <a:pt x="64516" y="0"/>
                    <a:pt x="143002" y="0"/>
                  </a:cubicBezTo>
                  <a:lnTo>
                    <a:pt x="5011547" y="0"/>
                  </a:lnTo>
                  <a:lnTo>
                    <a:pt x="5011547" y="16891"/>
                  </a:lnTo>
                  <a:lnTo>
                    <a:pt x="5011547" y="0"/>
                  </a:lnTo>
                  <a:cubicBezTo>
                    <a:pt x="5090033" y="0"/>
                    <a:pt x="5154549" y="61595"/>
                    <a:pt x="5154549" y="138811"/>
                  </a:cubicBezTo>
                  <a:lnTo>
                    <a:pt x="5137658" y="138811"/>
                  </a:lnTo>
                  <a:lnTo>
                    <a:pt x="5154549" y="138811"/>
                  </a:lnTo>
                  <a:lnTo>
                    <a:pt x="5154549" y="724027"/>
                  </a:lnTo>
                  <a:lnTo>
                    <a:pt x="5137658" y="724027"/>
                  </a:lnTo>
                  <a:lnTo>
                    <a:pt x="5154549" y="724027"/>
                  </a:lnTo>
                  <a:cubicBezTo>
                    <a:pt x="5154549" y="801243"/>
                    <a:pt x="5090033" y="862838"/>
                    <a:pt x="5011547" y="862838"/>
                  </a:cubicBezTo>
                  <a:lnTo>
                    <a:pt x="5011547" y="845947"/>
                  </a:lnTo>
                  <a:lnTo>
                    <a:pt x="5011547" y="862838"/>
                  </a:lnTo>
                  <a:lnTo>
                    <a:pt x="143002" y="862838"/>
                  </a:lnTo>
                  <a:lnTo>
                    <a:pt x="143002" y="845947"/>
                  </a:lnTo>
                  <a:lnTo>
                    <a:pt x="143002" y="862838"/>
                  </a:lnTo>
                  <a:cubicBezTo>
                    <a:pt x="64516" y="862965"/>
                    <a:pt x="0" y="801243"/>
                    <a:pt x="0" y="724027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724027"/>
                  </a:lnTo>
                  <a:lnTo>
                    <a:pt x="16891" y="724027"/>
                  </a:lnTo>
                  <a:lnTo>
                    <a:pt x="33909" y="724027"/>
                  </a:lnTo>
                  <a:cubicBezTo>
                    <a:pt x="33909" y="781431"/>
                    <a:pt x="82169" y="829056"/>
                    <a:pt x="143002" y="829056"/>
                  </a:cubicBezTo>
                  <a:lnTo>
                    <a:pt x="5011547" y="829056"/>
                  </a:lnTo>
                  <a:cubicBezTo>
                    <a:pt x="5072380" y="829056"/>
                    <a:pt x="5120640" y="781558"/>
                    <a:pt x="5120640" y="724027"/>
                  </a:cubicBezTo>
                  <a:lnTo>
                    <a:pt x="5120640" y="138811"/>
                  </a:lnTo>
                  <a:cubicBezTo>
                    <a:pt x="5120640" y="81407"/>
                    <a:pt x="5072380" y="33782"/>
                    <a:pt x="5011547" y="33782"/>
                  </a:cubicBezTo>
                  <a:lnTo>
                    <a:pt x="143002" y="33782"/>
                  </a:lnTo>
                  <a:lnTo>
                    <a:pt x="143002" y="16891"/>
                  </a:lnTo>
                  <a:lnTo>
                    <a:pt x="143002" y="33909"/>
                  </a:lnTo>
                  <a:cubicBezTo>
                    <a:pt x="82169" y="33909"/>
                    <a:pt x="33909" y="81407"/>
                    <a:pt x="33909" y="138938"/>
                  </a:cubicBezTo>
                  <a:close/>
                </a:path>
              </a:pathLst>
            </a:custGeom>
            <a:solidFill>
              <a:srgbClr val="90CAF9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5852160" y="7589520"/>
            <a:ext cx="3840480" cy="621792"/>
            <a:chOff x="0" y="0"/>
            <a:chExt cx="5120640" cy="82905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120640" cy="829056"/>
            </a:xfrm>
            <a:custGeom>
              <a:avLst/>
              <a:gdLst/>
              <a:ahLst/>
              <a:cxnLst/>
              <a:rect r="r" b="b" t="t" l="l"/>
              <a:pathLst>
                <a:path h="82905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348" r="0" b="-7034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512064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1565C0"/>
                  </a:solidFill>
                  <a:latin typeface="Consolas"/>
                  <a:ea typeface="Consolas"/>
                  <a:cs typeface="Consolas"/>
                  <a:sym typeface="Consolas"/>
                </a:rPr>
                <a:t>&lt;Alert&gt;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01703" y="8674103"/>
            <a:ext cx="9169403" cy="1159259"/>
            <a:chOff x="0" y="0"/>
            <a:chExt cx="12225871" cy="154567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21920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2225782" cy="1545590"/>
            </a:xfrm>
            <a:custGeom>
              <a:avLst/>
              <a:gdLst/>
              <a:ahLst/>
              <a:cxnLst/>
              <a:rect r="r" b="b" t="t" l="l"/>
              <a:pathLst>
                <a:path h="1545590" w="12225782">
                  <a:moveTo>
                    <a:pt x="16891" y="0"/>
                  </a:moveTo>
                  <a:lnTo>
                    <a:pt x="12208891" y="0"/>
                  </a:lnTo>
                  <a:cubicBezTo>
                    <a:pt x="12218289" y="0"/>
                    <a:pt x="12225782" y="7620"/>
                    <a:pt x="12225782" y="16891"/>
                  </a:cubicBezTo>
                  <a:lnTo>
                    <a:pt x="12225782" y="1528699"/>
                  </a:lnTo>
                  <a:cubicBezTo>
                    <a:pt x="12225782" y="1538097"/>
                    <a:pt x="12218162" y="1545590"/>
                    <a:pt x="1220889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2208891" y="1511808"/>
                  </a:lnTo>
                  <a:lnTo>
                    <a:pt x="12208891" y="1528699"/>
                  </a:lnTo>
                  <a:lnTo>
                    <a:pt x="12192000" y="1528699"/>
                  </a:lnTo>
                  <a:lnTo>
                    <a:pt x="12192000" y="16891"/>
                  </a:lnTo>
                  <a:lnTo>
                    <a:pt x="12208891" y="16891"/>
                  </a:lnTo>
                  <a:lnTo>
                    <a:pt x="12208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AEC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188720" y="8686800"/>
            <a:ext cx="4572000" cy="1133856"/>
            <a:chOff x="0" y="0"/>
            <a:chExt cx="6096000" cy="151180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0960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568" r="0" b="-28568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609600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Điều hướng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5839463" y="8911847"/>
            <a:ext cx="3865883" cy="647195"/>
            <a:chOff x="0" y="0"/>
            <a:chExt cx="5154511" cy="862927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5120767" cy="829056"/>
            </a:xfrm>
            <a:custGeom>
              <a:avLst/>
              <a:gdLst/>
              <a:ahLst/>
              <a:cxnLst/>
              <a:rect r="r" b="b" t="t" l="l"/>
              <a:pathLst>
                <a:path h="829056" w="5120767">
                  <a:moveTo>
                    <a:pt x="0" y="121920"/>
                  </a:moveTo>
                  <a:cubicBezTo>
                    <a:pt x="0" y="54610"/>
                    <a:pt x="56388" y="0"/>
                    <a:pt x="126111" y="0"/>
                  </a:cubicBezTo>
                  <a:lnTo>
                    <a:pt x="4994656" y="0"/>
                  </a:lnTo>
                  <a:cubicBezTo>
                    <a:pt x="5064252" y="0"/>
                    <a:pt x="5120767" y="54610"/>
                    <a:pt x="5120767" y="121920"/>
                  </a:cubicBezTo>
                  <a:lnTo>
                    <a:pt x="5120767" y="707136"/>
                  </a:lnTo>
                  <a:cubicBezTo>
                    <a:pt x="5120767" y="774446"/>
                    <a:pt x="5064379" y="829056"/>
                    <a:pt x="4994656" y="829056"/>
                  </a:cubicBezTo>
                  <a:lnTo>
                    <a:pt x="126111" y="829056"/>
                  </a:lnTo>
                  <a:cubicBezTo>
                    <a:pt x="56515" y="829056"/>
                    <a:pt x="0" y="774446"/>
                    <a:pt x="0" y="707136"/>
                  </a:cubicBezTo>
                  <a:close/>
                </a:path>
              </a:pathLst>
            </a:custGeom>
            <a:solidFill>
              <a:srgbClr val="E3F2FD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154549" cy="862838"/>
            </a:xfrm>
            <a:custGeom>
              <a:avLst/>
              <a:gdLst/>
              <a:ahLst/>
              <a:cxnLst/>
              <a:rect r="r" b="b" t="t" l="l"/>
              <a:pathLst>
                <a:path h="862838" w="5154549">
                  <a:moveTo>
                    <a:pt x="0" y="138811"/>
                  </a:moveTo>
                  <a:cubicBezTo>
                    <a:pt x="0" y="61595"/>
                    <a:pt x="64516" y="0"/>
                    <a:pt x="143002" y="0"/>
                  </a:cubicBezTo>
                  <a:lnTo>
                    <a:pt x="5011547" y="0"/>
                  </a:lnTo>
                  <a:lnTo>
                    <a:pt x="5011547" y="16891"/>
                  </a:lnTo>
                  <a:lnTo>
                    <a:pt x="5011547" y="0"/>
                  </a:lnTo>
                  <a:cubicBezTo>
                    <a:pt x="5090033" y="0"/>
                    <a:pt x="5154549" y="61595"/>
                    <a:pt x="5154549" y="138811"/>
                  </a:cubicBezTo>
                  <a:lnTo>
                    <a:pt x="5137658" y="138811"/>
                  </a:lnTo>
                  <a:lnTo>
                    <a:pt x="5154549" y="138811"/>
                  </a:lnTo>
                  <a:lnTo>
                    <a:pt x="5154549" y="724027"/>
                  </a:lnTo>
                  <a:lnTo>
                    <a:pt x="5137658" y="724027"/>
                  </a:lnTo>
                  <a:lnTo>
                    <a:pt x="5154549" y="724027"/>
                  </a:lnTo>
                  <a:cubicBezTo>
                    <a:pt x="5154549" y="801243"/>
                    <a:pt x="5090033" y="862838"/>
                    <a:pt x="5011547" y="862838"/>
                  </a:cubicBezTo>
                  <a:lnTo>
                    <a:pt x="5011547" y="845947"/>
                  </a:lnTo>
                  <a:lnTo>
                    <a:pt x="5011547" y="862838"/>
                  </a:lnTo>
                  <a:lnTo>
                    <a:pt x="143002" y="862838"/>
                  </a:lnTo>
                  <a:lnTo>
                    <a:pt x="143002" y="845947"/>
                  </a:lnTo>
                  <a:lnTo>
                    <a:pt x="143002" y="862838"/>
                  </a:lnTo>
                  <a:cubicBezTo>
                    <a:pt x="64516" y="862965"/>
                    <a:pt x="0" y="801243"/>
                    <a:pt x="0" y="724027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724027"/>
                  </a:lnTo>
                  <a:lnTo>
                    <a:pt x="16891" y="724027"/>
                  </a:lnTo>
                  <a:lnTo>
                    <a:pt x="33909" y="724027"/>
                  </a:lnTo>
                  <a:cubicBezTo>
                    <a:pt x="33909" y="781431"/>
                    <a:pt x="82169" y="829056"/>
                    <a:pt x="143002" y="829056"/>
                  </a:cubicBezTo>
                  <a:lnTo>
                    <a:pt x="5011547" y="829056"/>
                  </a:lnTo>
                  <a:cubicBezTo>
                    <a:pt x="5072380" y="829056"/>
                    <a:pt x="5120640" y="781558"/>
                    <a:pt x="5120640" y="724027"/>
                  </a:cubicBezTo>
                  <a:lnTo>
                    <a:pt x="5120640" y="138811"/>
                  </a:lnTo>
                  <a:cubicBezTo>
                    <a:pt x="5120640" y="81407"/>
                    <a:pt x="5072380" y="33782"/>
                    <a:pt x="5011547" y="33782"/>
                  </a:cubicBezTo>
                  <a:lnTo>
                    <a:pt x="143002" y="33782"/>
                  </a:lnTo>
                  <a:lnTo>
                    <a:pt x="143002" y="16891"/>
                  </a:lnTo>
                  <a:lnTo>
                    <a:pt x="143002" y="33909"/>
                  </a:lnTo>
                  <a:cubicBezTo>
                    <a:pt x="82169" y="33909"/>
                    <a:pt x="33909" y="81407"/>
                    <a:pt x="33909" y="138938"/>
                  </a:cubicBezTo>
                  <a:close/>
                </a:path>
              </a:pathLst>
            </a:custGeom>
            <a:solidFill>
              <a:srgbClr val="90CAF9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5852160" y="8924544"/>
            <a:ext cx="3840480" cy="621792"/>
            <a:chOff x="0" y="0"/>
            <a:chExt cx="5120640" cy="82905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120640" cy="829056"/>
            </a:xfrm>
            <a:custGeom>
              <a:avLst/>
              <a:gdLst/>
              <a:ahLst/>
              <a:cxnLst/>
              <a:rect r="r" b="b" t="t" l="l"/>
              <a:pathLst>
                <a:path h="82905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348" r="0" b="-70348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512064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1565C0"/>
                  </a:solidFill>
                  <a:latin typeface="Consolas"/>
                  <a:ea typeface="Consolas"/>
                  <a:cs typeface="Consolas"/>
                  <a:sym typeface="Consolas"/>
                </a:rPr>
                <a:t>&lt;Navbar&gt; + NavLink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607040" y="2011680"/>
            <a:ext cx="6766560" cy="731520"/>
            <a:chOff x="0" y="0"/>
            <a:chExt cx="9022080" cy="97536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022080" cy="975360"/>
            </a:xfrm>
            <a:custGeom>
              <a:avLst/>
              <a:gdLst/>
              <a:ahLst/>
              <a:cxnLst/>
              <a:rect r="r" b="b" t="t" l="l"/>
              <a:pathLst>
                <a:path h="97536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57150"/>
              <a:ext cx="902208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Cấu trúc project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0594343" y="2821943"/>
            <a:ext cx="6791963" cy="6755387"/>
            <a:chOff x="0" y="0"/>
            <a:chExt cx="9055951" cy="9007183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9022081" cy="8973312"/>
            </a:xfrm>
            <a:custGeom>
              <a:avLst/>
              <a:gdLst/>
              <a:ahLst/>
              <a:cxnLst/>
              <a:rect r="r" b="b" t="t" l="l"/>
              <a:pathLst>
                <a:path h="8973312" w="9022081">
                  <a:moveTo>
                    <a:pt x="0" y="0"/>
                  </a:moveTo>
                  <a:lnTo>
                    <a:pt x="9022081" y="0"/>
                  </a:lnTo>
                  <a:lnTo>
                    <a:pt x="9022081" y="8973312"/>
                  </a:lnTo>
                  <a:lnTo>
                    <a:pt x="0" y="8973312"/>
                  </a:lnTo>
                  <a:close/>
                </a:path>
              </a:pathLst>
            </a:custGeom>
            <a:solidFill>
              <a:srgbClr val="1E2A3A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055862" cy="9007094"/>
            </a:xfrm>
            <a:custGeom>
              <a:avLst/>
              <a:gdLst/>
              <a:ahLst/>
              <a:cxnLst/>
              <a:rect r="r" b="b" t="t" l="l"/>
              <a:pathLst>
                <a:path h="9007094" w="9055862">
                  <a:moveTo>
                    <a:pt x="16891" y="0"/>
                  </a:moveTo>
                  <a:lnTo>
                    <a:pt x="9038972" y="0"/>
                  </a:lnTo>
                  <a:cubicBezTo>
                    <a:pt x="9048369" y="0"/>
                    <a:pt x="9055862" y="7620"/>
                    <a:pt x="9055862" y="16891"/>
                  </a:cubicBezTo>
                  <a:lnTo>
                    <a:pt x="9055862" y="8990203"/>
                  </a:lnTo>
                  <a:cubicBezTo>
                    <a:pt x="9055862" y="8999601"/>
                    <a:pt x="9048242" y="9007094"/>
                    <a:pt x="9038972" y="9007094"/>
                  </a:cubicBezTo>
                  <a:lnTo>
                    <a:pt x="16891" y="9007094"/>
                  </a:lnTo>
                  <a:cubicBezTo>
                    <a:pt x="7493" y="9007094"/>
                    <a:pt x="0" y="8999474"/>
                    <a:pt x="0" y="89902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90203"/>
                  </a:lnTo>
                  <a:lnTo>
                    <a:pt x="16891" y="8990203"/>
                  </a:lnTo>
                  <a:lnTo>
                    <a:pt x="16891" y="8973312"/>
                  </a:lnTo>
                  <a:lnTo>
                    <a:pt x="9038972" y="8973312"/>
                  </a:lnTo>
                  <a:lnTo>
                    <a:pt x="9038972" y="8990203"/>
                  </a:lnTo>
                  <a:lnTo>
                    <a:pt x="9022080" y="8990203"/>
                  </a:lnTo>
                  <a:lnTo>
                    <a:pt x="9022080" y="16891"/>
                  </a:lnTo>
                  <a:lnTo>
                    <a:pt x="9038972" y="16891"/>
                  </a:lnTo>
                  <a:lnTo>
                    <a:pt x="90389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A3A"/>
            </a:solidFill>
          </p:spPr>
        </p:sp>
      </p:grpSp>
      <p:sp>
        <p:nvSpPr>
          <p:cNvPr name="TextBox 86" id="86"/>
          <p:cNvSpPr txBox="true"/>
          <p:nvPr/>
        </p:nvSpPr>
        <p:spPr>
          <a:xfrm rot="0">
            <a:off x="10835640" y="2924175"/>
            <a:ext cx="6309360" cy="652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EC8E3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EC8E3"/>
                </a:solidFill>
                <a:latin typeface="Consolas"/>
                <a:ea typeface="Consolas"/>
                <a:cs typeface="Consolas"/>
                <a:sym typeface="Consolas"/>
              </a:rPr>
              <a:t>├── index.html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EC8E3"/>
                </a:solidFill>
                <a:latin typeface="Consolas"/>
                <a:ea typeface="Consolas"/>
                <a:cs typeface="Consolas"/>
                <a:sym typeface="Consolas"/>
              </a:rPr>
              <a:t>├── package-lo</a:t>
            </a:r>
            <a:r>
              <a:rPr lang="en-US" sz="1400">
                <a:solidFill>
                  <a:srgbClr val="7EC8E3"/>
                </a:solidFill>
                <a:latin typeface="Consolas"/>
                <a:ea typeface="Consolas"/>
                <a:cs typeface="Consolas"/>
                <a:sym typeface="Consolas"/>
              </a:rPr>
              <a:t>ck.json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EC8E3"/>
                </a:solidFill>
                <a:latin typeface="Consolas"/>
                <a:ea typeface="Consolas"/>
                <a:cs typeface="Consolas"/>
                <a:sym typeface="Consolas"/>
              </a:rPr>
              <a:t>├── package.json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EC8E3"/>
                </a:solidFill>
                <a:latin typeface="Consolas"/>
                <a:ea typeface="Consolas"/>
                <a:cs typeface="Consolas"/>
                <a:sym typeface="Consolas"/>
              </a:rPr>
              <a:t>├── public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EC8E3"/>
                </a:solidFill>
                <a:latin typeface="Consolas"/>
                <a:ea typeface="Consolas"/>
                <a:cs typeface="Consolas"/>
                <a:sym typeface="Consolas"/>
              </a:rPr>
              <a:t>│  ├── favicon.ico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EC8E3"/>
                </a:solidFill>
                <a:latin typeface="Consolas"/>
                <a:ea typeface="Consolas"/>
                <a:cs typeface="Consolas"/>
                <a:sym typeface="Consolas"/>
              </a:rPr>
              <a:t>│  ├── index.html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EC8E3"/>
                </a:solidFill>
                <a:latin typeface="Consolas"/>
                <a:ea typeface="Consolas"/>
                <a:cs typeface="Consolas"/>
                <a:sym typeface="Consolas"/>
              </a:rPr>
              <a:t>│  ├── logo192.png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EC8E3"/>
                </a:solidFill>
                <a:latin typeface="Consolas"/>
                <a:ea typeface="Consolas"/>
                <a:cs typeface="Consolas"/>
                <a:sym typeface="Consolas"/>
              </a:rPr>
              <a:t>│  ├── logo512.png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EC8E3"/>
                </a:solidFill>
                <a:latin typeface="Consolas"/>
                <a:ea typeface="Consolas"/>
                <a:cs typeface="Consolas"/>
                <a:sym typeface="Consolas"/>
              </a:rPr>
              <a:t>│  ├── manifest.json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EC8E3"/>
                </a:solidFill>
                <a:latin typeface="Consolas"/>
                <a:ea typeface="Consolas"/>
                <a:cs typeface="Consolas"/>
                <a:sym typeface="Consolas"/>
              </a:rPr>
              <a:t>│  └── robots.txt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EC8E3"/>
                </a:solidFill>
                <a:latin typeface="Consolas"/>
                <a:ea typeface="Consolas"/>
                <a:cs typeface="Consolas"/>
                <a:sym typeface="Consolas"/>
              </a:rPr>
              <a:t>├── src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EC8E3"/>
                </a:solidFill>
                <a:latin typeface="Consolas"/>
                <a:ea typeface="Consolas"/>
                <a:cs typeface="Consolas"/>
                <a:sym typeface="Consolas"/>
              </a:rPr>
              <a:t>│  ├── App.css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EC8E3"/>
                </a:solidFill>
                <a:latin typeface="Consolas"/>
                <a:ea typeface="Consolas"/>
                <a:cs typeface="Consolas"/>
                <a:sym typeface="Consolas"/>
              </a:rPr>
              <a:t>│  ├── App.jsx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EC8E3"/>
                </a:solidFill>
                <a:latin typeface="Consolas"/>
                <a:ea typeface="Consolas"/>
                <a:cs typeface="Consolas"/>
                <a:sym typeface="Consolas"/>
              </a:rPr>
              <a:t>│  ├── App.test.jsx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EC8E3"/>
                </a:solidFill>
                <a:latin typeface="Consolas"/>
                <a:ea typeface="Consolas"/>
                <a:cs typeface="Consolas"/>
                <a:sym typeface="Consolas"/>
              </a:rPr>
              <a:t>│  ├── components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EC8E3"/>
                </a:solidFill>
                <a:latin typeface="Consolas"/>
                <a:ea typeface="Consolas"/>
                <a:cs typeface="Consolas"/>
                <a:sym typeface="Consolas"/>
              </a:rPr>
              <a:t>│  │  ├── Add.jsx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EC8E3"/>
                </a:solidFill>
                <a:latin typeface="Consolas"/>
                <a:ea typeface="Consolas"/>
                <a:cs typeface="Consolas"/>
                <a:sym typeface="Consolas"/>
              </a:rPr>
              <a:t>│  │  ├── AppAlert.jsx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EC8E3"/>
                </a:solidFill>
                <a:latin typeface="Consolas"/>
                <a:ea typeface="Consolas"/>
                <a:cs typeface="Consolas"/>
                <a:sym typeface="Consolas"/>
              </a:rPr>
              <a:t>│  │  ├── ConfirmDeleteModal.jsx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EC8E3"/>
                </a:solidFill>
                <a:latin typeface="Consolas"/>
                <a:ea typeface="Consolas"/>
                <a:cs typeface="Consolas"/>
                <a:sym typeface="Consolas"/>
              </a:rPr>
              <a:t>│  │  ├── EditProductModal.jsx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EC8E3"/>
                </a:solidFill>
                <a:latin typeface="Consolas"/>
                <a:ea typeface="Consolas"/>
                <a:cs typeface="Consolas"/>
                <a:sym typeface="Consolas"/>
              </a:rPr>
              <a:t>│  │  ├── Home.jsx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EC8E3"/>
                </a:solidFill>
                <a:latin typeface="Consolas"/>
                <a:ea typeface="Consolas"/>
                <a:cs typeface="Consolas"/>
                <a:sym typeface="Consolas"/>
              </a:rPr>
              <a:t>│  │  ├── List.jsx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EC8E3"/>
                </a:solidFill>
                <a:latin typeface="Consolas"/>
                <a:ea typeface="Consolas"/>
                <a:cs typeface="Consolas"/>
                <a:sym typeface="Consolas"/>
              </a:rPr>
              <a:t>│  │  ├── MyNavBar.jsx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EC8E3"/>
                </a:solidFill>
                <a:latin typeface="Consolas"/>
                <a:ea typeface="Consolas"/>
                <a:cs typeface="Consolas"/>
                <a:sym typeface="Consolas"/>
              </a:rPr>
              <a:t>│  │  └── ProductForm.jsx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EC8E3"/>
                </a:solidFill>
                <a:latin typeface="Consolas"/>
                <a:ea typeface="Consolas"/>
                <a:cs typeface="Consolas"/>
                <a:sym typeface="Consolas"/>
              </a:rPr>
              <a:t>│  ├── index.css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EC8E3"/>
                </a:solidFill>
                <a:latin typeface="Consolas"/>
                <a:ea typeface="Consolas"/>
                <a:cs typeface="Consolas"/>
                <a:sym typeface="Consolas"/>
              </a:rPr>
              <a:t>│  ├── index.jsx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EC8E3"/>
                </a:solidFill>
                <a:latin typeface="Consolas"/>
                <a:ea typeface="Consolas"/>
                <a:cs typeface="Consolas"/>
                <a:sym typeface="Consolas"/>
              </a:rPr>
              <a:t>│  ├── logo.svg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EC8E3"/>
                </a:solidFill>
                <a:latin typeface="Consolas"/>
                <a:ea typeface="Consolas"/>
                <a:cs typeface="Consolas"/>
                <a:sym typeface="Consolas"/>
              </a:rPr>
              <a:t>│  ├── reportWebVitals.jsx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EC8E3"/>
                </a:solidFill>
                <a:latin typeface="Consolas"/>
                <a:ea typeface="Consolas"/>
                <a:cs typeface="Consolas"/>
                <a:sym typeface="Consolas"/>
              </a:rPr>
              <a:t>│  └── setupTests.jsx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EC8E3"/>
                </a:solidFill>
                <a:latin typeface="Consolas"/>
                <a:ea typeface="Consolas"/>
                <a:cs typeface="Consolas"/>
                <a:sym typeface="Consolas"/>
              </a:rPr>
              <a:t>└── vite.config.js</a:t>
            </a:r>
          </a:p>
          <a:p>
            <a:pPr algn="l">
              <a:lnSpc>
                <a:spcPts val="1680"/>
              </a:lnSpc>
            </a:pPr>
          </a:p>
        </p:txBody>
      </p:sp>
      <p:sp>
        <p:nvSpPr>
          <p:cNvPr name="Freeform 87" id="87"/>
          <p:cNvSpPr/>
          <p:nvPr/>
        </p:nvSpPr>
        <p:spPr>
          <a:xfrm flipH="false" flipV="false" rot="0">
            <a:off x="478104" y="193666"/>
            <a:ext cx="2436829" cy="1359547"/>
          </a:xfrm>
          <a:custGeom>
            <a:avLst/>
            <a:gdLst/>
            <a:ahLst/>
            <a:cxnLst/>
            <a:rect r="r" b="b" t="t" l="l"/>
            <a:pathLst>
              <a:path h="1359547" w="2436829">
                <a:moveTo>
                  <a:pt x="0" y="0"/>
                </a:moveTo>
                <a:lnTo>
                  <a:pt x="2436829" y="0"/>
                </a:lnTo>
                <a:lnTo>
                  <a:pt x="2436829" y="1359547"/>
                </a:lnTo>
                <a:lnTo>
                  <a:pt x="0" y="13595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01235" y="364457"/>
            <a:ext cx="11965689" cy="960537"/>
            <a:chOff x="0" y="0"/>
            <a:chExt cx="15954252" cy="128071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74789"/>
              <a:ext cx="2504464" cy="1131151"/>
              <a:chOff x="0" y="0"/>
              <a:chExt cx="2504464" cy="113115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12270" y="16891"/>
                <a:ext cx="2479859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2479859">
                    <a:moveTo>
                      <a:pt x="0" y="0"/>
                    </a:moveTo>
                    <a:lnTo>
                      <a:pt x="2479859" y="0"/>
                    </a:lnTo>
                    <a:lnTo>
                      <a:pt x="2479859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solidFill>
                <a:srgbClr val="1565C0"/>
              </a:solidFill>
            </p:spPr>
          </p:sp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504400" cy="1131064"/>
              </a:xfrm>
              <a:custGeom>
                <a:avLst/>
                <a:gdLst/>
                <a:ahLst/>
                <a:cxnLst/>
                <a:rect r="r" b="b" t="t" l="l"/>
                <a:pathLst>
                  <a:path h="1131064" w="2504400">
                    <a:moveTo>
                      <a:pt x="12270" y="0"/>
                    </a:moveTo>
                    <a:lnTo>
                      <a:pt x="2492129" y="0"/>
                    </a:lnTo>
                    <a:cubicBezTo>
                      <a:pt x="2498957" y="0"/>
                      <a:pt x="2504400" y="7620"/>
                      <a:pt x="2504400" y="16891"/>
                    </a:cubicBezTo>
                    <a:lnTo>
                      <a:pt x="2504400" y="1114171"/>
                    </a:lnTo>
                    <a:cubicBezTo>
                      <a:pt x="2504400" y="1123569"/>
                      <a:pt x="2498864" y="1131062"/>
                      <a:pt x="2492129" y="1131062"/>
                    </a:cubicBezTo>
                    <a:lnTo>
                      <a:pt x="12270" y="1131062"/>
                    </a:lnTo>
                    <a:cubicBezTo>
                      <a:pt x="5535" y="1131189"/>
                      <a:pt x="0" y="1123569"/>
                      <a:pt x="0" y="1114171"/>
                    </a:cubicBezTo>
                    <a:lnTo>
                      <a:pt x="0" y="16891"/>
                    </a:lnTo>
                    <a:cubicBezTo>
                      <a:pt x="0" y="7620"/>
                      <a:pt x="5535" y="0"/>
                      <a:pt x="12270" y="0"/>
                    </a:cubicBezTo>
                    <a:moveTo>
                      <a:pt x="12270" y="33909"/>
                    </a:moveTo>
                    <a:lnTo>
                      <a:pt x="12270" y="16891"/>
                    </a:lnTo>
                    <a:lnTo>
                      <a:pt x="24633" y="16891"/>
                    </a:lnTo>
                    <a:lnTo>
                      <a:pt x="24633" y="1114171"/>
                    </a:lnTo>
                    <a:lnTo>
                      <a:pt x="12270" y="1114171"/>
                    </a:lnTo>
                    <a:lnTo>
                      <a:pt x="12270" y="1097280"/>
                    </a:lnTo>
                    <a:lnTo>
                      <a:pt x="2492129" y="1097280"/>
                    </a:lnTo>
                    <a:lnTo>
                      <a:pt x="2492129" y="1114171"/>
                    </a:lnTo>
                    <a:lnTo>
                      <a:pt x="2479859" y="1114171"/>
                    </a:lnTo>
                    <a:lnTo>
                      <a:pt x="2479859" y="16891"/>
                    </a:lnTo>
                    <a:lnTo>
                      <a:pt x="2492129" y="16891"/>
                    </a:lnTo>
                    <a:lnTo>
                      <a:pt x="2492129" y="33909"/>
                    </a:lnTo>
                    <a:lnTo>
                      <a:pt x="12270" y="33909"/>
                    </a:lnTo>
                    <a:close/>
                  </a:path>
                </a:pathLst>
              </a:custGeom>
              <a:solidFill>
                <a:srgbClr val="1565C0"/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12298" y="91718"/>
              <a:ext cx="2479860" cy="1097280"/>
              <a:chOff x="0" y="0"/>
              <a:chExt cx="2479860" cy="109728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479859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2479859">
                    <a:moveTo>
                      <a:pt x="0" y="0"/>
                    </a:moveTo>
                    <a:lnTo>
                      <a:pt x="2479859" y="0"/>
                    </a:lnTo>
                    <a:lnTo>
                      <a:pt x="2479859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0620" r="-37659" b="-10620"/>
                </a:stretch>
              </a:blip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479860" cy="11353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879"/>
                  </a:lnSpc>
                </a:pPr>
                <a:r>
                  <a:rPr lang="en-US" sz="24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Bài tập 1</a:t>
                </a: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2846423" y="0"/>
              <a:ext cx="13107829" cy="1280716"/>
              <a:chOff x="0" y="0"/>
              <a:chExt cx="13107829" cy="128071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107829" cy="1280716"/>
              </a:xfrm>
              <a:custGeom>
                <a:avLst/>
                <a:gdLst/>
                <a:ahLst/>
                <a:cxnLst/>
                <a:rect r="r" b="b" t="t" l="l"/>
                <a:pathLst>
                  <a:path h="1280716" w="13107829">
                    <a:moveTo>
                      <a:pt x="0" y="0"/>
                    </a:moveTo>
                    <a:lnTo>
                      <a:pt x="13107829" y="0"/>
                    </a:lnTo>
                    <a:lnTo>
                      <a:pt x="13107829" y="1280716"/>
                    </a:lnTo>
                    <a:lnTo>
                      <a:pt x="0" y="128071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231688" r="-37659" b="-217365"/>
                </a:stretch>
              </a:blip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85725"/>
                <a:ext cx="13107829" cy="136644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5759"/>
                  </a:lnSpc>
                </a:pPr>
                <a:r>
                  <a:rPr lang="en-US" sz="4800" b="true">
                    <a:solidFill>
                      <a:srgbClr val="1565C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Navbar responsive với active highlight</a:t>
                </a: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901703" y="1486919"/>
            <a:ext cx="16484603" cy="80267"/>
            <a:chOff x="0" y="0"/>
            <a:chExt cx="21979471" cy="10702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16891"/>
              <a:ext cx="21945599" cy="73152"/>
            </a:xfrm>
            <a:custGeom>
              <a:avLst/>
              <a:gdLst/>
              <a:ahLst/>
              <a:cxnLst/>
              <a:rect r="r" b="b" t="t" l="l"/>
              <a:pathLst>
                <a:path h="73152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E3E8F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79382" cy="106936"/>
            </a:xfrm>
            <a:custGeom>
              <a:avLst/>
              <a:gdLst/>
              <a:ahLst/>
              <a:cxnLst/>
              <a:rect r="r" b="b" t="t" l="l"/>
              <a:pathLst>
                <a:path h="106936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90043"/>
                  </a:lnTo>
                  <a:cubicBezTo>
                    <a:pt x="21979382" y="99441"/>
                    <a:pt x="21971763" y="106934"/>
                    <a:pt x="2196249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21962490" y="73152"/>
                  </a:lnTo>
                  <a:lnTo>
                    <a:pt x="21962490" y="90043"/>
                  </a:lnTo>
                  <a:lnTo>
                    <a:pt x="21945600" y="9004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3E8F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01703" y="1724663"/>
            <a:ext cx="8255003" cy="2494283"/>
            <a:chOff x="0" y="0"/>
            <a:chExt cx="11006671" cy="33257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6891" y="16891"/>
              <a:ext cx="109728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E3F2FD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06582" cy="3325622"/>
            </a:xfrm>
            <a:custGeom>
              <a:avLst/>
              <a:gdLst/>
              <a:ahLst/>
              <a:cxnLst/>
              <a:rect r="r" b="b" t="t" l="l"/>
              <a:pathLst>
                <a:path h="332562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308731"/>
                  </a:lnTo>
                  <a:cubicBezTo>
                    <a:pt x="11006582" y="3318129"/>
                    <a:pt x="10998962" y="3325622"/>
                    <a:pt x="1098969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0989691" y="3291840"/>
                  </a:lnTo>
                  <a:lnTo>
                    <a:pt x="10989691" y="3308731"/>
                  </a:lnTo>
                  <a:lnTo>
                    <a:pt x="10972800" y="330873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0CAF9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88720" y="1828800"/>
            <a:ext cx="7680960" cy="640080"/>
            <a:chOff x="0" y="0"/>
            <a:chExt cx="10241280" cy="8534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024128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Yêu cầu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88720" y="2468880"/>
            <a:ext cx="7680960" cy="1554480"/>
            <a:chOff x="0" y="0"/>
            <a:chExt cx="10241280" cy="2072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2412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279" r="0" b="-4627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0241280" cy="2120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Tạo Navbar 3 mục: Home, List, Create</a:t>
              </a:r>
            </a:p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Mục đang active được highlight tự động</a:t>
              </a:r>
            </a:p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Responsive: thu gọn thành hamburger menu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97063" y="1724663"/>
            <a:ext cx="7889243" cy="2494283"/>
            <a:chOff x="0" y="0"/>
            <a:chExt cx="10518991" cy="332571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1048512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E8F5E9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518901" cy="3325622"/>
            </a:xfrm>
            <a:custGeom>
              <a:avLst/>
              <a:gdLst/>
              <a:ahLst/>
              <a:cxnLst/>
              <a:rect r="r" b="b" t="t" l="l"/>
              <a:pathLst>
                <a:path h="3325622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3308731"/>
                  </a:lnTo>
                  <a:cubicBezTo>
                    <a:pt x="10518901" y="3318129"/>
                    <a:pt x="10511282" y="3325622"/>
                    <a:pt x="1050201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0502011" y="3291840"/>
                  </a:lnTo>
                  <a:lnTo>
                    <a:pt x="10502011" y="3308731"/>
                  </a:lnTo>
                  <a:lnTo>
                    <a:pt x="10485120" y="330873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5D6A7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784080" y="1828800"/>
            <a:ext cx="7315200" cy="640080"/>
            <a:chOff x="0" y="0"/>
            <a:chExt cx="9753600" cy="8534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9753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2E7D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Giải quyết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784085" y="2468880"/>
            <a:ext cx="7315200" cy="1554480"/>
            <a:chOff x="0" y="0"/>
            <a:chExt cx="9753600" cy="2072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7536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694" r="0" b="-4169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9753600" cy="2120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as={NavLink}: SPA routing, không reload</a:t>
              </a:r>
            </a:p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NavLink tự gán .active → highlight tự động</a:t>
              </a:r>
            </a:p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expand='lg': hamburger dưới 992px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01703" y="4467863"/>
            <a:ext cx="16484603" cy="5328923"/>
            <a:chOff x="0" y="0"/>
            <a:chExt cx="21979471" cy="710523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6891" y="16891"/>
              <a:ext cx="21945599" cy="7071360"/>
            </a:xfrm>
            <a:custGeom>
              <a:avLst/>
              <a:gdLst/>
              <a:ahLst/>
              <a:cxnLst/>
              <a:rect r="r" b="b" t="t" l="l"/>
              <a:pathLst>
                <a:path h="7071360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7071360"/>
                  </a:lnTo>
                  <a:lnTo>
                    <a:pt x="0" y="7071360"/>
                  </a:lnTo>
                  <a:close/>
                </a:path>
              </a:pathLst>
            </a:custGeom>
            <a:solidFill>
              <a:srgbClr val="1E2A3A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79382" cy="7105142"/>
            </a:xfrm>
            <a:custGeom>
              <a:avLst/>
              <a:gdLst/>
              <a:ahLst/>
              <a:cxnLst/>
              <a:rect r="r" b="b" t="t" l="l"/>
              <a:pathLst>
                <a:path h="7105142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7088251"/>
                  </a:lnTo>
                  <a:cubicBezTo>
                    <a:pt x="21979382" y="7097649"/>
                    <a:pt x="21971763" y="7105142"/>
                    <a:pt x="21962490" y="7105142"/>
                  </a:cubicBezTo>
                  <a:lnTo>
                    <a:pt x="16891" y="7105142"/>
                  </a:lnTo>
                  <a:cubicBezTo>
                    <a:pt x="7493" y="7105142"/>
                    <a:pt x="0" y="7097522"/>
                    <a:pt x="0" y="7088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088251"/>
                  </a:lnTo>
                  <a:lnTo>
                    <a:pt x="16891" y="7088251"/>
                  </a:lnTo>
                  <a:lnTo>
                    <a:pt x="16891" y="7071360"/>
                  </a:lnTo>
                  <a:lnTo>
                    <a:pt x="21962490" y="7071360"/>
                  </a:lnTo>
                  <a:lnTo>
                    <a:pt x="21962490" y="7088251"/>
                  </a:lnTo>
                  <a:lnTo>
                    <a:pt x="21945600" y="7088251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A3A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188720" y="4615815"/>
            <a:ext cx="15910560" cy="51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&lt;Navbar bg="primary" variant="dark" expand="lg" fixed="top"&gt;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&lt;Container fluid&gt;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&lt;Navbar.Brand as={NavLink} to="/home"&gt;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&lt;i className="bi bi-box-fill"&gt;&lt;/i&gt; Mini-app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&lt;/Navbar.Brand&gt;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&lt;Navbar.Toggle aria-controls="basic-navbar-nav" /&gt;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&lt;Navbar.Collapse id="basic-navbar-nav"&gt;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&lt;Nav className="ms-auto"&gt;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&lt;Nav.Link as={NavLink} to="/"&gt;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Home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&lt;/Nav.Link&gt;</a:t>
            </a:r>
          </a:p>
          <a:p>
            <a:pPr algn="l">
              <a:lnSpc>
                <a:spcPts val="2879"/>
              </a:lnSpc>
            </a:pP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478104" y="79747"/>
            <a:ext cx="2436829" cy="1359547"/>
          </a:xfrm>
          <a:custGeom>
            <a:avLst/>
            <a:gdLst/>
            <a:ahLst/>
            <a:cxnLst/>
            <a:rect r="r" b="b" t="t" l="l"/>
            <a:pathLst>
              <a:path h="1359547" w="2436829">
                <a:moveTo>
                  <a:pt x="0" y="0"/>
                </a:moveTo>
                <a:lnTo>
                  <a:pt x="2436829" y="0"/>
                </a:lnTo>
                <a:lnTo>
                  <a:pt x="2436829" y="1359547"/>
                </a:lnTo>
                <a:lnTo>
                  <a:pt x="0" y="13595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01235" y="364457"/>
            <a:ext cx="11965689" cy="960537"/>
            <a:chOff x="0" y="0"/>
            <a:chExt cx="15954252" cy="128071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74789"/>
              <a:ext cx="2504464" cy="1131151"/>
              <a:chOff x="0" y="0"/>
              <a:chExt cx="2504464" cy="113115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12270" y="16891"/>
                <a:ext cx="2479859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2479859">
                    <a:moveTo>
                      <a:pt x="0" y="0"/>
                    </a:moveTo>
                    <a:lnTo>
                      <a:pt x="2479859" y="0"/>
                    </a:lnTo>
                    <a:lnTo>
                      <a:pt x="2479859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solidFill>
                <a:srgbClr val="1565C0"/>
              </a:solidFill>
            </p:spPr>
          </p:sp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504400" cy="1131064"/>
              </a:xfrm>
              <a:custGeom>
                <a:avLst/>
                <a:gdLst/>
                <a:ahLst/>
                <a:cxnLst/>
                <a:rect r="r" b="b" t="t" l="l"/>
                <a:pathLst>
                  <a:path h="1131064" w="2504400">
                    <a:moveTo>
                      <a:pt x="12270" y="0"/>
                    </a:moveTo>
                    <a:lnTo>
                      <a:pt x="2492129" y="0"/>
                    </a:lnTo>
                    <a:cubicBezTo>
                      <a:pt x="2498957" y="0"/>
                      <a:pt x="2504400" y="7620"/>
                      <a:pt x="2504400" y="16891"/>
                    </a:cubicBezTo>
                    <a:lnTo>
                      <a:pt x="2504400" y="1114171"/>
                    </a:lnTo>
                    <a:cubicBezTo>
                      <a:pt x="2504400" y="1123569"/>
                      <a:pt x="2498864" y="1131062"/>
                      <a:pt x="2492129" y="1131062"/>
                    </a:cubicBezTo>
                    <a:lnTo>
                      <a:pt x="12270" y="1131062"/>
                    </a:lnTo>
                    <a:cubicBezTo>
                      <a:pt x="5535" y="1131189"/>
                      <a:pt x="0" y="1123569"/>
                      <a:pt x="0" y="1114171"/>
                    </a:cubicBezTo>
                    <a:lnTo>
                      <a:pt x="0" y="16891"/>
                    </a:lnTo>
                    <a:cubicBezTo>
                      <a:pt x="0" y="7620"/>
                      <a:pt x="5535" y="0"/>
                      <a:pt x="12270" y="0"/>
                    </a:cubicBezTo>
                    <a:moveTo>
                      <a:pt x="12270" y="33909"/>
                    </a:moveTo>
                    <a:lnTo>
                      <a:pt x="12270" y="16891"/>
                    </a:lnTo>
                    <a:lnTo>
                      <a:pt x="24633" y="16891"/>
                    </a:lnTo>
                    <a:lnTo>
                      <a:pt x="24633" y="1114171"/>
                    </a:lnTo>
                    <a:lnTo>
                      <a:pt x="12270" y="1114171"/>
                    </a:lnTo>
                    <a:lnTo>
                      <a:pt x="12270" y="1097280"/>
                    </a:lnTo>
                    <a:lnTo>
                      <a:pt x="2492129" y="1097280"/>
                    </a:lnTo>
                    <a:lnTo>
                      <a:pt x="2492129" y="1114171"/>
                    </a:lnTo>
                    <a:lnTo>
                      <a:pt x="2479859" y="1114171"/>
                    </a:lnTo>
                    <a:lnTo>
                      <a:pt x="2479859" y="16891"/>
                    </a:lnTo>
                    <a:lnTo>
                      <a:pt x="2492129" y="16891"/>
                    </a:lnTo>
                    <a:lnTo>
                      <a:pt x="2492129" y="33909"/>
                    </a:lnTo>
                    <a:lnTo>
                      <a:pt x="12270" y="33909"/>
                    </a:lnTo>
                    <a:close/>
                  </a:path>
                </a:pathLst>
              </a:custGeom>
              <a:solidFill>
                <a:srgbClr val="1565C0"/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12298" y="91718"/>
              <a:ext cx="2479860" cy="1097280"/>
              <a:chOff x="0" y="0"/>
              <a:chExt cx="2479860" cy="109728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479859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2479859">
                    <a:moveTo>
                      <a:pt x="0" y="0"/>
                    </a:moveTo>
                    <a:lnTo>
                      <a:pt x="2479859" y="0"/>
                    </a:lnTo>
                    <a:lnTo>
                      <a:pt x="2479859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0620" r="-37659" b="-10620"/>
                </a:stretch>
              </a:blip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479860" cy="11353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879"/>
                  </a:lnSpc>
                </a:pPr>
                <a:r>
                  <a:rPr lang="en-US" sz="24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Bài tập 1</a:t>
                </a: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2846423" y="0"/>
              <a:ext cx="13107829" cy="1280716"/>
              <a:chOff x="0" y="0"/>
              <a:chExt cx="13107829" cy="128071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107829" cy="1280716"/>
              </a:xfrm>
              <a:custGeom>
                <a:avLst/>
                <a:gdLst/>
                <a:ahLst/>
                <a:cxnLst/>
                <a:rect r="r" b="b" t="t" l="l"/>
                <a:pathLst>
                  <a:path h="1280716" w="13107829">
                    <a:moveTo>
                      <a:pt x="0" y="0"/>
                    </a:moveTo>
                    <a:lnTo>
                      <a:pt x="13107829" y="0"/>
                    </a:lnTo>
                    <a:lnTo>
                      <a:pt x="13107829" y="1280716"/>
                    </a:lnTo>
                    <a:lnTo>
                      <a:pt x="0" y="1280716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231688" r="-37659" b="-217365"/>
                </a:stretch>
              </a:blip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85725"/>
                <a:ext cx="13107829" cy="136644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5759"/>
                  </a:lnSpc>
                </a:pPr>
                <a:r>
                  <a:rPr lang="en-US" sz="4800" b="true">
                    <a:solidFill>
                      <a:srgbClr val="1565C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Navbar responsive với active highlight</a:t>
                </a: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901703" y="1486919"/>
            <a:ext cx="16484603" cy="80267"/>
            <a:chOff x="0" y="0"/>
            <a:chExt cx="21979471" cy="10702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16891"/>
              <a:ext cx="21945599" cy="73152"/>
            </a:xfrm>
            <a:custGeom>
              <a:avLst/>
              <a:gdLst/>
              <a:ahLst/>
              <a:cxnLst/>
              <a:rect r="r" b="b" t="t" l="l"/>
              <a:pathLst>
                <a:path h="73152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E3E8F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79382" cy="106936"/>
            </a:xfrm>
            <a:custGeom>
              <a:avLst/>
              <a:gdLst/>
              <a:ahLst/>
              <a:cxnLst/>
              <a:rect r="r" b="b" t="t" l="l"/>
              <a:pathLst>
                <a:path h="106936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90043"/>
                  </a:lnTo>
                  <a:cubicBezTo>
                    <a:pt x="21979382" y="99441"/>
                    <a:pt x="21971763" y="106934"/>
                    <a:pt x="2196249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21962490" y="73152"/>
                  </a:lnTo>
                  <a:lnTo>
                    <a:pt x="21962490" y="90043"/>
                  </a:lnTo>
                  <a:lnTo>
                    <a:pt x="21945600" y="9004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3E8F0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478104" y="79747"/>
            <a:ext cx="2436829" cy="1359547"/>
          </a:xfrm>
          <a:custGeom>
            <a:avLst/>
            <a:gdLst/>
            <a:ahLst/>
            <a:cxnLst/>
            <a:rect r="r" b="b" t="t" l="l"/>
            <a:pathLst>
              <a:path h="1359547" w="2436829">
                <a:moveTo>
                  <a:pt x="0" y="0"/>
                </a:moveTo>
                <a:lnTo>
                  <a:pt x="2436829" y="0"/>
                </a:lnTo>
                <a:lnTo>
                  <a:pt x="2436829" y="1359547"/>
                </a:lnTo>
                <a:lnTo>
                  <a:pt x="0" y="13595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760143" y="2223301"/>
            <a:ext cx="3709341" cy="1059839"/>
            <a:chOff x="0" y="0"/>
            <a:chExt cx="4945788" cy="1413119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4945788" cy="1413119"/>
              <a:chOff x="0" y="0"/>
              <a:chExt cx="3866043" cy="1104612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5933" y="5610"/>
                <a:ext cx="3854146" cy="1093362"/>
              </a:xfrm>
              <a:custGeom>
                <a:avLst/>
                <a:gdLst/>
                <a:ahLst/>
                <a:cxnLst/>
                <a:rect r="r" b="b" t="t" l="l"/>
                <a:pathLst>
                  <a:path h="1093362" w="3854146">
                    <a:moveTo>
                      <a:pt x="0" y="0"/>
                    </a:moveTo>
                    <a:lnTo>
                      <a:pt x="3854146" y="0"/>
                    </a:lnTo>
                    <a:lnTo>
                      <a:pt x="3854146" y="1093362"/>
                    </a:lnTo>
                    <a:lnTo>
                      <a:pt x="0" y="1093362"/>
                    </a:lnTo>
                    <a:close/>
                  </a:path>
                </a:pathLst>
              </a:custGeom>
              <a:solidFill>
                <a:srgbClr val="E3F2FD"/>
              </a:solidFill>
            </p:spPr>
          </p:sp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3866012" cy="1104583"/>
              </a:xfrm>
              <a:custGeom>
                <a:avLst/>
                <a:gdLst/>
                <a:ahLst/>
                <a:cxnLst/>
                <a:rect r="r" b="b" t="t" l="l"/>
                <a:pathLst>
                  <a:path h="1104583" w="3866012">
                    <a:moveTo>
                      <a:pt x="5933" y="0"/>
                    </a:moveTo>
                    <a:lnTo>
                      <a:pt x="3860079" y="0"/>
                    </a:lnTo>
                    <a:cubicBezTo>
                      <a:pt x="3863380" y="0"/>
                      <a:pt x="3866012" y="2531"/>
                      <a:pt x="3866012" y="5610"/>
                    </a:cubicBezTo>
                    <a:lnTo>
                      <a:pt x="3866012" y="1098972"/>
                    </a:lnTo>
                    <a:cubicBezTo>
                      <a:pt x="3866012" y="1102094"/>
                      <a:pt x="3863335" y="1104583"/>
                      <a:pt x="3860079" y="1104583"/>
                    </a:cubicBezTo>
                    <a:lnTo>
                      <a:pt x="5933" y="1104583"/>
                    </a:lnTo>
                    <a:cubicBezTo>
                      <a:pt x="2632" y="1104583"/>
                      <a:pt x="0" y="1102052"/>
                      <a:pt x="0" y="1098972"/>
                    </a:cubicBezTo>
                    <a:lnTo>
                      <a:pt x="0" y="5610"/>
                    </a:lnTo>
                    <a:cubicBezTo>
                      <a:pt x="0" y="2531"/>
                      <a:pt x="2676" y="0"/>
                      <a:pt x="5933" y="0"/>
                    </a:cubicBezTo>
                    <a:moveTo>
                      <a:pt x="5933" y="11263"/>
                    </a:moveTo>
                    <a:lnTo>
                      <a:pt x="5933" y="5610"/>
                    </a:lnTo>
                    <a:lnTo>
                      <a:pt x="11910" y="5610"/>
                    </a:lnTo>
                    <a:lnTo>
                      <a:pt x="11910" y="1098972"/>
                    </a:lnTo>
                    <a:lnTo>
                      <a:pt x="5933" y="1098972"/>
                    </a:lnTo>
                    <a:lnTo>
                      <a:pt x="5933" y="1093362"/>
                    </a:lnTo>
                    <a:lnTo>
                      <a:pt x="3860079" y="1093362"/>
                    </a:lnTo>
                    <a:lnTo>
                      <a:pt x="3860079" y="1098972"/>
                    </a:lnTo>
                    <a:lnTo>
                      <a:pt x="3854146" y="1098972"/>
                    </a:lnTo>
                    <a:lnTo>
                      <a:pt x="3854146" y="5610"/>
                    </a:lnTo>
                    <a:lnTo>
                      <a:pt x="3860079" y="5610"/>
                    </a:lnTo>
                    <a:lnTo>
                      <a:pt x="3860079" y="11263"/>
                    </a:lnTo>
                    <a:lnTo>
                      <a:pt x="5933" y="11263"/>
                    </a:lnTo>
                    <a:close/>
                  </a:path>
                </a:pathLst>
              </a:custGeom>
              <a:solidFill>
                <a:srgbClr val="90CAF9"/>
              </a:solidFill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489570" y="207593"/>
              <a:ext cx="4456218" cy="1091797"/>
              <a:chOff x="0" y="0"/>
              <a:chExt cx="3483354" cy="85344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3483354" cy="853440"/>
              </a:xfrm>
              <a:custGeom>
                <a:avLst/>
                <a:gdLst/>
                <a:ahLst/>
                <a:cxnLst/>
                <a:rect r="r" b="b" t="t" l="l"/>
                <a:pathLst>
                  <a:path h="853440" w="3483354">
                    <a:moveTo>
                      <a:pt x="0" y="0"/>
                    </a:moveTo>
                    <a:lnTo>
                      <a:pt x="3483354" y="0"/>
                    </a:lnTo>
                    <a:lnTo>
                      <a:pt x="3483354" y="853440"/>
                    </a:lnTo>
                    <a:lnTo>
                      <a:pt x="0" y="85344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83820" r="-194006" b="-183820"/>
                </a:stretch>
              </a:blip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57150"/>
                <a:ext cx="3483354" cy="91059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599"/>
                  </a:lnSpc>
                </a:pPr>
                <a:r>
                  <a:rPr lang="en-US" sz="2999" b="true">
                    <a:solidFill>
                      <a:srgbClr val="1565C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Kết quả giao diện</a:t>
                </a:r>
              </a:p>
            </p:txBody>
          </p:sp>
        </p:grpSp>
      </p:grpSp>
      <p:sp>
        <p:nvSpPr>
          <p:cNvPr name="Freeform 23" id="23"/>
          <p:cNvSpPr/>
          <p:nvPr/>
        </p:nvSpPr>
        <p:spPr>
          <a:xfrm flipH="false" flipV="false" rot="0">
            <a:off x="4469484" y="1982547"/>
            <a:ext cx="8706799" cy="7850387"/>
          </a:xfrm>
          <a:custGeom>
            <a:avLst/>
            <a:gdLst/>
            <a:ahLst/>
            <a:cxnLst/>
            <a:rect r="r" b="b" t="t" l="l"/>
            <a:pathLst>
              <a:path h="7850387" w="8706799">
                <a:moveTo>
                  <a:pt x="0" y="0"/>
                </a:moveTo>
                <a:lnTo>
                  <a:pt x="8706799" y="0"/>
                </a:lnTo>
                <a:lnTo>
                  <a:pt x="8706799" y="7850387"/>
                </a:lnTo>
                <a:lnTo>
                  <a:pt x="0" y="78503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681" r="0" b="-2681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4825861" y="5907741"/>
            <a:ext cx="2876672" cy="1609148"/>
            <a:chOff x="0" y="0"/>
            <a:chExt cx="3835563" cy="214553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35563" cy="2145531"/>
            </a:xfrm>
            <a:custGeom>
              <a:avLst/>
              <a:gdLst/>
              <a:ahLst/>
              <a:cxnLst/>
              <a:rect r="r" b="b" t="t" l="l"/>
              <a:pathLst>
                <a:path h="2145531" w="3835563">
                  <a:moveTo>
                    <a:pt x="0" y="0"/>
                  </a:moveTo>
                  <a:lnTo>
                    <a:pt x="3835563" y="0"/>
                  </a:lnTo>
                  <a:lnTo>
                    <a:pt x="3835563" y="2145531"/>
                  </a:lnTo>
                  <a:lnTo>
                    <a:pt x="0" y="214553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690" r="-154293" b="-846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3835563" cy="2193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2E7D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Giao diện ở chế độ responsive và mục Home đang được chọn highlight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-9956103">
            <a:off x="12896167" y="6305068"/>
            <a:ext cx="1768418" cy="482296"/>
          </a:xfrm>
          <a:custGeom>
            <a:avLst/>
            <a:gdLst/>
            <a:ahLst/>
            <a:cxnLst/>
            <a:rect r="r" b="b" t="t" l="l"/>
            <a:pathLst>
              <a:path h="482296" w="1768418">
                <a:moveTo>
                  <a:pt x="0" y="0"/>
                </a:moveTo>
                <a:lnTo>
                  <a:pt x="1768419" y="0"/>
                </a:lnTo>
                <a:lnTo>
                  <a:pt x="1768419" y="482296"/>
                </a:lnTo>
                <a:lnTo>
                  <a:pt x="0" y="4822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99827" y="372924"/>
            <a:ext cx="1582922" cy="848363"/>
            <a:chOff x="0" y="0"/>
            <a:chExt cx="2110562" cy="11311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0340" y="16891"/>
              <a:ext cx="2089827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89827">
                  <a:moveTo>
                    <a:pt x="0" y="0"/>
                  </a:moveTo>
                  <a:lnTo>
                    <a:pt x="2089827" y="0"/>
                  </a:lnTo>
                  <a:lnTo>
                    <a:pt x="2089827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097A7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10508" cy="1131064"/>
            </a:xfrm>
            <a:custGeom>
              <a:avLst/>
              <a:gdLst/>
              <a:ahLst/>
              <a:cxnLst/>
              <a:rect r="r" b="b" t="t" l="l"/>
              <a:pathLst>
                <a:path h="1131064" w="2110508">
                  <a:moveTo>
                    <a:pt x="10340" y="0"/>
                  </a:moveTo>
                  <a:lnTo>
                    <a:pt x="2100167" y="0"/>
                  </a:lnTo>
                  <a:cubicBezTo>
                    <a:pt x="2105920" y="0"/>
                    <a:pt x="2110508" y="7620"/>
                    <a:pt x="2110508" y="16891"/>
                  </a:cubicBezTo>
                  <a:lnTo>
                    <a:pt x="2110508" y="1114171"/>
                  </a:lnTo>
                  <a:cubicBezTo>
                    <a:pt x="2110508" y="1123569"/>
                    <a:pt x="2105843" y="1131062"/>
                    <a:pt x="2100167" y="1131062"/>
                  </a:cubicBezTo>
                  <a:lnTo>
                    <a:pt x="10340" y="1131062"/>
                  </a:lnTo>
                  <a:cubicBezTo>
                    <a:pt x="4665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4665" y="0"/>
                    <a:pt x="10340" y="0"/>
                  </a:cubicBezTo>
                  <a:moveTo>
                    <a:pt x="10340" y="33909"/>
                  </a:moveTo>
                  <a:lnTo>
                    <a:pt x="10340" y="16891"/>
                  </a:lnTo>
                  <a:lnTo>
                    <a:pt x="20758" y="16891"/>
                  </a:lnTo>
                  <a:lnTo>
                    <a:pt x="20758" y="1114171"/>
                  </a:lnTo>
                  <a:lnTo>
                    <a:pt x="10340" y="1114171"/>
                  </a:lnTo>
                  <a:lnTo>
                    <a:pt x="10340" y="1097280"/>
                  </a:lnTo>
                  <a:lnTo>
                    <a:pt x="2100167" y="1097280"/>
                  </a:lnTo>
                  <a:lnTo>
                    <a:pt x="2100167" y="1114171"/>
                  </a:lnTo>
                  <a:lnTo>
                    <a:pt x="2089827" y="1114171"/>
                  </a:lnTo>
                  <a:lnTo>
                    <a:pt x="2089827" y="16891"/>
                  </a:lnTo>
                  <a:lnTo>
                    <a:pt x="2100167" y="16891"/>
                  </a:lnTo>
                  <a:lnTo>
                    <a:pt x="2100167" y="33909"/>
                  </a:lnTo>
                  <a:lnTo>
                    <a:pt x="10340" y="33909"/>
                  </a:lnTo>
                  <a:close/>
                </a:path>
              </a:pathLst>
            </a:custGeom>
            <a:solidFill>
              <a:srgbClr val="0097A7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4307600" y="385621"/>
            <a:ext cx="1567370" cy="822960"/>
            <a:chOff x="0" y="0"/>
            <a:chExt cx="2089827" cy="1097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89827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89827">
                  <a:moveTo>
                    <a:pt x="0" y="0"/>
                  </a:moveTo>
                  <a:lnTo>
                    <a:pt x="2089827" y="0"/>
                  </a:lnTo>
                  <a:lnTo>
                    <a:pt x="2089827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620" r="-63351" b="-1062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89827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Bài tập 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098880" y="316832"/>
            <a:ext cx="8284671" cy="960537"/>
            <a:chOff x="0" y="0"/>
            <a:chExt cx="11046228" cy="12807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46229" cy="1280716"/>
            </a:xfrm>
            <a:custGeom>
              <a:avLst/>
              <a:gdLst/>
              <a:ahLst/>
              <a:cxnLst/>
              <a:rect r="r" b="b" t="t" l="l"/>
              <a:pathLst>
                <a:path h="1280716" w="11046229">
                  <a:moveTo>
                    <a:pt x="0" y="0"/>
                  </a:moveTo>
                  <a:lnTo>
                    <a:pt x="11046229" y="0"/>
                  </a:lnTo>
                  <a:lnTo>
                    <a:pt x="11046229" y="1280716"/>
                  </a:lnTo>
                  <a:lnTo>
                    <a:pt x="0" y="12807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1688" r="-63351" b="-21736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11046228" cy="1366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Table + Modal xác nhận xoá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1703" y="1486919"/>
            <a:ext cx="16484603" cy="80267"/>
            <a:chOff x="0" y="0"/>
            <a:chExt cx="21979471" cy="1070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1945599" cy="73152"/>
            </a:xfrm>
            <a:custGeom>
              <a:avLst/>
              <a:gdLst/>
              <a:ahLst/>
              <a:cxnLst/>
              <a:rect r="r" b="b" t="t" l="l"/>
              <a:pathLst>
                <a:path h="73152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E3E8F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79382" cy="106936"/>
            </a:xfrm>
            <a:custGeom>
              <a:avLst/>
              <a:gdLst/>
              <a:ahLst/>
              <a:cxnLst/>
              <a:rect r="r" b="b" t="t" l="l"/>
              <a:pathLst>
                <a:path h="106936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90043"/>
                  </a:lnTo>
                  <a:cubicBezTo>
                    <a:pt x="21979382" y="99441"/>
                    <a:pt x="21971763" y="106934"/>
                    <a:pt x="2196249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21962490" y="73152"/>
                  </a:lnTo>
                  <a:lnTo>
                    <a:pt x="21962490" y="90043"/>
                  </a:lnTo>
                  <a:lnTo>
                    <a:pt x="21945600" y="9004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3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01703" y="1724663"/>
            <a:ext cx="8255003" cy="2219963"/>
            <a:chOff x="0" y="0"/>
            <a:chExt cx="11006671" cy="29599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09728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E3F2FD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006582" cy="2959862"/>
            </a:xfrm>
            <a:custGeom>
              <a:avLst/>
              <a:gdLst/>
              <a:ahLst/>
              <a:cxnLst/>
              <a:rect r="r" b="b" t="t" l="l"/>
              <a:pathLst>
                <a:path h="295986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942971"/>
                  </a:lnTo>
                  <a:cubicBezTo>
                    <a:pt x="11006582" y="2952369"/>
                    <a:pt x="10998962" y="2959862"/>
                    <a:pt x="1098969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0989691" y="2926080"/>
                  </a:lnTo>
                  <a:lnTo>
                    <a:pt x="10989691" y="2942971"/>
                  </a:lnTo>
                  <a:lnTo>
                    <a:pt x="10972800" y="294297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0CAF9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88720" y="1792224"/>
            <a:ext cx="7680960" cy="640080"/>
            <a:chOff x="0" y="0"/>
            <a:chExt cx="10241280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24128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📌 Yêu cầu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88725" y="2274065"/>
            <a:ext cx="7680960" cy="1316736"/>
            <a:chOff x="0" y="0"/>
            <a:chExt cx="10241280" cy="17556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1280" cy="1755648"/>
            </a:xfrm>
            <a:custGeom>
              <a:avLst/>
              <a:gdLst/>
              <a:ahLst/>
              <a:cxnLst/>
              <a:rect r="r" b="b" t="t" l="l"/>
              <a:pathLst>
                <a:path h="175564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0241280" cy="1803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Hiển thị 10 bản ghi dạng Table</a:t>
              </a:r>
            </a:p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Nút Xoá → Modal xác nhận</a:t>
              </a:r>
            </a:p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Xác nhận → xoá khỏi danh sách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497063" y="1724663"/>
            <a:ext cx="7889243" cy="2219963"/>
            <a:chOff x="0" y="0"/>
            <a:chExt cx="10518991" cy="29599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04851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E8F5E9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518901" cy="2959862"/>
            </a:xfrm>
            <a:custGeom>
              <a:avLst/>
              <a:gdLst/>
              <a:ahLst/>
              <a:cxnLst/>
              <a:rect r="r" b="b" t="t" l="l"/>
              <a:pathLst>
                <a:path h="2959862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2942971"/>
                  </a:lnTo>
                  <a:cubicBezTo>
                    <a:pt x="10518901" y="2952369"/>
                    <a:pt x="10511282" y="2959862"/>
                    <a:pt x="1050201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0502011" y="2926080"/>
                  </a:lnTo>
                  <a:lnTo>
                    <a:pt x="10502011" y="2942971"/>
                  </a:lnTo>
                  <a:lnTo>
                    <a:pt x="10485120" y="294297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5D6A7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784080" y="1792224"/>
            <a:ext cx="7315200" cy="640080"/>
            <a:chOff x="0" y="0"/>
            <a:chExt cx="9753600" cy="8534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753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2E7D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Kỹ thuật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784085" y="2274065"/>
            <a:ext cx="7315200" cy="1316736"/>
            <a:chOff x="0" y="0"/>
            <a:chExt cx="9753600" cy="17556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7536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9753600" cy="1803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useState lưu mảng products</a:t>
              </a:r>
            </a:p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.filter() tạo mảng mới khi xoá (immutability)</a:t>
              </a:r>
            </a:p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deleteProduct state kích hoạt Modal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01703" y="4156967"/>
            <a:ext cx="8072123" cy="5511803"/>
            <a:chOff x="0" y="0"/>
            <a:chExt cx="10762831" cy="734907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0728960" cy="7315200"/>
            </a:xfrm>
            <a:custGeom>
              <a:avLst/>
              <a:gdLst/>
              <a:ahLst/>
              <a:cxnLst/>
              <a:rect r="r" b="b" t="t" l="l"/>
              <a:pathLst>
                <a:path h="731520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1E2A3A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762742" cy="7348982"/>
            </a:xfrm>
            <a:custGeom>
              <a:avLst/>
              <a:gdLst/>
              <a:ahLst/>
              <a:cxnLst/>
              <a:rect r="r" b="b" t="t" l="l"/>
              <a:pathLst>
                <a:path h="734898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7332091"/>
                  </a:lnTo>
                  <a:cubicBezTo>
                    <a:pt x="10762742" y="7341489"/>
                    <a:pt x="10755122" y="7348982"/>
                    <a:pt x="10745851" y="7348982"/>
                  </a:cubicBezTo>
                  <a:lnTo>
                    <a:pt x="16891" y="7348982"/>
                  </a:lnTo>
                  <a:cubicBezTo>
                    <a:pt x="7493" y="7348982"/>
                    <a:pt x="0" y="7341362"/>
                    <a:pt x="0" y="7332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332091"/>
                  </a:lnTo>
                  <a:lnTo>
                    <a:pt x="16891" y="7332091"/>
                  </a:lnTo>
                  <a:lnTo>
                    <a:pt x="16891" y="7315200"/>
                  </a:lnTo>
                  <a:lnTo>
                    <a:pt x="10745851" y="7315200"/>
                  </a:lnTo>
                  <a:lnTo>
                    <a:pt x="10745851" y="7332091"/>
                  </a:lnTo>
                  <a:lnTo>
                    <a:pt x="10728960" y="733209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A3A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188720" y="4173226"/>
            <a:ext cx="7498080" cy="570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//Nút xoá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&lt;B</a:t>
            </a: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utton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variant="white"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className="border shadow-sm btn-sm px-3"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onClick={() =&gt; handleOpenDeleteModal(p)}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&gt;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Xoá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&lt;/Button&gt;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//Hàm lọc dữ liệu để xoá sản phẩm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const handleConfirmDelete = () =&gt; {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setProducts(products.filter((product) =&gt; product.id !== deleteProduct.id));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setDeleteProduct(null);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showAlert("warning", "Đã xoá sản phẩm thành công!");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};</a:t>
            </a:r>
          </a:p>
          <a:p>
            <a:pPr algn="l">
              <a:lnSpc>
                <a:spcPts val="2520"/>
              </a:lnSpc>
            </a:pPr>
          </a:p>
        </p:txBody>
      </p:sp>
      <p:grpSp>
        <p:nvGrpSpPr>
          <p:cNvPr name="Group 36" id="36"/>
          <p:cNvGrpSpPr/>
          <p:nvPr/>
        </p:nvGrpSpPr>
        <p:grpSpPr>
          <a:xfrm rot="0">
            <a:off x="9497063" y="4156967"/>
            <a:ext cx="7889243" cy="5511803"/>
            <a:chOff x="0" y="0"/>
            <a:chExt cx="10518991" cy="734907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6891" y="16891"/>
              <a:ext cx="10485120" cy="7315200"/>
            </a:xfrm>
            <a:custGeom>
              <a:avLst/>
              <a:gdLst/>
              <a:ahLst/>
              <a:cxnLst/>
              <a:rect r="r" b="b" t="t" l="l"/>
              <a:pathLst>
                <a:path h="73152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1E2A3A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518901" cy="7348982"/>
            </a:xfrm>
            <a:custGeom>
              <a:avLst/>
              <a:gdLst/>
              <a:ahLst/>
              <a:cxnLst/>
              <a:rect r="r" b="b" t="t" l="l"/>
              <a:pathLst>
                <a:path h="7348982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7332091"/>
                  </a:lnTo>
                  <a:cubicBezTo>
                    <a:pt x="10518901" y="7341489"/>
                    <a:pt x="10511282" y="7348982"/>
                    <a:pt x="10502011" y="7348982"/>
                  </a:cubicBezTo>
                  <a:lnTo>
                    <a:pt x="16891" y="7348982"/>
                  </a:lnTo>
                  <a:cubicBezTo>
                    <a:pt x="7493" y="7348982"/>
                    <a:pt x="0" y="7341362"/>
                    <a:pt x="0" y="7332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332091"/>
                  </a:lnTo>
                  <a:lnTo>
                    <a:pt x="16891" y="7332091"/>
                  </a:lnTo>
                  <a:lnTo>
                    <a:pt x="16891" y="7315200"/>
                  </a:lnTo>
                  <a:lnTo>
                    <a:pt x="10502011" y="7315200"/>
                  </a:lnTo>
                  <a:lnTo>
                    <a:pt x="10502011" y="7332091"/>
                  </a:lnTo>
                  <a:lnTo>
                    <a:pt x="10485120" y="733209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A3A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9784080" y="4411351"/>
            <a:ext cx="7315200" cy="444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&lt;Table responsive hover className="align-middle"&gt;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&lt;thead className="bg-light"&gt;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&lt;tr className="text-secondary small text-uppercase fw-bold"&gt;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&lt;th className="py-3 border-0"&gt;STT&lt;/th&gt;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&lt;th className="py-3 border-0"&gt;Tên sản phẩm&lt;/th&gt;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&lt;th className="py-3 border-0"&gt;Danh mục&lt;/th&gt;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&lt;th className="py-3 border-0"&gt;Đơn giá&lt;/th&gt;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&lt;th className="py-3 border-0"&gt;Kho&lt;/th&gt;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&lt;th className="py-3 border-0"&gt;Trạng thái&lt;/th&gt;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&lt;th className="py-3 border-0"&gt;Thao tác&lt;/th&gt;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&lt;/tr&gt;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&lt;/thead&gt;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478104" y="79747"/>
            <a:ext cx="2436829" cy="1359547"/>
          </a:xfrm>
          <a:custGeom>
            <a:avLst/>
            <a:gdLst/>
            <a:ahLst/>
            <a:cxnLst/>
            <a:rect r="r" b="b" t="t" l="l"/>
            <a:pathLst>
              <a:path h="1359547" w="2436829">
                <a:moveTo>
                  <a:pt x="0" y="0"/>
                </a:moveTo>
                <a:lnTo>
                  <a:pt x="2436829" y="0"/>
                </a:lnTo>
                <a:lnTo>
                  <a:pt x="2436829" y="1359547"/>
                </a:lnTo>
                <a:lnTo>
                  <a:pt x="0" y="13595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90535" y="505740"/>
            <a:ext cx="1878348" cy="848363"/>
            <a:chOff x="0" y="0"/>
            <a:chExt cx="2504464" cy="11311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270" y="16891"/>
              <a:ext cx="2479859" cy="1097280"/>
            </a:xfrm>
            <a:custGeom>
              <a:avLst/>
              <a:gdLst/>
              <a:ahLst/>
              <a:cxnLst/>
              <a:rect r="r" b="b" t="t" l="l"/>
              <a:pathLst>
                <a:path h="1097280" w="2479859">
                  <a:moveTo>
                    <a:pt x="0" y="0"/>
                  </a:moveTo>
                  <a:lnTo>
                    <a:pt x="2479859" y="0"/>
                  </a:lnTo>
                  <a:lnTo>
                    <a:pt x="2479859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097A7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04400" cy="1131064"/>
            </a:xfrm>
            <a:custGeom>
              <a:avLst/>
              <a:gdLst/>
              <a:ahLst/>
              <a:cxnLst/>
              <a:rect r="r" b="b" t="t" l="l"/>
              <a:pathLst>
                <a:path h="1131064" w="2504400">
                  <a:moveTo>
                    <a:pt x="12270" y="0"/>
                  </a:moveTo>
                  <a:lnTo>
                    <a:pt x="2492129" y="0"/>
                  </a:lnTo>
                  <a:cubicBezTo>
                    <a:pt x="2498957" y="0"/>
                    <a:pt x="2504400" y="7620"/>
                    <a:pt x="2504400" y="16891"/>
                  </a:cubicBezTo>
                  <a:lnTo>
                    <a:pt x="2504400" y="1114171"/>
                  </a:lnTo>
                  <a:cubicBezTo>
                    <a:pt x="2504400" y="1123569"/>
                    <a:pt x="2498864" y="1131062"/>
                    <a:pt x="2492129" y="1131062"/>
                  </a:cubicBezTo>
                  <a:lnTo>
                    <a:pt x="12270" y="1131062"/>
                  </a:lnTo>
                  <a:cubicBezTo>
                    <a:pt x="5535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5535" y="0"/>
                    <a:pt x="12270" y="0"/>
                  </a:cubicBezTo>
                  <a:moveTo>
                    <a:pt x="12270" y="33909"/>
                  </a:moveTo>
                  <a:lnTo>
                    <a:pt x="12270" y="16891"/>
                  </a:lnTo>
                  <a:lnTo>
                    <a:pt x="24633" y="16891"/>
                  </a:lnTo>
                  <a:lnTo>
                    <a:pt x="24633" y="1114171"/>
                  </a:lnTo>
                  <a:lnTo>
                    <a:pt x="12270" y="1114171"/>
                  </a:lnTo>
                  <a:lnTo>
                    <a:pt x="12270" y="1097280"/>
                  </a:lnTo>
                  <a:lnTo>
                    <a:pt x="2492129" y="1097280"/>
                  </a:lnTo>
                  <a:lnTo>
                    <a:pt x="2492129" y="1114171"/>
                  </a:lnTo>
                  <a:lnTo>
                    <a:pt x="2479859" y="1114171"/>
                  </a:lnTo>
                  <a:lnTo>
                    <a:pt x="2479859" y="16891"/>
                  </a:lnTo>
                  <a:lnTo>
                    <a:pt x="2492129" y="16891"/>
                  </a:lnTo>
                  <a:lnTo>
                    <a:pt x="2492129" y="33909"/>
                  </a:lnTo>
                  <a:lnTo>
                    <a:pt x="12270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3999762" y="518442"/>
            <a:ext cx="1859895" cy="822960"/>
            <a:chOff x="0" y="0"/>
            <a:chExt cx="2479860" cy="1097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79859" cy="1097280"/>
            </a:xfrm>
            <a:custGeom>
              <a:avLst/>
              <a:gdLst/>
              <a:ahLst/>
              <a:cxnLst/>
              <a:rect r="r" b="b" t="t" l="l"/>
              <a:pathLst>
                <a:path h="1097280" w="2479859">
                  <a:moveTo>
                    <a:pt x="0" y="0"/>
                  </a:moveTo>
                  <a:lnTo>
                    <a:pt x="2479859" y="0"/>
                  </a:lnTo>
                  <a:lnTo>
                    <a:pt x="247985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620" r="-37659" b="-1062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7986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Bài tập 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120733" y="479343"/>
            <a:ext cx="9830872" cy="1724118"/>
            <a:chOff x="0" y="0"/>
            <a:chExt cx="13107829" cy="22988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107829" cy="2298824"/>
            </a:xfrm>
            <a:custGeom>
              <a:avLst/>
              <a:gdLst/>
              <a:ahLst/>
              <a:cxnLst/>
              <a:rect r="r" b="b" t="t" l="l"/>
              <a:pathLst>
                <a:path h="2298824" w="13107829">
                  <a:moveTo>
                    <a:pt x="0" y="0"/>
                  </a:moveTo>
                  <a:lnTo>
                    <a:pt x="13107829" y="0"/>
                  </a:lnTo>
                  <a:lnTo>
                    <a:pt x="13107829" y="2298824"/>
                  </a:lnTo>
                  <a:lnTo>
                    <a:pt x="0" y="2298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077" r="-37659" b="-7681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13107829" cy="23845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</a:t>
              </a:r>
              <a:r>
                <a:rPr lang="en-US" sz="48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able + Modal xác nhận xoá</a:t>
              </a:r>
            </a:p>
            <a:p>
              <a:pPr algn="l">
                <a:lnSpc>
                  <a:spcPts val="57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1703" y="1486919"/>
            <a:ext cx="16484603" cy="80267"/>
            <a:chOff x="0" y="0"/>
            <a:chExt cx="21979471" cy="1070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1945599" cy="73152"/>
            </a:xfrm>
            <a:custGeom>
              <a:avLst/>
              <a:gdLst/>
              <a:ahLst/>
              <a:cxnLst/>
              <a:rect r="r" b="b" t="t" l="l"/>
              <a:pathLst>
                <a:path h="73152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E3E8F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79382" cy="106936"/>
            </a:xfrm>
            <a:custGeom>
              <a:avLst/>
              <a:gdLst/>
              <a:ahLst/>
              <a:cxnLst/>
              <a:rect r="r" b="b" t="t" l="l"/>
              <a:pathLst>
                <a:path h="106936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90043"/>
                  </a:lnTo>
                  <a:cubicBezTo>
                    <a:pt x="21979382" y="99441"/>
                    <a:pt x="21971763" y="106934"/>
                    <a:pt x="2196249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21962490" y="73152"/>
                  </a:lnTo>
                  <a:lnTo>
                    <a:pt x="21962490" y="90043"/>
                  </a:lnTo>
                  <a:lnTo>
                    <a:pt x="21945600" y="9004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3E8F0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478104" y="79747"/>
            <a:ext cx="2436829" cy="1359547"/>
          </a:xfrm>
          <a:custGeom>
            <a:avLst/>
            <a:gdLst/>
            <a:ahLst/>
            <a:cxnLst/>
            <a:rect r="r" b="b" t="t" l="l"/>
            <a:pathLst>
              <a:path h="1359547" w="2436829">
                <a:moveTo>
                  <a:pt x="0" y="0"/>
                </a:moveTo>
                <a:lnTo>
                  <a:pt x="2436829" y="0"/>
                </a:lnTo>
                <a:lnTo>
                  <a:pt x="2436829" y="1359547"/>
                </a:lnTo>
                <a:lnTo>
                  <a:pt x="0" y="13595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60143" y="2223301"/>
            <a:ext cx="3709341" cy="1059839"/>
            <a:chOff x="0" y="0"/>
            <a:chExt cx="4945788" cy="1413119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4945788" cy="1413119"/>
              <a:chOff x="0" y="0"/>
              <a:chExt cx="3866043" cy="110461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5933" y="5610"/>
                <a:ext cx="3854146" cy="1093362"/>
              </a:xfrm>
              <a:custGeom>
                <a:avLst/>
                <a:gdLst/>
                <a:ahLst/>
                <a:cxnLst/>
                <a:rect r="r" b="b" t="t" l="l"/>
                <a:pathLst>
                  <a:path h="1093362" w="3854146">
                    <a:moveTo>
                      <a:pt x="0" y="0"/>
                    </a:moveTo>
                    <a:lnTo>
                      <a:pt x="3854146" y="0"/>
                    </a:lnTo>
                    <a:lnTo>
                      <a:pt x="3854146" y="1093362"/>
                    </a:lnTo>
                    <a:lnTo>
                      <a:pt x="0" y="1093362"/>
                    </a:lnTo>
                    <a:close/>
                  </a:path>
                </a:pathLst>
              </a:custGeom>
              <a:solidFill>
                <a:srgbClr val="E3F2FD"/>
              </a:solidFill>
            </p:spPr>
          </p:sp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866012" cy="1104583"/>
              </a:xfrm>
              <a:custGeom>
                <a:avLst/>
                <a:gdLst/>
                <a:ahLst/>
                <a:cxnLst/>
                <a:rect r="r" b="b" t="t" l="l"/>
                <a:pathLst>
                  <a:path h="1104583" w="3866012">
                    <a:moveTo>
                      <a:pt x="5933" y="0"/>
                    </a:moveTo>
                    <a:lnTo>
                      <a:pt x="3860079" y="0"/>
                    </a:lnTo>
                    <a:cubicBezTo>
                      <a:pt x="3863380" y="0"/>
                      <a:pt x="3866012" y="2531"/>
                      <a:pt x="3866012" y="5610"/>
                    </a:cubicBezTo>
                    <a:lnTo>
                      <a:pt x="3866012" y="1098972"/>
                    </a:lnTo>
                    <a:cubicBezTo>
                      <a:pt x="3866012" y="1102094"/>
                      <a:pt x="3863335" y="1104583"/>
                      <a:pt x="3860079" y="1104583"/>
                    </a:cubicBezTo>
                    <a:lnTo>
                      <a:pt x="5933" y="1104583"/>
                    </a:lnTo>
                    <a:cubicBezTo>
                      <a:pt x="2632" y="1104583"/>
                      <a:pt x="0" y="1102052"/>
                      <a:pt x="0" y="1098972"/>
                    </a:cubicBezTo>
                    <a:lnTo>
                      <a:pt x="0" y="5610"/>
                    </a:lnTo>
                    <a:cubicBezTo>
                      <a:pt x="0" y="2531"/>
                      <a:pt x="2676" y="0"/>
                      <a:pt x="5933" y="0"/>
                    </a:cubicBezTo>
                    <a:moveTo>
                      <a:pt x="5933" y="11263"/>
                    </a:moveTo>
                    <a:lnTo>
                      <a:pt x="5933" y="5610"/>
                    </a:lnTo>
                    <a:lnTo>
                      <a:pt x="11910" y="5610"/>
                    </a:lnTo>
                    <a:lnTo>
                      <a:pt x="11910" y="1098972"/>
                    </a:lnTo>
                    <a:lnTo>
                      <a:pt x="5933" y="1098972"/>
                    </a:lnTo>
                    <a:lnTo>
                      <a:pt x="5933" y="1093362"/>
                    </a:lnTo>
                    <a:lnTo>
                      <a:pt x="3860079" y="1093362"/>
                    </a:lnTo>
                    <a:lnTo>
                      <a:pt x="3860079" y="1098972"/>
                    </a:lnTo>
                    <a:lnTo>
                      <a:pt x="3854146" y="1098972"/>
                    </a:lnTo>
                    <a:lnTo>
                      <a:pt x="3854146" y="5610"/>
                    </a:lnTo>
                    <a:lnTo>
                      <a:pt x="3860079" y="5610"/>
                    </a:lnTo>
                    <a:lnTo>
                      <a:pt x="3860079" y="11263"/>
                    </a:lnTo>
                    <a:lnTo>
                      <a:pt x="5933" y="11263"/>
                    </a:lnTo>
                    <a:close/>
                  </a:path>
                </a:pathLst>
              </a:custGeom>
              <a:solidFill>
                <a:srgbClr val="90CAF9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489570" y="207593"/>
              <a:ext cx="4456218" cy="1091797"/>
              <a:chOff x="0" y="0"/>
              <a:chExt cx="3483354" cy="85344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3483354" cy="853440"/>
              </a:xfrm>
              <a:custGeom>
                <a:avLst/>
                <a:gdLst/>
                <a:ahLst/>
                <a:cxnLst/>
                <a:rect r="r" b="b" t="t" l="l"/>
                <a:pathLst>
                  <a:path h="853440" w="3483354">
                    <a:moveTo>
                      <a:pt x="0" y="0"/>
                    </a:moveTo>
                    <a:lnTo>
                      <a:pt x="3483354" y="0"/>
                    </a:lnTo>
                    <a:lnTo>
                      <a:pt x="3483354" y="853440"/>
                    </a:lnTo>
                    <a:lnTo>
                      <a:pt x="0" y="85344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83820" r="-194006" b="-183820"/>
                </a:stretch>
              </a:blip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57150"/>
                <a:ext cx="3483354" cy="91059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599"/>
                  </a:lnSpc>
                </a:pPr>
                <a:r>
                  <a:rPr lang="en-US" sz="2999" b="true">
                    <a:solidFill>
                      <a:srgbClr val="1565C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Kết quả giao diện</a:t>
                </a: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247925" y="6388211"/>
            <a:ext cx="2230290" cy="1237673"/>
            <a:chOff x="0" y="0"/>
            <a:chExt cx="2973720" cy="165023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973720" cy="1650231"/>
            </a:xfrm>
            <a:custGeom>
              <a:avLst/>
              <a:gdLst/>
              <a:ahLst/>
              <a:cxnLst/>
              <a:rect r="r" b="b" t="t" l="l"/>
              <a:pathLst>
                <a:path h="1650231" w="2973720">
                  <a:moveTo>
                    <a:pt x="0" y="0"/>
                  </a:moveTo>
                  <a:lnTo>
                    <a:pt x="2973720" y="0"/>
                  </a:lnTo>
                  <a:lnTo>
                    <a:pt x="2973720" y="1650231"/>
                  </a:lnTo>
                  <a:lnTo>
                    <a:pt x="0" y="165023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307" r="-227993" b="-4102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973720" cy="1697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2E7D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Giao diện bảng thể hiện 10 bản ghi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-2095189">
            <a:off x="1042448" y="5611661"/>
            <a:ext cx="1453153" cy="396314"/>
          </a:xfrm>
          <a:custGeom>
            <a:avLst/>
            <a:gdLst/>
            <a:ahLst/>
            <a:cxnLst/>
            <a:rect r="r" b="b" t="t" l="l"/>
            <a:pathLst>
              <a:path h="396314" w="1453153">
                <a:moveTo>
                  <a:pt x="0" y="0"/>
                </a:moveTo>
                <a:lnTo>
                  <a:pt x="1453153" y="0"/>
                </a:lnTo>
                <a:lnTo>
                  <a:pt x="1453153" y="396314"/>
                </a:lnTo>
                <a:lnTo>
                  <a:pt x="0" y="3963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2682686" y="3426015"/>
            <a:ext cx="8353484" cy="4767606"/>
          </a:xfrm>
          <a:custGeom>
            <a:avLst/>
            <a:gdLst/>
            <a:ahLst/>
            <a:cxnLst/>
            <a:rect r="r" b="b" t="t" l="l"/>
            <a:pathLst>
              <a:path h="4767606" w="8353484">
                <a:moveTo>
                  <a:pt x="0" y="0"/>
                </a:moveTo>
                <a:lnTo>
                  <a:pt x="8353483" y="0"/>
                </a:lnTo>
                <a:lnTo>
                  <a:pt x="8353483" y="4767606"/>
                </a:lnTo>
                <a:lnTo>
                  <a:pt x="0" y="47676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9171" r="0" b="-774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062552" y="3642961"/>
            <a:ext cx="4650793" cy="1964960"/>
          </a:xfrm>
          <a:custGeom>
            <a:avLst/>
            <a:gdLst/>
            <a:ahLst/>
            <a:cxnLst/>
            <a:rect r="r" b="b" t="t" l="l"/>
            <a:pathLst>
              <a:path h="1964960" w="4650793">
                <a:moveTo>
                  <a:pt x="0" y="0"/>
                </a:moveTo>
                <a:lnTo>
                  <a:pt x="4650793" y="0"/>
                </a:lnTo>
                <a:lnTo>
                  <a:pt x="4650793" y="1964960"/>
                </a:lnTo>
                <a:lnTo>
                  <a:pt x="0" y="19649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4195726" y="6388211"/>
            <a:ext cx="2230290" cy="866198"/>
            <a:chOff x="0" y="0"/>
            <a:chExt cx="2973720" cy="115493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973720" cy="1154931"/>
            </a:xfrm>
            <a:custGeom>
              <a:avLst/>
              <a:gdLst/>
              <a:ahLst/>
              <a:cxnLst/>
              <a:rect r="r" b="b" t="t" l="l"/>
              <a:pathLst>
                <a:path h="1154931" w="2973720">
                  <a:moveTo>
                    <a:pt x="0" y="0"/>
                  </a:moveTo>
                  <a:lnTo>
                    <a:pt x="2973720" y="0"/>
                  </a:lnTo>
                  <a:lnTo>
                    <a:pt x="2973720" y="1154931"/>
                  </a:lnTo>
                  <a:lnTo>
                    <a:pt x="0" y="115493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606" r="-227993" b="-10150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2973720" cy="1202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2E7D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Giao diện Modal xác nhận xoá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-8752087">
            <a:off x="12756541" y="5989823"/>
            <a:ext cx="1453153" cy="396314"/>
          </a:xfrm>
          <a:custGeom>
            <a:avLst/>
            <a:gdLst/>
            <a:ahLst/>
            <a:cxnLst/>
            <a:rect r="r" b="b" t="t" l="l"/>
            <a:pathLst>
              <a:path h="396314" w="1453153">
                <a:moveTo>
                  <a:pt x="0" y="0"/>
                </a:moveTo>
                <a:lnTo>
                  <a:pt x="1453153" y="0"/>
                </a:lnTo>
                <a:lnTo>
                  <a:pt x="1453153" y="396315"/>
                </a:lnTo>
                <a:lnTo>
                  <a:pt x="0" y="3963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1703" y="535943"/>
            <a:ext cx="2585723" cy="848363"/>
            <a:chOff x="0" y="0"/>
            <a:chExt cx="3447631" cy="11311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3413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57C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47542" cy="1131064"/>
            </a:xfrm>
            <a:custGeom>
              <a:avLst/>
              <a:gdLst/>
              <a:ahLst/>
              <a:cxnLst/>
              <a:rect r="r" b="b" t="t" l="l"/>
              <a:pathLst>
                <a:path h="1131064" w="3447542">
                  <a:moveTo>
                    <a:pt x="16891" y="0"/>
                  </a:moveTo>
                  <a:lnTo>
                    <a:pt x="3430651" y="0"/>
                  </a:lnTo>
                  <a:cubicBezTo>
                    <a:pt x="3440049" y="0"/>
                    <a:pt x="3447542" y="7620"/>
                    <a:pt x="3447542" y="16891"/>
                  </a:cubicBezTo>
                  <a:lnTo>
                    <a:pt x="3447542" y="1114171"/>
                  </a:lnTo>
                  <a:cubicBezTo>
                    <a:pt x="3447542" y="1123569"/>
                    <a:pt x="3439922" y="1131062"/>
                    <a:pt x="343065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3430651" y="1097280"/>
                  </a:lnTo>
                  <a:lnTo>
                    <a:pt x="3430651" y="1114171"/>
                  </a:lnTo>
                  <a:lnTo>
                    <a:pt x="3413760" y="1114171"/>
                  </a:lnTo>
                  <a:lnTo>
                    <a:pt x="3413760" y="16891"/>
                  </a:lnTo>
                  <a:lnTo>
                    <a:pt x="3430651" y="16891"/>
                  </a:lnTo>
                  <a:lnTo>
                    <a:pt x="3430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7C0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548640"/>
            <a:ext cx="2560320" cy="822960"/>
            <a:chOff x="0" y="0"/>
            <a:chExt cx="3413760" cy="1097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13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620" r="0" b="-1062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41376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Bài tập 3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840480" y="548640"/>
            <a:ext cx="13533120" cy="822960"/>
            <a:chOff x="0" y="0"/>
            <a:chExt cx="1804416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044161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044161">
                  <a:moveTo>
                    <a:pt x="0" y="0"/>
                  </a:moveTo>
                  <a:lnTo>
                    <a:pt x="18044161" y="0"/>
                  </a:lnTo>
                  <a:lnTo>
                    <a:pt x="18044161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0420" r="0" b="-27042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804416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Form thêm sản phẩm + Validate + Alert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1703" y="1486919"/>
            <a:ext cx="16484603" cy="80267"/>
            <a:chOff x="0" y="0"/>
            <a:chExt cx="21979471" cy="1070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1945599" cy="73152"/>
            </a:xfrm>
            <a:custGeom>
              <a:avLst/>
              <a:gdLst/>
              <a:ahLst/>
              <a:cxnLst/>
              <a:rect r="r" b="b" t="t" l="l"/>
              <a:pathLst>
                <a:path h="73152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E3E8F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79382" cy="106936"/>
            </a:xfrm>
            <a:custGeom>
              <a:avLst/>
              <a:gdLst/>
              <a:ahLst/>
              <a:cxnLst/>
              <a:rect r="r" b="b" t="t" l="l"/>
              <a:pathLst>
                <a:path h="106936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90043"/>
                  </a:lnTo>
                  <a:cubicBezTo>
                    <a:pt x="21979382" y="99441"/>
                    <a:pt x="21971763" y="106934"/>
                    <a:pt x="2196249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21962490" y="73152"/>
                  </a:lnTo>
                  <a:lnTo>
                    <a:pt x="21962490" y="90043"/>
                  </a:lnTo>
                  <a:lnTo>
                    <a:pt x="21945600" y="9004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3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01703" y="1724663"/>
            <a:ext cx="7889243" cy="2860043"/>
            <a:chOff x="0" y="0"/>
            <a:chExt cx="10518991" cy="38133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0485120" cy="3779520"/>
            </a:xfrm>
            <a:custGeom>
              <a:avLst/>
              <a:gdLst/>
              <a:ahLst/>
              <a:cxnLst/>
              <a:rect r="r" b="b" t="t" l="l"/>
              <a:pathLst>
                <a:path h="37795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E3F2FD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518901" cy="3813302"/>
            </a:xfrm>
            <a:custGeom>
              <a:avLst/>
              <a:gdLst/>
              <a:ahLst/>
              <a:cxnLst/>
              <a:rect r="r" b="b" t="t" l="l"/>
              <a:pathLst>
                <a:path h="3813302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3796411"/>
                  </a:lnTo>
                  <a:cubicBezTo>
                    <a:pt x="10518901" y="3805809"/>
                    <a:pt x="10511282" y="3813302"/>
                    <a:pt x="10502011" y="3813302"/>
                  </a:cubicBezTo>
                  <a:lnTo>
                    <a:pt x="16891" y="3813302"/>
                  </a:lnTo>
                  <a:cubicBezTo>
                    <a:pt x="7493" y="3813302"/>
                    <a:pt x="0" y="3805682"/>
                    <a:pt x="0" y="3796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796411"/>
                  </a:lnTo>
                  <a:lnTo>
                    <a:pt x="16891" y="3796411"/>
                  </a:lnTo>
                  <a:lnTo>
                    <a:pt x="16891" y="3779520"/>
                  </a:lnTo>
                  <a:lnTo>
                    <a:pt x="10502011" y="3779520"/>
                  </a:lnTo>
                  <a:lnTo>
                    <a:pt x="10502011" y="3796411"/>
                  </a:lnTo>
                  <a:lnTo>
                    <a:pt x="10485120" y="379641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0CAF9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88720" y="1792224"/>
            <a:ext cx="7315200" cy="640080"/>
            <a:chOff x="0" y="0"/>
            <a:chExt cx="9753600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753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📌 Yêu cầu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88720" y="2468880"/>
            <a:ext cx="7315200" cy="1920240"/>
            <a:chOff x="0" y="0"/>
            <a:chExt cx="9753600" cy="25603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536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8" r="0" b="-2422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753600" cy="2607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4 trường: Tên, Giá, Danh mục, Số lượng</a:t>
              </a:r>
            </a:p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Validate: bắt buộc + Giá chỉ nhập số</a:t>
              </a:r>
            </a:p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Thiếu thông tin → Alert đỏ (danger)</a:t>
              </a:r>
            </a:p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Hợp lệ → Alert xanh + reset form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31303" y="1724663"/>
            <a:ext cx="8255003" cy="1122683"/>
            <a:chOff x="0" y="0"/>
            <a:chExt cx="11006671" cy="14969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09728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E8F5E9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00658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479931"/>
                  </a:lnTo>
                  <a:cubicBezTo>
                    <a:pt x="11006582" y="1489329"/>
                    <a:pt x="10998962" y="1496822"/>
                    <a:pt x="10989691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10989691" y="1463040"/>
                  </a:lnTo>
                  <a:lnTo>
                    <a:pt x="10989691" y="1479931"/>
                  </a:lnTo>
                  <a:lnTo>
                    <a:pt x="10972800" y="147993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CAF5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131303" y="1724663"/>
            <a:ext cx="153419" cy="1122683"/>
            <a:chOff x="0" y="0"/>
            <a:chExt cx="204559" cy="14969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70688" cy="1463040"/>
            </a:xfrm>
            <a:custGeom>
              <a:avLst/>
              <a:gdLst/>
              <a:ahLst/>
              <a:cxnLst/>
              <a:rect r="r" b="b" t="t" l="l"/>
              <a:pathLst>
                <a:path h="14630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4470" cy="1496822"/>
            </a:xfrm>
            <a:custGeom>
              <a:avLst/>
              <a:gdLst/>
              <a:ahLst/>
              <a:cxnLst/>
              <a:rect r="r" b="b" t="t" l="l"/>
              <a:pathLst>
                <a:path h="14968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479931"/>
                  </a:lnTo>
                  <a:cubicBezTo>
                    <a:pt x="204470" y="1489329"/>
                    <a:pt x="196850" y="1496822"/>
                    <a:pt x="187579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187579" y="1463040"/>
                  </a:lnTo>
                  <a:lnTo>
                    <a:pt x="187579" y="1479931"/>
                  </a:lnTo>
                  <a:lnTo>
                    <a:pt x="170688" y="14799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CAF5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418320" y="1737360"/>
            <a:ext cx="7772400" cy="1097280"/>
            <a:chOff x="0" y="0"/>
            <a:chExt cx="10363200" cy="14630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363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019" r="0" b="-8801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03632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E7D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  Thêm sản phẩm mới thành công!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131303" y="3004823"/>
            <a:ext cx="8255003" cy="1122683"/>
            <a:chOff x="0" y="0"/>
            <a:chExt cx="11006671" cy="14969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09728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FEBEE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00658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479931"/>
                  </a:lnTo>
                  <a:cubicBezTo>
                    <a:pt x="11006582" y="1489329"/>
                    <a:pt x="10998962" y="1496822"/>
                    <a:pt x="10989691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10989691" y="1463040"/>
                  </a:lnTo>
                  <a:lnTo>
                    <a:pt x="10989691" y="1479931"/>
                  </a:lnTo>
                  <a:lnTo>
                    <a:pt x="10972800" y="147993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433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131303" y="3004823"/>
            <a:ext cx="153419" cy="1122683"/>
            <a:chOff x="0" y="0"/>
            <a:chExt cx="204559" cy="14969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70688" cy="1463040"/>
            </a:xfrm>
            <a:custGeom>
              <a:avLst/>
              <a:gdLst/>
              <a:ahLst/>
              <a:cxnLst/>
              <a:rect r="r" b="b" t="t" l="l"/>
              <a:pathLst>
                <a:path h="14630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44336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4470" cy="1496822"/>
            </a:xfrm>
            <a:custGeom>
              <a:avLst/>
              <a:gdLst/>
              <a:ahLst/>
              <a:cxnLst/>
              <a:rect r="r" b="b" t="t" l="l"/>
              <a:pathLst>
                <a:path h="14968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479931"/>
                  </a:lnTo>
                  <a:cubicBezTo>
                    <a:pt x="204470" y="1489329"/>
                    <a:pt x="196850" y="1496822"/>
                    <a:pt x="187579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187579" y="1463040"/>
                  </a:lnTo>
                  <a:lnTo>
                    <a:pt x="187579" y="1479931"/>
                  </a:lnTo>
                  <a:lnTo>
                    <a:pt x="170688" y="14799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4336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418320" y="3017520"/>
            <a:ext cx="7772400" cy="1097280"/>
            <a:chOff x="0" y="0"/>
            <a:chExt cx="10363200" cy="14630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363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019" r="0" b="-8801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3632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6282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❌  Vui lòng nhập đầy đủ tên, giá và số lượng!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01703" y="4833623"/>
            <a:ext cx="16484603" cy="4871723"/>
            <a:chOff x="0" y="0"/>
            <a:chExt cx="21979471" cy="649563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21945599" cy="6461760"/>
            </a:xfrm>
            <a:custGeom>
              <a:avLst/>
              <a:gdLst/>
              <a:ahLst/>
              <a:cxnLst/>
              <a:rect r="r" b="b" t="t" l="l"/>
              <a:pathLst>
                <a:path h="6461760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6461760"/>
                  </a:lnTo>
                  <a:lnTo>
                    <a:pt x="0" y="6461760"/>
                  </a:lnTo>
                  <a:close/>
                </a:path>
              </a:pathLst>
            </a:custGeom>
            <a:solidFill>
              <a:srgbClr val="1E2A3A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979382" cy="6495542"/>
            </a:xfrm>
            <a:custGeom>
              <a:avLst/>
              <a:gdLst/>
              <a:ahLst/>
              <a:cxnLst/>
              <a:rect r="r" b="b" t="t" l="l"/>
              <a:pathLst>
                <a:path h="6495542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6478651"/>
                  </a:lnTo>
                  <a:cubicBezTo>
                    <a:pt x="21979382" y="6488049"/>
                    <a:pt x="21971763" y="6495542"/>
                    <a:pt x="21962490" y="6495542"/>
                  </a:cubicBezTo>
                  <a:lnTo>
                    <a:pt x="16891" y="6495542"/>
                  </a:lnTo>
                  <a:cubicBezTo>
                    <a:pt x="7493" y="6495542"/>
                    <a:pt x="0" y="6487922"/>
                    <a:pt x="0" y="6478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478651"/>
                  </a:lnTo>
                  <a:lnTo>
                    <a:pt x="16891" y="6478651"/>
                  </a:lnTo>
                  <a:lnTo>
                    <a:pt x="16891" y="6461760"/>
                  </a:lnTo>
                  <a:lnTo>
                    <a:pt x="21962490" y="6461760"/>
                  </a:lnTo>
                  <a:lnTo>
                    <a:pt x="21962490" y="6478651"/>
                  </a:lnTo>
                  <a:lnTo>
                    <a:pt x="21945600" y="6478651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A3A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188720" y="4944999"/>
            <a:ext cx="15910560" cy="461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const handleSubmit = () =&gt; {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if (!name || !price || !qty) {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setAlert({ type: "danger", msg: "Vui lòng nhập đầy đủ tên, giá và số lượng!" });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return;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onAddProduct({ id: Date.now(), name, cat, price: +price, qty: +qty });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setAlert({ type: "success", msg: "Thêm sản phẩm mới thành công!" });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setName(""); setPrice(""); setQty("");  // Reset form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</a:p>
          <a:p>
            <a:pPr algn="l">
              <a:lnSpc>
                <a:spcPts val="2640"/>
              </a:lnSpc>
            </a:pP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&lt;Alert variant={alert.type} show={!!alert.msg}&gt;{alert.msg}&lt;/Alert&gt;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&lt;Form.Control type="number" value={price}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onChange={e =&gt; setPrice(e.target.value.replace(/[^0-9]/g, ""))} /&gt;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219963"/>
            <a:chOff x="0" y="0"/>
            <a:chExt cx="24417871" cy="29599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926080"/>
            </a:xfrm>
            <a:custGeom>
              <a:avLst/>
              <a:gdLst/>
              <a:ahLst/>
              <a:cxnLst/>
              <a:rect r="r" b="b" t="t" l="l"/>
              <a:pathLst>
                <a:path h="292608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976D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959862"/>
            </a:xfrm>
            <a:custGeom>
              <a:avLst/>
              <a:gdLst/>
              <a:ahLst/>
              <a:cxnLst/>
              <a:rect r="r" b="b" t="t" l="l"/>
              <a:pathLst>
                <a:path h="295986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942971"/>
                  </a:lnTo>
                  <a:cubicBezTo>
                    <a:pt x="24417782" y="2952369"/>
                    <a:pt x="24410163" y="2959862"/>
                    <a:pt x="24400890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24400890" y="2926080"/>
                  </a:lnTo>
                  <a:lnTo>
                    <a:pt x="24400890" y="2942971"/>
                  </a:lnTo>
                  <a:lnTo>
                    <a:pt x="24384000" y="294297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976D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556241" y="637623"/>
            <a:ext cx="3383811" cy="1287066"/>
            <a:chOff x="0" y="0"/>
            <a:chExt cx="4511748" cy="17160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11748" cy="1716088"/>
            </a:xfrm>
            <a:custGeom>
              <a:avLst/>
              <a:gdLst/>
              <a:ahLst/>
              <a:cxnLst/>
              <a:rect r="r" b="b" t="t" l="l"/>
              <a:pathLst>
                <a:path h="1716088" w="4511748">
                  <a:moveTo>
                    <a:pt x="0" y="0"/>
                  </a:moveTo>
                  <a:lnTo>
                    <a:pt x="4511748" y="0"/>
                  </a:lnTo>
                  <a:lnTo>
                    <a:pt x="4511748" y="1716088"/>
                  </a:lnTo>
                  <a:lnTo>
                    <a:pt x="0" y="17160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9446" r="-386410" b="-19890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4511748" cy="1839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Kết luận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1703" y="2639063"/>
            <a:ext cx="8346443" cy="3042923"/>
            <a:chOff x="0" y="0"/>
            <a:chExt cx="11128591" cy="40572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1094720" cy="4023360"/>
            </a:xfrm>
            <a:custGeom>
              <a:avLst/>
              <a:gdLst/>
              <a:ahLst/>
              <a:cxnLst/>
              <a:rect r="r" b="b" t="t" l="l"/>
              <a:pathLst>
                <a:path h="40233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1976D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28501" cy="4057142"/>
            </a:xfrm>
            <a:custGeom>
              <a:avLst/>
              <a:gdLst/>
              <a:ahLst/>
              <a:cxnLst/>
              <a:rect r="r" b="b" t="t" l="l"/>
              <a:pathLst>
                <a:path h="405714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4040251"/>
                  </a:lnTo>
                  <a:cubicBezTo>
                    <a:pt x="11128501" y="4049649"/>
                    <a:pt x="11120882" y="4057142"/>
                    <a:pt x="11111611" y="4057142"/>
                  </a:cubicBezTo>
                  <a:lnTo>
                    <a:pt x="16891" y="4057142"/>
                  </a:lnTo>
                  <a:cubicBezTo>
                    <a:pt x="7493" y="4057142"/>
                    <a:pt x="0" y="4049522"/>
                    <a:pt x="0" y="4040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40251"/>
                  </a:lnTo>
                  <a:lnTo>
                    <a:pt x="16891" y="4040251"/>
                  </a:lnTo>
                  <a:lnTo>
                    <a:pt x="16891" y="4023360"/>
                  </a:lnTo>
                  <a:lnTo>
                    <a:pt x="11111611" y="4023360"/>
                  </a:lnTo>
                  <a:lnTo>
                    <a:pt x="11111611" y="4040251"/>
                  </a:lnTo>
                  <a:lnTo>
                    <a:pt x="11094720" y="404025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2A5F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67463" y="3187703"/>
            <a:ext cx="1305563" cy="1305563"/>
            <a:chOff x="0" y="0"/>
            <a:chExt cx="1740751" cy="17407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0097A7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40662" cy="1740662"/>
            </a:xfrm>
            <a:custGeom>
              <a:avLst/>
              <a:gdLst/>
              <a:ahLst/>
              <a:cxnLst/>
              <a:rect r="r" b="b" t="t" l="l"/>
              <a:pathLst>
                <a:path h="1740662" w="1740662">
                  <a:moveTo>
                    <a:pt x="0" y="870331"/>
                  </a:moveTo>
                  <a:cubicBezTo>
                    <a:pt x="0" y="389636"/>
                    <a:pt x="389636" y="0"/>
                    <a:pt x="870331" y="0"/>
                  </a:cubicBezTo>
                  <a:lnTo>
                    <a:pt x="870331" y="16891"/>
                  </a:lnTo>
                  <a:lnTo>
                    <a:pt x="870331" y="0"/>
                  </a:lnTo>
                  <a:cubicBezTo>
                    <a:pt x="1351026" y="0"/>
                    <a:pt x="1740662" y="389636"/>
                    <a:pt x="1740662" y="870331"/>
                  </a:cubicBezTo>
                  <a:cubicBezTo>
                    <a:pt x="1740662" y="1351026"/>
                    <a:pt x="1351026" y="1740662"/>
                    <a:pt x="870331" y="1740662"/>
                  </a:cubicBezTo>
                  <a:lnTo>
                    <a:pt x="870331" y="1723771"/>
                  </a:lnTo>
                  <a:lnTo>
                    <a:pt x="870331" y="1740662"/>
                  </a:lnTo>
                  <a:cubicBezTo>
                    <a:pt x="389636" y="1740789"/>
                    <a:pt x="0" y="1351026"/>
                    <a:pt x="0" y="870331"/>
                  </a:cubicBezTo>
                  <a:lnTo>
                    <a:pt x="16891" y="870331"/>
                  </a:lnTo>
                  <a:lnTo>
                    <a:pt x="31242" y="879348"/>
                  </a:lnTo>
                  <a:cubicBezTo>
                    <a:pt x="27178" y="885698"/>
                    <a:pt x="19431" y="888619"/>
                    <a:pt x="12192" y="886587"/>
                  </a:cubicBezTo>
                  <a:cubicBezTo>
                    <a:pt x="4953" y="884555"/>
                    <a:pt x="0" y="877951"/>
                    <a:pt x="0" y="870331"/>
                  </a:cubicBezTo>
                  <a:moveTo>
                    <a:pt x="33909" y="870331"/>
                  </a:moveTo>
                  <a:lnTo>
                    <a:pt x="16891" y="870331"/>
                  </a:lnTo>
                  <a:lnTo>
                    <a:pt x="2667" y="861314"/>
                  </a:lnTo>
                  <a:cubicBezTo>
                    <a:pt x="6731" y="854964"/>
                    <a:pt x="14478" y="852043"/>
                    <a:pt x="21717" y="854075"/>
                  </a:cubicBezTo>
                  <a:cubicBezTo>
                    <a:pt x="28956" y="856107"/>
                    <a:pt x="33909" y="862838"/>
                    <a:pt x="33909" y="870331"/>
                  </a:cubicBezTo>
                  <a:cubicBezTo>
                    <a:pt x="33909" y="1332357"/>
                    <a:pt x="408432" y="1706880"/>
                    <a:pt x="870458" y="1706880"/>
                  </a:cubicBezTo>
                  <a:cubicBezTo>
                    <a:pt x="1332484" y="1706880"/>
                    <a:pt x="1707007" y="1332357"/>
                    <a:pt x="1707007" y="870331"/>
                  </a:cubicBezTo>
                  <a:lnTo>
                    <a:pt x="1723898" y="870331"/>
                  </a:lnTo>
                  <a:lnTo>
                    <a:pt x="1707007" y="870331"/>
                  </a:lnTo>
                  <a:cubicBezTo>
                    <a:pt x="1707007" y="408305"/>
                    <a:pt x="1332484" y="33782"/>
                    <a:pt x="870458" y="33782"/>
                  </a:cubicBezTo>
                  <a:lnTo>
                    <a:pt x="870458" y="16891"/>
                  </a:lnTo>
                  <a:lnTo>
                    <a:pt x="870458" y="33909"/>
                  </a:lnTo>
                  <a:cubicBezTo>
                    <a:pt x="408432" y="33909"/>
                    <a:pt x="33909" y="408432"/>
                    <a:pt x="33909" y="870331"/>
                  </a:cubicBezTo>
                  <a:close/>
                </a:path>
              </a:pathLst>
            </a:custGeom>
            <a:solidFill>
              <a:srgbClr val="0097A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80160" y="3200400"/>
            <a:ext cx="1280160" cy="1280160"/>
            <a:chOff x="0" y="0"/>
            <a:chExt cx="1706880" cy="17068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706880" cy="1773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834640" y="3108960"/>
            <a:ext cx="6035040" cy="768096"/>
            <a:chOff x="0" y="0"/>
            <a:chExt cx="8046720" cy="10241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0467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80467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90CA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Kiến thức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834640" y="3643884"/>
            <a:ext cx="6035040" cy="1499616"/>
            <a:chOff x="0" y="0"/>
            <a:chExt cx="8046720" cy="19994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046720" cy="1999488"/>
            </a:xfrm>
            <a:custGeom>
              <a:avLst/>
              <a:gdLst/>
              <a:ahLst/>
              <a:cxnLst/>
              <a:rect r="r" b="b" t="t" l="l"/>
              <a:pathLst>
                <a:path h="1999488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15" r="0" b="-2841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8046720" cy="2047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D0E8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Nắm rõ hệ sinh thái React-Bootstrap: component, props, kết hợp React State &amp; Router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679943" y="2639063"/>
            <a:ext cx="8346443" cy="3042923"/>
            <a:chOff x="0" y="0"/>
            <a:chExt cx="11128591" cy="405723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1094720" cy="4023360"/>
            </a:xfrm>
            <a:custGeom>
              <a:avLst/>
              <a:gdLst/>
              <a:ahLst/>
              <a:cxnLst/>
              <a:rect r="r" b="b" t="t" l="l"/>
              <a:pathLst>
                <a:path h="40233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1976D2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128501" cy="4057142"/>
            </a:xfrm>
            <a:custGeom>
              <a:avLst/>
              <a:gdLst/>
              <a:ahLst/>
              <a:cxnLst/>
              <a:rect r="r" b="b" t="t" l="l"/>
              <a:pathLst>
                <a:path h="405714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4040251"/>
                  </a:lnTo>
                  <a:cubicBezTo>
                    <a:pt x="11128501" y="4049649"/>
                    <a:pt x="11120882" y="4057142"/>
                    <a:pt x="11111611" y="4057142"/>
                  </a:cubicBezTo>
                  <a:lnTo>
                    <a:pt x="16891" y="4057142"/>
                  </a:lnTo>
                  <a:cubicBezTo>
                    <a:pt x="7493" y="4057142"/>
                    <a:pt x="0" y="4049522"/>
                    <a:pt x="0" y="4040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40251"/>
                  </a:lnTo>
                  <a:lnTo>
                    <a:pt x="16891" y="4040251"/>
                  </a:lnTo>
                  <a:lnTo>
                    <a:pt x="16891" y="4023360"/>
                  </a:lnTo>
                  <a:lnTo>
                    <a:pt x="11111611" y="4023360"/>
                  </a:lnTo>
                  <a:lnTo>
                    <a:pt x="11111611" y="4040251"/>
                  </a:lnTo>
                  <a:lnTo>
                    <a:pt x="11094720" y="404025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2A5F5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045703" y="3187703"/>
            <a:ext cx="1305563" cy="1305563"/>
            <a:chOff x="0" y="0"/>
            <a:chExt cx="1740751" cy="174075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0097A7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740662" cy="1740662"/>
            </a:xfrm>
            <a:custGeom>
              <a:avLst/>
              <a:gdLst/>
              <a:ahLst/>
              <a:cxnLst/>
              <a:rect r="r" b="b" t="t" l="l"/>
              <a:pathLst>
                <a:path h="1740662" w="1740662">
                  <a:moveTo>
                    <a:pt x="0" y="870331"/>
                  </a:moveTo>
                  <a:cubicBezTo>
                    <a:pt x="0" y="389636"/>
                    <a:pt x="389636" y="0"/>
                    <a:pt x="870331" y="0"/>
                  </a:cubicBezTo>
                  <a:lnTo>
                    <a:pt x="870331" y="16891"/>
                  </a:lnTo>
                  <a:lnTo>
                    <a:pt x="870331" y="0"/>
                  </a:lnTo>
                  <a:cubicBezTo>
                    <a:pt x="1351026" y="0"/>
                    <a:pt x="1740662" y="389636"/>
                    <a:pt x="1740662" y="870331"/>
                  </a:cubicBezTo>
                  <a:cubicBezTo>
                    <a:pt x="1740662" y="1351026"/>
                    <a:pt x="1351026" y="1740662"/>
                    <a:pt x="870331" y="1740662"/>
                  </a:cubicBezTo>
                  <a:lnTo>
                    <a:pt x="870331" y="1723771"/>
                  </a:lnTo>
                  <a:lnTo>
                    <a:pt x="870331" y="1740662"/>
                  </a:lnTo>
                  <a:cubicBezTo>
                    <a:pt x="389636" y="1740789"/>
                    <a:pt x="0" y="1351026"/>
                    <a:pt x="0" y="870331"/>
                  </a:cubicBezTo>
                  <a:lnTo>
                    <a:pt x="16891" y="870331"/>
                  </a:lnTo>
                  <a:lnTo>
                    <a:pt x="31242" y="879348"/>
                  </a:lnTo>
                  <a:cubicBezTo>
                    <a:pt x="27178" y="885698"/>
                    <a:pt x="19431" y="888619"/>
                    <a:pt x="12192" y="886587"/>
                  </a:cubicBezTo>
                  <a:cubicBezTo>
                    <a:pt x="4953" y="884555"/>
                    <a:pt x="0" y="877951"/>
                    <a:pt x="0" y="870331"/>
                  </a:cubicBezTo>
                  <a:moveTo>
                    <a:pt x="33909" y="870331"/>
                  </a:moveTo>
                  <a:lnTo>
                    <a:pt x="16891" y="870331"/>
                  </a:lnTo>
                  <a:lnTo>
                    <a:pt x="2667" y="861314"/>
                  </a:lnTo>
                  <a:cubicBezTo>
                    <a:pt x="6731" y="854964"/>
                    <a:pt x="14478" y="852043"/>
                    <a:pt x="21717" y="854075"/>
                  </a:cubicBezTo>
                  <a:cubicBezTo>
                    <a:pt x="28956" y="856107"/>
                    <a:pt x="33909" y="862838"/>
                    <a:pt x="33909" y="870331"/>
                  </a:cubicBezTo>
                  <a:cubicBezTo>
                    <a:pt x="33909" y="1332357"/>
                    <a:pt x="408432" y="1706880"/>
                    <a:pt x="870458" y="1706880"/>
                  </a:cubicBezTo>
                  <a:cubicBezTo>
                    <a:pt x="1332484" y="1706880"/>
                    <a:pt x="1707007" y="1332357"/>
                    <a:pt x="1707007" y="870331"/>
                  </a:cubicBezTo>
                  <a:lnTo>
                    <a:pt x="1723898" y="870331"/>
                  </a:lnTo>
                  <a:lnTo>
                    <a:pt x="1707007" y="870331"/>
                  </a:lnTo>
                  <a:cubicBezTo>
                    <a:pt x="1707007" y="408305"/>
                    <a:pt x="1332484" y="33782"/>
                    <a:pt x="870458" y="33782"/>
                  </a:cubicBezTo>
                  <a:lnTo>
                    <a:pt x="870458" y="16891"/>
                  </a:lnTo>
                  <a:lnTo>
                    <a:pt x="870458" y="33909"/>
                  </a:lnTo>
                  <a:cubicBezTo>
                    <a:pt x="408432" y="33909"/>
                    <a:pt x="33909" y="408432"/>
                    <a:pt x="33909" y="870331"/>
                  </a:cubicBezTo>
                  <a:close/>
                </a:path>
              </a:pathLst>
            </a:custGeom>
            <a:solidFill>
              <a:srgbClr val="0097A7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058400" y="3200400"/>
            <a:ext cx="1280160" cy="1280160"/>
            <a:chOff x="0" y="0"/>
            <a:chExt cx="1706880" cy="17068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1706880" cy="1773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612880" y="3108960"/>
            <a:ext cx="6035040" cy="768096"/>
            <a:chOff x="0" y="0"/>
            <a:chExt cx="8046720" cy="10241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0467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80467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90CA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Kỹ năng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627491" y="3643884"/>
            <a:ext cx="6035040" cy="1499616"/>
            <a:chOff x="0" y="0"/>
            <a:chExt cx="8046720" cy="199948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046720" cy="1999488"/>
            </a:xfrm>
            <a:custGeom>
              <a:avLst/>
              <a:gdLst/>
              <a:ahLst/>
              <a:cxnLst/>
              <a:rect r="r" b="b" t="t" l="l"/>
              <a:pathLst>
                <a:path h="1999488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15" r="0" b="-2841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8046720" cy="2047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D0E8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Cài đặt, cấu hình, validate form, quản lý state đa component, tổ chức project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01703" y="6113783"/>
            <a:ext cx="8346443" cy="3042923"/>
            <a:chOff x="0" y="0"/>
            <a:chExt cx="11128591" cy="405723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1094720" cy="4023360"/>
            </a:xfrm>
            <a:custGeom>
              <a:avLst/>
              <a:gdLst/>
              <a:ahLst/>
              <a:cxnLst/>
              <a:rect r="r" b="b" t="t" l="l"/>
              <a:pathLst>
                <a:path h="40233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1976D2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128501" cy="4057142"/>
            </a:xfrm>
            <a:custGeom>
              <a:avLst/>
              <a:gdLst/>
              <a:ahLst/>
              <a:cxnLst/>
              <a:rect r="r" b="b" t="t" l="l"/>
              <a:pathLst>
                <a:path h="405714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4040251"/>
                  </a:lnTo>
                  <a:cubicBezTo>
                    <a:pt x="11128501" y="4049649"/>
                    <a:pt x="11120882" y="4057142"/>
                    <a:pt x="11111611" y="4057142"/>
                  </a:cubicBezTo>
                  <a:lnTo>
                    <a:pt x="16891" y="4057142"/>
                  </a:lnTo>
                  <a:cubicBezTo>
                    <a:pt x="7493" y="4057142"/>
                    <a:pt x="0" y="4049522"/>
                    <a:pt x="0" y="4040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40251"/>
                  </a:lnTo>
                  <a:lnTo>
                    <a:pt x="16891" y="4040251"/>
                  </a:lnTo>
                  <a:lnTo>
                    <a:pt x="16891" y="4023360"/>
                  </a:lnTo>
                  <a:lnTo>
                    <a:pt x="11111611" y="4023360"/>
                  </a:lnTo>
                  <a:lnTo>
                    <a:pt x="11111611" y="4040251"/>
                  </a:lnTo>
                  <a:lnTo>
                    <a:pt x="11094720" y="404025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2A5F5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67463" y="6662423"/>
            <a:ext cx="1305563" cy="1305563"/>
            <a:chOff x="0" y="0"/>
            <a:chExt cx="1740751" cy="174075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0097A7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740662" cy="1740662"/>
            </a:xfrm>
            <a:custGeom>
              <a:avLst/>
              <a:gdLst/>
              <a:ahLst/>
              <a:cxnLst/>
              <a:rect r="r" b="b" t="t" l="l"/>
              <a:pathLst>
                <a:path h="1740662" w="1740662">
                  <a:moveTo>
                    <a:pt x="0" y="870331"/>
                  </a:moveTo>
                  <a:cubicBezTo>
                    <a:pt x="0" y="389636"/>
                    <a:pt x="389636" y="0"/>
                    <a:pt x="870331" y="0"/>
                  </a:cubicBezTo>
                  <a:lnTo>
                    <a:pt x="870331" y="16891"/>
                  </a:lnTo>
                  <a:lnTo>
                    <a:pt x="870331" y="0"/>
                  </a:lnTo>
                  <a:cubicBezTo>
                    <a:pt x="1351026" y="0"/>
                    <a:pt x="1740662" y="389636"/>
                    <a:pt x="1740662" y="870331"/>
                  </a:cubicBezTo>
                  <a:cubicBezTo>
                    <a:pt x="1740662" y="1351026"/>
                    <a:pt x="1351026" y="1740662"/>
                    <a:pt x="870331" y="1740662"/>
                  </a:cubicBezTo>
                  <a:lnTo>
                    <a:pt x="870331" y="1723771"/>
                  </a:lnTo>
                  <a:lnTo>
                    <a:pt x="870331" y="1740662"/>
                  </a:lnTo>
                  <a:cubicBezTo>
                    <a:pt x="389636" y="1740789"/>
                    <a:pt x="0" y="1351026"/>
                    <a:pt x="0" y="870331"/>
                  </a:cubicBezTo>
                  <a:lnTo>
                    <a:pt x="16891" y="870331"/>
                  </a:lnTo>
                  <a:lnTo>
                    <a:pt x="31242" y="879348"/>
                  </a:lnTo>
                  <a:cubicBezTo>
                    <a:pt x="27178" y="885698"/>
                    <a:pt x="19431" y="888619"/>
                    <a:pt x="12192" y="886587"/>
                  </a:cubicBezTo>
                  <a:cubicBezTo>
                    <a:pt x="4953" y="884555"/>
                    <a:pt x="0" y="877951"/>
                    <a:pt x="0" y="870331"/>
                  </a:cubicBezTo>
                  <a:moveTo>
                    <a:pt x="33909" y="870331"/>
                  </a:moveTo>
                  <a:lnTo>
                    <a:pt x="16891" y="870331"/>
                  </a:lnTo>
                  <a:lnTo>
                    <a:pt x="2667" y="861314"/>
                  </a:lnTo>
                  <a:cubicBezTo>
                    <a:pt x="6731" y="854964"/>
                    <a:pt x="14478" y="852043"/>
                    <a:pt x="21717" y="854075"/>
                  </a:cubicBezTo>
                  <a:cubicBezTo>
                    <a:pt x="28956" y="856107"/>
                    <a:pt x="33909" y="862838"/>
                    <a:pt x="33909" y="870331"/>
                  </a:cubicBezTo>
                  <a:cubicBezTo>
                    <a:pt x="33909" y="1332357"/>
                    <a:pt x="408432" y="1706880"/>
                    <a:pt x="870458" y="1706880"/>
                  </a:cubicBezTo>
                  <a:cubicBezTo>
                    <a:pt x="1332484" y="1706880"/>
                    <a:pt x="1707007" y="1332357"/>
                    <a:pt x="1707007" y="870331"/>
                  </a:cubicBezTo>
                  <a:lnTo>
                    <a:pt x="1723898" y="870331"/>
                  </a:lnTo>
                  <a:lnTo>
                    <a:pt x="1707007" y="870331"/>
                  </a:lnTo>
                  <a:cubicBezTo>
                    <a:pt x="1707007" y="408305"/>
                    <a:pt x="1332484" y="33782"/>
                    <a:pt x="870458" y="33782"/>
                  </a:cubicBezTo>
                  <a:lnTo>
                    <a:pt x="870458" y="16891"/>
                  </a:lnTo>
                  <a:lnTo>
                    <a:pt x="870458" y="33909"/>
                  </a:lnTo>
                  <a:cubicBezTo>
                    <a:pt x="408432" y="33909"/>
                    <a:pt x="33909" y="408432"/>
                    <a:pt x="33909" y="870331"/>
                  </a:cubicBezTo>
                  <a:close/>
                </a:path>
              </a:pathLst>
            </a:custGeom>
            <a:solidFill>
              <a:srgbClr val="0097A7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80160" y="6675120"/>
            <a:ext cx="1280160" cy="1280160"/>
            <a:chOff x="0" y="0"/>
            <a:chExt cx="1706880" cy="17068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1706880" cy="1773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834640" y="6583680"/>
            <a:ext cx="6035040" cy="768096"/>
            <a:chOff x="0" y="0"/>
            <a:chExt cx="8046720" cy="102412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0467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80467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90CA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Sản phẩm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914933" y="6967728"/>
            <a:ext cx="6035040" cy="1499616"/>
            <a:chOff x="0" y="0"/>
            <a:chExt cx="8046720" cy="199948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046720" cy="1999488"/>
            </a:xfrm>
            <a:custGeom>
              <a:avLst/>
              <a:gdLst/>
              <a:ahLst/>
              <a:cxnLst/>
              <a:rect r="r" b="b" t="t" l="l"/>
              <a:pathLst>
                <a:path h="1999488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15" r="0" b="-2841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8046720" cy="2047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D0E8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Mini-app CRUD hoàn chỉnh, giao diện nhất quán và responsive desktop &amp; mobile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679943" y="6113783"/>
            <a:ext cx="8346443" cy="3042923"/>
            <a:chOff x="0" y="0"/>
            <a:chExt cx="11128591" cy="405723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1094720" cy="4023360"/>
            </a:xfrm>
            <a:custGeom>
              <a:avLst/>
              <a:gdLst/>
              <a:ahLst/>
              <a:cxnLst/>
              <a:rect r="r" b="b" t="t" l="l"/>
              <a:pathLst>
                <a:path h="40233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1976D2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128501" cy="4057142"/>
            </a:xfrm>
            <a:custGeom>
              <a:avLst/>
              <a:gdLst/>
              <a:ahLst/>
              <a:cxnLst/>
              <a:rect r="r" b="b" t="t" l="l"/>
              <a:pathLst>
                <a:path h="405714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4040251"/>
                  </a:lnTo>
                  <a:cubicBezTo>
                    <a:pt x="11128501" y="4049649"/>
                    <a:pt x="11120882" y="4057142"/>
                    <a:pt x="11111611" y="4057142"/>
                  </a:cubicBezTo>
                  <a:lnTo>
                    <a:pt x="16891" y="4057142"/>
                  </a:lnTo>
                  <a:cubicBezTo>
                    <a:pt x="7493" y="4057142"/>
                    <a:pt x="0" y="4049522"/>
                    <a:pt x="0" y="4040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040251"/>
                  </a:lnTo>
                  <a:lnTo>
                    <a:pt x="16891" y="4040251"/>
                  </a:lnTo>
                  <a:lnTo>
                    <a:pt x="16891" y="4023360"/>
                  </a:lnTo>
                  <a:lnTo>
                    <a:pt x="11111611" y="4023360"/>
                  </a:lnTo>
                  <a:lnTo>
                    <a:pt x="11111611" y="4040251"/>
                  </a:lnTo>
                  <a:lnTo>
                    <a:pt x="11094720" y="404025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2A5F5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045703" y="6662423"/>
            <a:ext cx="1305563" cy="1305563"/>
            <a:chOff x="0" y="0"/>
            <a:chExt cx="1740751" cy="174075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0097A7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740662" cy="1740662"/>
            </a:xfrm>
            <a:custGeom>
              <a:avLst/>
              <a:gdLst/>
              <a:ahLst/>
              <a:cxnLst/>
              <a:rect r="r" b="b" t="t" l="l"/>
              <a:pathLst>
                <a:path h="1740662" w="1740662">
                  <a:moveTo>
                    <a:pt x="0" y="870331"/>
                  </a:moveTo>
                  <a:cubicBezTo>
                    <a:pt x="0" y="389636"/>
                    <a:pt x="389636" y="0"/>
                    <a:pt x="870331" y="0"/>
                  </a:cubicBezTo>
                  <a:lnTo>
                    <a:pt x="870331" y="16891"/>
                  </a:lnTo>
                  <a:lnTo>
                    <a:pt x="870331" y="0"/>
                  </a:lnTo>
                  <a:cubicBezTo>
                    <a:pt x="1351026" y="0"/>
                    <a:pt x="1740662" y="389636"/>
                    <a:pt x="1740662" y="870331"/>
                  </a:cubicBezTo>
                  <a:cubicBezTo>
                    <a:pt x="1740662" y="1351026"/>
                    <a:pt x="1351026" y="1740662"/>
                    <a:pt x="870331" y="1740662"/>
                  </a:cubicBezTo>
                  <a:lnTo>
                    <a:pt x="870331" y="1723771"/>
                  </a:lnTo>
                  <a:lnTo>
                    <a:pt x="870331" y="1740662"/>
                  </a:lnTo>
                  <a:cubicBezTo>
                    <a:pt x="389636" y="1740789"/>
                    <a:pt x="0" y="1351026"/>
                    <a:pt x="0" y="870331"/>
                  </a:cubicBezTo>
                  <a:lnTo>
                    <a:pt x="16891" y="870331"/>
                  </a:lnTo>
                  <a:lnTo>
                    <a:pt x="31242" y="879348"/>
                  </a:lnTo>
                  <a:cubicBezTo>
                    <a:pt x="27178" y="885698"/>
                    <a:pt x="19431" y="888619"/>
                    <a:pt x="12192" y="886587"/>
                  </a:cubicBezTo>
                  <a:cubicBezTo>
                    <a:pt x="4953" y="884555"/>
                    <a:pt x="0" y="877951"/>
                    <a:pt x="0" y="870331"/>
                  </a:cubicBezTo>
                  <a:moveTo>
                    <a:pt x="33909" y="870331"/>
                  </a:moveTo>
                  <a:lnTo>
                    <a:pt x="16891" y="870331"/>
                  </a:lnTo>
                  <a:lnTo>
                    <a:pt x="2667" y="861314"/>
                  </a:lnTo>
                  <a:cubicBezTo>
                    <a:pt x="6731" y="854964"/>
                    <a:pt x="14478" y="852043"/>
                    <a:pt x="21717" y="854075"/>
                  </a:cubicBezTo>
                  <a:cubicBezTo>
                    <a:pt x="28956" y="856107"/>
                    <a:pt x="33909" y="862838"/>
                    <a:pt x="33909" y="870331"/>
                  </a:cubicBezTo>
                  <a:cubicBezTo>
                    <a:pt x="33909" y="1332357"/>
                    <a:pt x="408432" y="1706880"/>
                    <a:pt x="870458" y="1706880"/>
                  </a:cubicBezTo>
                  <a:cubicBezTo>
                    <a:pt x="1332484" y="1706880"/>
                    <a:pt x="1707007" y="1332357"/>
                    <a:pt x="1707007" y="870331"/>
                  </a:cubicBezTo>
                  <a:lnTo>
                    <a:pt x="1723898" y="870331"/>
                  </a:lnTo>
                  <a:lnTo>
                    <a:pt x="1707007" y="870331"/>
                  </a:lnTo>
                  <a:cubicBezTo>
                    <a:pt x="1707007" y="408305"/>
                    <a:pt x="1332484" y="33782"/>
                    <a:pt x="870458" y="33782"/>
                  </a:cubicBezTo>
                  <a:lnTo>
                    <a:pt x="870458" y="16891"/>
                  </a:lnTo>
                  <a:lnTo>
                    <a:pt x="870458" y="33909"/>
                  </a:lnTo>
                  <a:cubicBezTo>
                    <a:pt x="408432" y="33909"/>
                    <a:pt x="33909" y="408432"/>
                    <a:pt x="33909" y="870331"/>
                  </a:cubicBezTo>
                  <a:close/>
                </a:path>
              </a:pathLst>
            </a:custGeom>
            <a:solidFill>
              <a:srgbClr val="0097A7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0058400" y="6675120"/>
            <a:ext cx="1280160" cy="1280160"/>
            <a:chOff x="0" y="0"/>
            <a:chExt cx="1706880" cy="17068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66675"/>
              <a:ext cx="1706880" cy="1773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612880" y="6583680"/>
            <a:ext cx="6035040" cy="768096"/>
            <a:chOff x="0" y="0"/>
            <a:chExt cx="8046720" cy="102412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0467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80467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90CA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Điểm mạnh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1627491" y="6967728"/>
            <a:ext cx="6035040" cy="1499616"/>
            <a:chOff x="0" y="0"/>
            <a:chExt cx="8046720" cy="199948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046720" cy="1999488"/>
            </a:xfrm>
            <a:custGeom>
              <a:avLst/>
              <a:gdLst/>
              <a:ahLst/>
              <a:cxnLst/>
              <a:rect r="r" b="b" t="t" l="l"/>
              <a:pathLst>
                <a:path h="1999488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15" r="0" b="-2841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8046720" cy="20471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D0E8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Tiết kiệm thời gian, nhiều component sẵn, không cần jQuery, dễ tích hợp</a:t>
              </a:r>
            </a:p>
          </p:txBody>
        </p:sp>
      </p:grpSp>
      <p:sp>
        <p:nvSpPr>
          <p:cNvPr name="Freeform 68" id="68"/>
          <p:cNvSpPr/>
          <p:nvPr/>
        </p:nvSpPr>
        <p:spPr>
          <a:xfrm flipH="false" flipV="false" rot="0">
            <a:off x="478104" y="279391"/>
            <a:ext cx="2436829" cy="1359547"/>
          </a:xfrm>
          <a:custGeom>
            <a:avLst/>
            <a:gdLst/>
            <a:ahLst/>
            <a:cxnLst/>
            <a:rect r="r" b="b" t="t" l="l"/>
            <a:pathLst>
              <a:path h="1359547" w="2436829">
                <a:moveTo>
                  <a:pt x="0" y="0"/>
                </a:moveTo>
                <a:lnTo>
                  <a:pt x="2436829" y="0"/>
                </a:lnTo>
                <a:lnTo>
                  <a:pt x="2436829" y="1359547"/>
                </a:lnTo>
                <a:lnTo>
                  <a:pt x="0" y="13595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70854" y="600862"/>
            <a:ext cx="5928672" cy="1123801"/>
            <a:chOff x="0" y="0"/>
            <a:chExt cx="7904897" cy="1498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04897" cy="1498402"/>
            </a:xfrm>
            <a:custGeom>
              <a:avLst/>
              <a:gdLst/>
              <a:ahLst/>
              <a:cxnLst/>
              <a:rect r="r" b="b" t="t" l="l"/>
              <a:pathLst>
                <a:path h="1498402" w="7904897">
                  <a:moveTo>
                    <a:pt x="0" y="0"/>
                  </a:moveTo>
                  <a:lnTo>
                    <a:pt x="7904897" y="0"/>
                  </a:lnTo>
                  <a:lnTo>
                    <a:pt x="7904897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6557" r="-177620" b="-23419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7904897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1565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Tài liệu tham khảo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724663"/>
            <a:ext cx="16484603" cy="80267"/>
            <a:chOff x="0" y="0"/>
            <a:chExt cx="21979471" cy="1070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1945599" cy="73152"/>
            </a:xfrm>
            <a:custGeom>
              <a:avLst/>
              <a:gdLst/>
              <a:ahLst/>
              <a:cxnLst/>
              <a:rect r="r" b="b" t="t" l="l"/>
              <a:pathLst>
                <a:path h="73152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E3E8F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79382" cy="106936"/>
            </a:xfrm>
            <a:custGeom>
              <a:avLst/>
              <a:gdLst/>
              <a:ahLst/>
              <a:cxnLst/>
              <a:rect r="r" b="b" t="t" l="l"/>
              <a:pathLst>
                <a:path h="106936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90043"/>
                  </a:lnTo>
                  <a:cubicBezTo>
                    <a:pt x="21979382" y="99441"/>
                    <a:pt x="21971763" y="106934"/>
                    <a:pt x="21962490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21962490" y="73152"/>
                  </a:lnTo>
                  <a:lnTo>
                    <a:pt x="21962490" y="90043"/>
                  </a:lnTo>
                  <a:lnTo>
                    <a:pt x="21945600" y="90043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3E8F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01703" y="2625347"/>
            <a:ext cx="793499" cy="793499"/>
            <a:chOff x="0" y="0"/>
            <a:chExt cx="1057999" cy="10579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7910" cy="1057910"/>
            </a:xfrm>
            <a:custGeom>
              <a:avLst/>
              <a:gdLst/>
              <a:ahLst/>
              <a:cxnLst/>
              <a:rect r="r" b="b" t="t" l="l"/>
              <a:pathLst>
                <a:path h="1057910" w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2638044"/>
            <a:ext cx="768096" cy="768096"/>
            <a:chOff x="0" y="0"/>
            <a:chExt cx="1024128" cy="10241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737776" y="2732280"/>
            <a:ext cx="1805887" cy="652777"/>
            <a:chOff x="0" y="0"/>
            <a:chExt cx="2117431" cy="7653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8022" y="16891"/>
              <a:ext cx="2081292" cy="731520"/>
            </a:xfrm>
            <a:custGeom>
              <a:avLst/>
              <a:gdLst/>
              <a:ahLst/>
              <a:cxnLst/>
              <a:rect r="r" b="b" t="t" l="l"/>
              <a:pathLst>
                <a:path h="731520" w="2081292">
                  <a:moveTo>
                    <a:pt x="0" y="121920"/>
                  </a:moveTo>
                  <a:cubicBezTo>
                    <a:pt x="0" y="54610"/>
                    <a:pt x="59891" y="0"/>
                    <a:pt x="133739" y="0"/>
                  </a:cubicBezTo>
                  <a:lnTo>
                    <a:pt x="1947553" y="0"/>
                  </a:lnTo>
                  <a:cubicBezTo>
                    <a:pt x="2021401" y="0"/>
                    <a:pt x="2081292" y="54610"/>
                    <a:pt x="2081292" y="121920"/>
                  </a:cubicBezTo>
                  <a:lnTo>
                    <a:pt x="2081292" y="609600"/>
                  </a:lnTo>
                  <a:cubicBezTo>
                    <a:pt x="2081292" y="676910"/>
                    <a:pt x="2021401" y="731520"/>
                    <a:pt x="1947553" y="731520"/>
                  </a:cubicBezTo>
                  <a:lnTo>
                    <a:pt x="133874" y="731520"/>
                  </a:lnTo>
                  <a:cubicBezTo>
                    <a:pt x="60026" y="731520"/>
                    <a:pt x="135" y="676910"/>
                    <a:pt x="135" y="609600"/>
                  </a:cubicBezTo>
                  <a:close/>
                </a:path>
              </a:pathLst>
            </a:custGeom>
            <a:solidFill>
              <a:srgbClr val="E3F2FD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17469" cy="765302"/>
            </a:xfrm>
            <a:custGeom>
              <a:avLst/>
              <a:gdLst/>
              <a:ahLst/>
              <a:cxnLst/>
              <a:rect r="r" b="b" t="t" l="l"/>
              <a:pathLst>
                <a:path h="765302" w="2117469">
                  <a:moveTo>
                    <a:pt x="0" y="138811"/>
                  </a:moveTo>
                  <a:cubicBezTo>
                    <a:pt x="0" y="61722"/>
                    <a:pt x="68428" y="0"/>
                    <a:pt x="151896" y="0"/>
                  </a:cubicBezTo>
                  <a:lnTo>
                    <a:pt x="1965575" y="0"/>
                  </a:lnTo>
                  <a:lnTo>
                    <a:pt x="1965575" y="16891"/>
                  </a:lnTo>
                  <a:lnTo>
                    <a:pt x="1965575" y="0"/>
                  </a:lnTo>
                  <a:cubicBezTo>
                    <a:pt x="2048908" y="0"/>
                    <a:pt x="2117469" y="61722"/>
                    <a:pt x="2117469" y="138811"/>
                  </a:cubicBezTo>
                  <a:lnTo>
                    <a:pt x="2099450" y="138811"/>
                  </a:lnTo>
                  <a:lnTo>
                    <a:pt x="2117469" y="138811"/>
                  </a:lnTo>
                  <a:lnTo>
                    <a:pt x="2117469" y="626491"/>
                  </a:lnTo>
                  <a:lnTo>
                    <a:pt x="2099450" y="626491"/>
                  </a:lnTo>
                  <a:lnTo>
                    <a:pt x="2117469" y="626491"/>
                  </a:lnTo>
                  <a:cubicBezTo>
                    <a:pt x="2117469" y="703580"/>
                    <a:pt x="2049043" y="765302"/>
                    <a:pt x="1965575" y="765302"/>
                  </a:cubicBezTo>
                  <a:lnTo>
                    <a:pt x="1965575" y="748411"/>
                  </a:lnTo>
                  <a:lnTo>
                    <a:pt x="1965575" y="765302"/>
                  </a:lnTo>
                  <a:lnTo>
                    <a:pt x="151896" y="765302"/>
                  </a:lnTo>
                  <a:lnTo>
                    <a:pt x="151896" y="748411"/>
                  </a:lnTo>
                  <a:lnTo>
                    <a:pt x="151896" y="765302"/>
                  </a:lnTo>
                  <a:cubicBezTo>
                    <a:pt x="68428" y="765429"/>
                    <a:pt x="0" y="703707"/>
                    <a:pt x="0" y="626491"/>
                  </a:cubicBezTo>
                  <a:lnTo>
                    <a:pt x="0" y="138811"/>
                  </a:lnTo>
                  <a:lnTo>
                    <a:pt x="18022" y="138811"/>
                  </a:lnTo>
                  <a:lnTo>
                    <a:pt x="0" y="138811"/>
                  </a:lnTo>
                  <a:moveTo>
                    <a:pt x="36179" y="138811"/>
                  </a:moveTo>
                  <a:lnTo>
                    <a:pt x="36179" y="626491"/>
                  </a:lnTo>
                  <a:lnTo>
                    <a:pt x="18022" y="626491"/>
                  </a:lnTo>
                  <a:lnTo>
                    <a:pt x="36179" y="626491"/>
                  </a:lnTo>
                  <a:cubicBezTo>
                    <a:pt x="36179" y="684022"/>
                    <a:pt x="87534" y="731520"/>
                    <a:pt x="151896" y="731520"/>
                  </a:cubicBezTo>
                  <a:lnTo>
                    <a:pt x="1965575" y="731520"/>
                  </a:lnTo>
                  <a:cubicBezTo>
                    <a:pt x="2029938" y="731520"/>
                    <a:pt x="2081292" y="684022"/>
                    <a:pt x="2081292" y="626491"/>
                  </a:cubicBezTo>
                  <a:lnTo>
                    <a:pt x="2081292" y="138811"/>
                  </a:lnTo>
                  <a:cubicBezTo>
                    <a:pt x="2081292" y="81280"/>
                    <a:pt x="2029938" y="33782"/>
                    <a:pt x="1965575" y="33782"/>
                  </a:cubicBezTo>
                  <a:lnTo>
                    <a:pt x="151896" y="33782"/>
                  </a:lnTo>
                  <a:lnTo>
                    <a:pt x="151896" y="16891"/>
                  </a:lnTo>
                  <a:lnTo>
                    <a:pt x="151896" y="33909"/>
                  </a:lnTo>
                  <a:cubicBezTo>
                    <a:pt x="87534" y="33909"/>
                    <a:pt x="36179" y="81407"/>
                    <a:pt x="36179" y="138938"/>
                  </a:cubicBezTo>
                  <a:close/>
                </a:path>
              </a:pathLst>
            </a:custGeom>
            <a:solidFill>
              <a:srgbClr val="2196F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5714128" y="2711196"/>
            <a:ext cx="1853184" cy="694944"/>
            <a:chOff x="0" y="0"/>
            <a:chExt cx="195072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50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507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565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Documentation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975104" y="2491740"/>
            <a:ext cx="13624560" cy="658368"/>
            <a:chOff x="0" y="0"/>
            <a:chExt cx="18166080" cy="8778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166080" cy="877824"/>
            </a:xfrm>
            <a:custGeom>
              <a:avLst/>
              <a:gdLst/>
              <a:ahLst/>
              <a:cxnLst/>
              <a:rect r="r" b="b" t="t" l="l"/>
              <a:pathLst>
                <a:path h="877824" w="18166080">
                  <a:moveTo>
                    <a:pt x="0" y="0"/>
                  </a:moveTo>
                  <a:lnTo>
                    <a:pt x="18166080" y="0"/>
                  </a:lnTo>
                  <a:lnTo>
                    <a:pt x="181660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3232" r="0" b="-35323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816608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Navbars Component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975104" y="3113532"/>
            <a:ext cx="13624560" cy="475488"/>
            <a:chOff x="0" y="0"/>
            <a:chExt cx="18166080" cy="6339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166080" cy="633984"/>
            </a:xfrm>
            <a:custGeom>
              <a:avLst/>
              <a:gdLst/>
              <a:ahLst/>
              <a:cxnLst/>
              <a:rect r="r" b="b" t="t" l="l"/>
              <a:pathLst>
                <a:path h="633984" w="18166080">
                  <a:moveTo>
                    <a:pt x="0" y="0"/>
                  </a:moveTo>
                  <a:lnTo>
                    <a:pt x="18166080" y="0"/>
                  </a:lnTo>
                  <a:lnTo>
                    <a:pt x="181660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8321" r="0" b="-50832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81660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97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react-bootstrap.netlify.app/docs/components/navbar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01703" y="3759203"/>
            <a:ext cx="793499" cy="793499"/>
            <a:chOff x="0" y="0"/>
            <a:chExt cx="1057999" cy="105799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57910" cy="1057910"/>
            </a:xfrm>
            <a:custGeom>
              <a:avLst/>
              <a:gdLst/>
              <a:ahLst/>
              <a:cxnLst/>
              <a:rect r="r" b="b" t="t" l="l"/>
              <a:pathLst>
                <a:path h="1057910" w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14400" y="3771900"/>
            <a:ext cx="768096" cy="768096"/>
            <a:chOff x="0" y="0"/>
            <a:chExt cx="1024128" cy="102412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975104" y="3625596"/>
            <a:ext cx="13624560" cy="658368"/>
            <a:chOff x="0" y="0"/>
            <a:chExt cx="18166080" cy="87782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8166080" cy="877824"/>
            </a:xfrm>
            <a:custGeom>
              <a:avLst/>
              <a:gdLst/>
              <a:ahLst/>
              <a:cxnLst/>
              <a:rect r="r" b="b" t="t" l="l"/>
              <a:pathLst>
                <a:path h="877824" w="18166080">
                  <a:moveTo>
                    <a:pt x="0" y="0"/>
                  </a:moveTo>
                  <a:lnTo>
                    <a:pt x="18166080" y="0"/>
                  </a:lnTo>
                  <a:lnTo>
                    <a:pt x="181660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3232" r="0" b="-35323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816608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Tables Component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975104" y="4247388"/>
            <a:ext cx="13624560" cy="475488"/>
            <a:chOff x="0" y="0"/>
            <a:chExt cx="18166080" cy="63398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8166080" cy="633984"/>
            </a:xfrm>
            <a:custGeom>
              <a:avLst/>
              <a:gdLst/>
              <a:ahLst/>
              <a:cxnLst/>
              <a:rect r="r" b="b" t="t" l="l"/>
              <a:pathLst>
                <a:path h="633984" w="18166080">
                  <a:moveTo>
                    <a:pt x="0" y="0"/>
                  </a:moveTo>
                  <a:lnTo>
                    <a:pt x="18166080" y="0"/>
                  </a:lnTo>
                  <a:lnTo>
                    <a:pt x="181660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8321" r="0" b="-50832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81660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97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react-bootstrap.netlify.app/docs/components/table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01703" y="4893059"/>
            <a:ext cx="793499" cy="793499"/>
            <a:chOff x="0" y="0"/>
            <a:chExt cx="1057999" cy="105799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57910" cy="1057910"/>
            </a:xfrm>
            <a:custGeom>
              <a:avLst/>
              <a:gdLst/>
              <a:ahLst/>
              <a:cxnLst/>
              <a:rect r="r" b="b" t="t" l="l"/>
              <a:pathLst>
                <a:path h="1057910" w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14400" y="4905756"/>
            <a:ext cx="768096" cy="768096"/>
            <a:chOff x="0" y="0"/>
            <a:chExt cx="1024128" cy="102412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975104" y="4759452"/>
            <a:ext cx="13624560" cy="658368"/>
            <a:chOff x="0" y="0"/>
            <a:chExt cx="18166080" cy="87782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8166080" cy="877824"/>
            </a:xfrm>
            <a:custGeom>
              <a:avLst/>
              <a:gdLst/>
              <a:ahLst/>
              <a:cxnLst/>
              <a:rect r="r" b="b" t="t" l="l"/>
              <a:pathLst>
                <a:path h="877824" w="18166080">
                  <a:moveTo>
                    <a:pt x="0" y="0"/>
                  </a:moveTo>
                  <a:lnTo>
                    <a:pt x="18166080" y="0"/>
                  </a:lnTo>
                  <a:lnTo>
                    <a:pt x="181660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3232" r="0" b="-35323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816608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Accordion Component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975104" y="5381244"/>
            <a:ext cx="13624560" cy="475488"/>
            <a:chOff x="0" y="0"/>
            <a:chExt cx="18166080" cy="63398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8166080" cy="633984"/>
            </a:xfrm>
            <a:custGeom>
              <a:avLst/>
              <a:gdLst/>
              <a:ahLst/>
              <a:cxnLst/>
              <a:rect r="r" b="b" t="t" l="l"/>
              <a:pathLst>
                <a:path h="633984" w="18166080">
                  <a:moveTo>
                    <a:pt x="0" y="0"/>
                  </a:moveTo>
                  <a:lnTo>
                    <a:pt x="18166080" y="0"/>
                  </a:lnTo>
                  <a:lnTo>
                    <a:pt x="181660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8321" r="0" b="-50832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81660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97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react-bootstrap.netlify.app/docs/components/accordion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01703" y="6026915"/>
            <a:ext cx="793499" cy="793499"/>
            <a:chOff x="0" y="0"/>
            <a:chExt cx="1057999" cy="105799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57910" cy="1057910"/>
            </a:xfrm>
            <a:custGeom>
              <a:avLst/>
              <a:gdLst/>
              <a:ahLst/>
              <a:cxnLst/>
              <a:rect r="r" b="b" t="t" l="l"/>
              <a:pathLst>
                <a:path h="1057910" w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14400" y="6039612"/>
            <a:ext cx="768096" cy="768096"/>
            <a:chOff x="0" y="0"/>
            <a:chExt cx="1024128" cy="102412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975104" y="5893308"/>
            <a:ext cx="13624560" cy="658368"/>
            <a:chOff x="0" y="0"/>
            <a:chExt cx="18166080" cy="87782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166080" cy="877824"/>
            </a:xfrm>
            <a:custGeom>
              <a:avLst/>
              <a:gdLst/>
              <a:ahLst/>
              <a:cxnLst/>
              <a:rect r="r" b="b" t="t" l="l"/>
              <a:pathLst>
                <a:path h="877824" w="18166080">
                  <a:moveTo>
                    <a:pt x="0" y="0"/>
                  </a:moveTo>
                  <a:lnTo>
                    <a:pt x="18166080" y="0"/>
                  </a:lnTo>
                  <a:lnTo>
                    <a:pt x="181660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3232" r="0" b="-353232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816608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Cards Component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975104" y="6515100"/>
            <a:ext cx="13624560" cy="475488"/>
            <a:chOff x="0" y="0"/>
            <a:chExt cx="18166080" cy="63398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8166080" cy="633984"/>
            </a:xfrm>
            <a:custGeom>
              <a:avLst/>
              <a:gdLst/>
              <a:ahLst/>
              <a:cxnLst/>
              <a:rect r="r" b="b" t="t" l="l"/>
              <a:pathLst>
                <a:path h="633984" w="18166080">
                  <a:moveTo>
                    <a:pt x="0" y="0"/>
                  </a:moveTo>
                  <a:lnTo>
                    <a:pt x="18166080" y="0"/>
                  </a:lnTo>
                  <a:lnTo>
                    <a:pt x="181660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8321" r="0" b="-508321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81660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97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react-bootstrap.netlify.app/docs/components/cards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01703" y="7160771"/>
            <a:ext cx="793499" cy="793499"/>
            <a:chOff x="0" y="0"/>
            <a:chExt cx="1057999" cy="105799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57910" cy="1057910"/>
            </a:xfrm>
            <a:custGeom>
              <a:avLst/>
              <a:gdLst/>
              <a:ahLst/>
              <a:cxnLst/>
              <a:rect r="r" b="b" t="t" l="l"/>
              <a:pathLst>
                <a:path h="1057910" w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14400" y="7173468"/>
            <a:ext cx="768096" cy="768096"/>
            <a:chOff x="0" y="0"/>
            <a:chExt cx="1024128" cy="102412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5730928" y="7160771"/>
            <a:ext cx="1837748" cy="725929"/>
            <a:chOff x="0" y="0"/>
            <a:chExt cx="2184660" cy="86296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8594" y="19044"/>
              <a:ext cx="2147375" cy="824774"/>
            </a:xfrm>
            <a:custGeom>
              <a:avLst/>
              <a:gdLst/>
              <a:ahLst/>
              <a:cxnLst/>
              <a:rect r="r" b="b" t="t" l="l"/>
              <a:pathLst>
                <a:path h="824774" w="2147375">
                  <a:moveTo>
                    <a:pt x="0" y="137463"/>
                  </a:moveTo>
                  <a:cubicBezTo>
                    <a:pt x="0" y="61572"/>
                    <a:pt x="61793" y="0"/>
                    <a:pt x="137985" y="0"/>
                  </a:cubicBezTo>
                  <a:lnTo>
                    <a:pt x="2009389" y="0"/>
                  </a:lnTo>
                  <a:cubicBezTo>
                    <a:pt x="2085581" y="0"/>
                    <a:pt x="2147374" y="61572"/>
                    <a:pt x="2147374" y="137463"/>
                  </a:cubicBezTo>
                  <a:lnTo>
                    <a:pt x="2147374" y="687312"/>
                  </a:lnTo>
                  <a:cubicBezTo>
                    <a:pt x="2147374" y="763202"/>
                    <a:pt x="2085581" y="824774"/>
                    <a:pt x="2009389" y="824774"/>
                  </a:cubicBezTo>
                  <a:lnTo>
                    <a:pt x="138125" y="824774"/>
                  </a:lnTo>
                  <a:cubicBezTo>
                    <a:pt x="61933" y="824774"/>
                    <a:pt x="140" y="763202"/>
                    <a:pt x="140" y="687312"/>
                  </a:cubicBezTo>
                  <a:close/>
                </a:path>
              </a:pathLst>
            </a:custGeom>
            <a:solidFill>
              <a:srgbClr val="FFF8E1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184698" cy="862862"/>
            </a:xfrm>
            <a:custGeom>
              <a:avLst/>
              <a:gdLst/>
              <a:ahLst/>
              <a:cxnLst/>
              <a:rect r="r" b="b" t="t" l="l"/>
              <a:pathLst>
                <a:path h="862862" w="2184698">
                  <a:moveTo>
                    <a:pt x="0" y="156507"/>
                  </a:moveTo>
                  <a:cubicBezTo>
                    <a:pt x="0" y="69590"/>
                    <a:pt x="70601" y="0"/>
                    <a:pt x="156719" y="0"/>
                  </a:cubicBezTo>
                  <a:lnTo>
                    <a:pt x="2027983" y="0"/>
                  </a:lnTo>
                  <a:lnTo>
                    <a:pt x="2027983" y="19044"/>
                  </a:lnTo>
                  <a:lnTo>
                    <a:pt x="2027983" y="0"/>
                  </a:lnTo>
                  <a:cubicBezTo>
                    <a:pt x="2113962" y="0"/>
                    <a:pt x="2184698" y="69590"/>
                    <a:pt x="2184698" y="156507"/>
                  </a:cubicBezTo>
                  <a:lnTo>
                    <a:pt x="2166108" y="156507"/>
                  </a:lnTo>
                  <a:lnTo>
                    <a:pt x="2184698" y="156507"/>
                  </a:lnTo>
                  <a:lnTo>
                    <a:pt x="2184698" y="706356"/>
                  </a:lnTo>
                  <a:lnTo>
                    <a:pt x="2166108" y="706356"/>
                  </a:lnTo>
                  <a:lnTo>
                    <a:pt x="2184698" y="706356"/>
                  </a:lnTo>
                  <a:cubicBezTo>
                    <a:pt x="2184698" y="793272"/>
                    <a:pt x="2114102" y="862862"/>
                    <a:pt x="2027983" y="862862"/>
                  </a:cubicBezTo>
                  <a:lnTo>
                    <a:pt x="2027983" y="843818"/>
                  </a:lnTo>
                  <a:lnTo>
                    <a:pt x="2027983" y="862862"/>
                  </a:lnTo>
                  <a:lnTo>
                    <a:pt x="156719" y="862862"/>
                  </a:lnTo>
                  <a:lnTo>
                    <a:pt x="156719" y="843818"/>
                  </a:lnTo>
                  <a:lnTo>
                    <a:pt x="156719" y="862862"/>
                  </a:lnTo>
                  <a:cubicBezTo>
                    <a:pt x="70601" y="863001"/>
                    <a:pt x="0" y="793415"/>
                    <a:pt x="0" y="706356"/>
                  </a:cubicBezTo>
                  <a:lnTo>
                    <a:pt x="0" y="156507"/>
                  </a:lnTo>
                  <a:lnTo>
                    <a:pt x="18594" y="156507"/>
                  </a:lnTo>
                  <a:lnTo>
                    <a:pt x="0" y="156507"/>
                  </a:lnTo>
                  <a:moveTo>
                    <a:pt x="37327" y="156507"/>
                  </a:moveTo>
                  <a:lnTo>
                    <a:pt x="37327" y="706356"/>
                  </a:lnTo>
                  <a:lnTo>
                    <a:pt x="18594" y="706356"/>
                  </a:lnTo>
                  <a:lnTo>
                    <a:pt x="37327" y="706356"/>
                  </a:lnTo>
                  <a:cubicBezTo>
                    <a:pt x="37327" y="771221"/>
                    <a:pt x="90313" y="824774"/>
                    <a:pt x="156719" y="824774"/>
                  </a:cubicBezTo>
                  <a:lnTo>
                    <a:pt x="2027983" y="824774"/>
                  </a:lnTo>
                  <a:cubicBezTo>
                    <a:pt x="2094389" y="824774"/>
                    <a:pt x="2147375" y="771221"/>
                    <a:pt x="2147375" y="706356"/>
                  </a:cubicBezTo>
                  <a:lnTo>
                    <a:pt x="2147375" y="156507"/>
                  </a:lnTo>
                  <a:cubicBezTo>
                    <a:pt x="2147375" y="91642"/>
                    <a:pt x="2094389" y="38089"/>
                    <a:pt x="2027983" y="38089"/>
                  </a:cubicBezTo>
                  <a:lnTo>
                    <a:pt x="156719" y="38089"/>
                  </a:lnTo>
                  <a:lnTo>
                    <a:pt x="156719" y="19044"/>
                  </a:lnTo>
                  <a:lnTo>
                    <a:pt x="156719" y="38232"/>
                  </a:lnTo>
                  <a:cubicBezTo>
                    <a:pt x="90313" y="38232"/>
                    <a:pt x="37327" y="91785"/>
                    <a:pt x="37327" y="156650"/>
                  </a:cubicBezTo>
                  <a:close/>
                </a:path>
              </a:pathLst>
            </a:custGeom>
            <a:solidFill>
              <a:srgbClr val="FFC107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5796363" y="7203696"/>
            <a:ext cx="1706880" cy="640080"/>
            <a:chOff x="0" y="0"/>
            <a:chExt cx="1950720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950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19507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E651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Tutorial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975104" y="7027164"/>
            <a:ext cx="13624560" cy="658368"/>
            <a:chOff x="0" y="0"/>
            <a:chExt cx="18166080" cy="87782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8166080" cy="877824"/>
            </a:xfrm>
            <a:custGeom>
              <a:avLst/>
              <a:gdLst/>
              <a:ahLst/>
              <a:cxnLst/>
              <a:rect r="r" b="b" t="t" l="l"/>
              <a:pathLst>
                <a:path h="877824" w="18166080">
                  <a:moveTo>
                    <a:pt x="0" y="0"/>
                  </a:moveTo>
                  <a:lnTo>
                    <a:pt x="18166080" y="0"/>
                  </a:lnTo>
                  <a:lnTo>
                    <a:pt x="181660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3232" r="0" b="-353232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1816608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Install React Router — W3Schools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975104" y="7648956"/>
            <a:ext cx="13624560" cy="475488"/>
            <a:chOff x="0" y="0"/>
            <a:chExt cx="18166080" cy="63398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8166080" cy="633984"/>
            </a:xfrm>
            <a:custGeom>
              <a:avLst/>
              <a:gdLst/>
              <a:ahLst/>
              <a:cxnLst/>
              <a:rect r="r" b="b" t="t" l="l"/>
              <a:pathLst>
                <a:path h="633984" w="18166080">
                  <a:moveTo>
                    <a:pt x="0" y="0"/>
                  </a:moveTo>
                  <a:lnTo>
                    <a:pt x="18166080" y="0"/>
                  </a:lnTo>
                  <a:lnTo>
                    <a:pt x="181660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8321" r="0" b="-508321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181660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97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www.w3schools.com/react/react_router.asp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01703" y="8294627"/>
            <a:ext cx="793499" cy="793499"/>
            <a:chOff x="0" y="0"/>
            <a:chExt cx="1057999" cy="105799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57910" cy="1057910"/>
            </a:xfrm>
            <a:custGeom>
              <a:avLst/>
              <a:gdLst/>
              <a:ahLst/>
              <a:cxnLst/>
              <a:rect r="r" b="b" t="t" l="l"/>
              <a:pathLst>
                <a:path h="1057910" w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14400" y="8307324"/>
            <a:ext cx="768096" cy="768096"/>
            <a:chOff x="0" y="0"/>
            <a:chExt cx="1024128" cy="102412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5794998" y="8294627"/>
            <a:ext cx="1772314" cy="725929"/>
            <a:chOff x="0" y="0"/>
            <a:chExt cx="2363086" cy="96790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20112" y="21360"/>
              <a:ext cx="2322755" cy="925072"/>
            </a:xfrm>
            <a:custGeom>
              <a:avLst/>
              <a:gdLst/>
              <a:ahLst/>
              <a:cxnLst/>
              <a:rect r="r" b="b" t="t" l="l"/>
              <a:pathLst>
                <a:path h="925072" w="2322755">
                  <a:moveTo>
                    <a:pt x="0" y="154179"/>
                  </a:moveTo>
                  <a:cubicBezTo>
                    <a:pt x="0" y="69059"/>
                    <a:pt x="66840" y="0"/>
                    <a:pt x="149256" y="0"/>
                  </a:cubicBezTo>
                  <a:lnTo>
                    <a:pt x="2173500" y="0"/>
                  </a:lnTo>
                  <a:cubicBezTo>
                    <a:pt x="2255916" y="0"/>
                    <a:pt x="2322755" y="69059"/>
                    <a:pt x="2322755" y="154179"/>
                  </a:cubicBezTo>
                  <a:lnTo>
                    <a:pt x="2322755" y="770894"/>
                  </a:lnTo>
                  <a:cubicBezTo>
                    <a:pt x="2322755" y="856013"/>
                    <a:pt x="2255916" y="925073"/>
                    <a:pt x="2173500" y="925073"/>
                  </a:cubicBezTo>
                  <a:lnTo>
                    <a:pt x="149407" y="925073"/>
                  </a:lnTo>
                  <a:cubicBezTo>
                    <a:pt x="66991" y="925073"/>
                    <a:pt x="152" y="856013"/>
                    <a:pt x="152" y="770894"/>
                  </a:cubicBezTo>
                  <a:close/>
                </a:path>
              </a:pathLst>
            </a:custGeom>
            <a:solidFill>
              <a:srgbClr val="FFEBEE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363124" cy="967793"/>
            </a:xfrm>
            <a:custGeom>
              <a:avLst/>
              <a:gdLst/>
              <a:ahLst/>
              <a:cxnLst/>
              <a:rect r="r" b="b" t="t" l="l"/>
              <a:pathLst>
                <a:path h="967793" w="2363124">
                  <a:moveTo>
                    <a:pt x="0" y="175539"/>
                  </a:moveTo>
                  <a:cubicBezTo>
                    <a:pt x="0" y="78053"/>
                    <a:pt x="76367" y="0"/>
                    <a:pt x="169519" y="0"/>
                  </a:cubicBezTo>
                  <a:lnTo>
                    <a:pt x="2193612" y="0"/>
                  </a:lnTo>
                  <a:lnTo>
                    <a:pt x="2193612" y="21360"/>
                  </a:lnTo>
                  <a:lnTo>
                    <a:pt x="2193612" y="0"/>
                  </a:lnTo>
                  <a:cubicBezTo>
                    <a:pt x="2286613" y="0"/>
                    <a:pt x="2363124" y="78053"/>
                    <a:pt x="2363124" y="175539"/>
                  </a:cubicBezTo>
                  <a:lnTo>
                    <a:pt x="2343019" y="175539"/>
                  </a:lnTo>
                  <a:lnTo>
                    <a:pt x="2363124" y="175539"/>
                  </a:lnTo>
                  <a:lnTo>
                    <a:pt x="2363124" y="792254"/>
                  </a:lnTo>
                  <a:lnTo>
                    <a:pt x="2343019" y="792254"/>
                  </a:lnTo>
                  <a:lnTo>
                    <a:pt x="2363124" y="792254"/>
                  </a:lnTo>
                  <a:cubicBezTo>
                    <a:pt x="2363124" y="889740"/>
                    <a:pt x="2286764" y="967793"/>
                    <a:pt x="2193612" y="967793"/>
                  </a:cubicBezTo>
                  <a:lnTo>
                    <a:pt x="2193612" y="946433"/>
                  </a:lnTo>
                  <a:lnTo>
                    <a:pt x="2193612" y="967793"/>
                  </a:lnTo>
                  <a:lnTo>
                    <a:pt x="169519" y="967793"/>
                  </a:lnTo>
                  <a:lnTo>
                    <a:pt x="169519" y="946433"/>
                  </a:lnTo>
                  <a:lnTo>
                    <a:pt x="169519" y="967793"/>
                  </a:lnTo>
                  <a:cubicBezTo>
                    <a:pt x="76367" y="967943"/>
                    <a:pt x="0" y="889900"/>
                    <a:pt x="0" y="792254"/>
                  </a:cubicBezTo>
                  <a:lnTo>
                    <a:pt x="0" y="175539"/>
                  </a:lnTo>
                  <a:lnTo>
                    <a:pt x="20112" y="175539"/>
                  </a:lnTo>
                  <a:lnTo>
                    <a:pt x="0" y="175539"/>
                  </a:lnTo>
                  <a:moveTo>
                    <a:pt x="40376" y="175539"/>
                  </a:moveTo>
                  <a:lnTo>
                    <a:pt x="40376" y="792254"/>
                  </a:lnTo>
                  <a:lnTo>
                    <a:pt x="20112" y="792254"/>
                  </a:lnTo>
                  <a:lnTo>
                    <a:pt x="40376" y="792254"/>
                  </a:lnTo>
                  <a:cubicBezTo>
                    <a:pt x="40376" y="865007"/>
                    <a:pt x="97689" y="925072"/>
                    <a:pt x="169519" y="925072"/>
                  </a:cubicBezTo>
                  <a:lnTo>
                    <a:pt x="2193612" y="925072"/>
                  </a:lnTo>
                  <a:cubicBezTo>
                    <a:pt x="2265442" y="925072"/>
                    <a:pt x="2322755" y="865007"/>
                    <a:pt x="2322755" y="792254"/>
                  </a:cubicBezTo>
                  <a:lnTo>
                    <a:pt x="2322755" y="175539"/>
                  </a:lnTo>
                  <a:cubicBezTo>
                    <a:pt x="2322755" y="102786"/>
                    <a:pt x="2265442" y="42720"/>
                    <a:pt x="2193612" y="42720"/>
                  </a:cubicBezTo>
                  <a:lnTo>
                    <a:pt x="169519" y="42720"/>
                  </a:lnTo>
                  <a:lnTo>
                    <a:pt x="169519" y="21360"/>
                  </a:lnTo>
                  <a:lnTo>
                    <a:pt x="169519" y="42881"/>
                  </a:lnTo>
                  <a:cubicBezTo>
                    <a:pt x="97689" y="42881"/>
                    <a:pt x="40376" y="102946"/>
                    <a:pt x="40376" y="175700"/>
                  </a:cubicBezTo>
                  <a:close/>
                </a:path>
              </a:pathLst>
            </a:custGeom>
            <a:solidFill>
              <a:srgbClr val="F44336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5949635" y="8383272"/>
            <a:ext cx="1463040" cy="548640"/>
            <a:chOff x="0" y="0"/>
            <a:chExt cx="1950720" cy="7315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950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19507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6282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Video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975104" y="8161020"/>
            <a:ext cx="13624560" cy="658368"/>
            <a:chOff x="0" y="0"/>
            <a:chExt cx="18166080" cy="87782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8166080" cy="877824"/>
            </a:xfrm>
            <a:custGeom>
              <a:avLst/>
              <a:gdLst/>
              <a:ahLst/>
              <a:cxnLst/>
              <a:rect r="r" b="b" t="t" l="l"/>
              <a:pathLst>
                <a:path h="877824" w="18166080">
                  <a:moveTo>
                    <a:pt x="0" y="0"/>
                  </a:moveTo>
                  <a:lnTo>
                    <a:pt x="18166080" y="0"/>
                  </a:lnTo>
                  <a:lnTo>
                    <a:pt x="181660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3232" r="0" b="-353232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1816608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React Bootstrap Tutorial (Video)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975104" y="8782812"/>
            <a:ext cx="13624560" cy="475488"/>
            <a:chOff x="0" y="0"/>
            <a:chExt cx="18166080" cy="63398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8166080" cy="633984"/>
            </a:xfrm>
            <a:custGeom>
              <a:avLst/>
              <a:gdLst/>
              <a:ahLst/>
              <a:cxnLst/>
              <a:rect r="r" b="b" t="t" l="l"/>
              <a:pathLst>
                <a:path h="633984" w="18166080">
                  <a:moveTo>
                    <a:pt x="0" y="0"/>
                  </a:moveTo>
                  <a:lnTo>
                    <a:pt x="18166080" y="0"/>
                  </a:lnTo>
                  <a:lnTo>
                    <a:pt x="181660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8321" r="0" b="-508321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181660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97A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youtube.com/watch?v=8pKjULHzs0s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5739141" y="3829564"/>
            <a:ext cx="1805887" cy="652777"/>
            <a:chOff x="0" y="0"/>
            <a:chExt cx="2117431" cy="76539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8022" y="16891"/>
              <a:ext cx="2081292" cy="731520"/>
            </a:xfrm>
            <a:custGeom>
              <a:avLst/>
              <a:gdLst/>
              <a:ahLst/>
              <a:cxnLst/>
              <a:rect r="r" b="b" t="t" l="l"/>
              <a:pathLst>
                <a:path h="731520" w="2081292">
                  <a:moveTo>
                    <a:pt x="0" y="121920"/>
                  </a:moveTo>
                  <a:cubicBezTo>
                    <a:pt x="0" y="54610"/>
                    <a:pt x="59891" y="0"/>
                    <a:pt x="133739" y="0"/>
                  </a:cubicBezTo>
                  <a:lnTo>
                    <a:pt x="1947553" y="0"/>
                  </a:lnTo>
                  <a:cubicBezTo>
                    <a:pt x="2021401" y="0"/>
                    <a:pt x="2081292" y="54610"/>
                    <a:pt x="2081292" y="121920"/>
                  </a:cubicBezTo>
                  <a:lnTo>
                    <a:pt x="2081292" y="609600"/>
                  </a:lnTo>
                  <a:cubicBezTo>
                    <a:pt x="2081292" y="676910"/>
                    <a:pt x="2021401" y="731520"/>
                    <a:pt x="1947553" y="731520"/>
                  </a:cubicBezTo>
                  <a:lnTo>
                    <a:pt x="133874" y="731520"/>
                  </a:lnTo>
                  <a:cubicBezTo>
                    <a:pt x="60026" y="731520"/>
                    <a:pt x="135" y="676910"/>
                    <a:pt x="135" y="609600"/>
                  </a:cubicBezTo>
                  <a:close/>
                </a:path>
              </a:pathLst>
            </a:custGeom>
            <a:solidFill>
              <a:srgbClr val="E3F2FD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117469" cy="765302"/>
            </a:xfrm>
            <a:custGeom>
              <a:avLst/>
              <a:gdLst/>
              <a:ahLst/>
              <a:cxnLst/>
              <a:rect r="r" b="b" t="t" l="l"/>
              <a:pathLst>
                <a:path h="765302" w="2117469">
                  <a:moveTo>
                    <a:pt x="0" y="138811"/>
                  </a:moveTo>
                  <a:cubicBezTo>
                    <a:pt x="0" y="61722"/>
                    <a:pt x="68428" y="0"/>
                    <a:pt x="151896" y="0"/>
                  </a:cubicBezTo>
                  <a:lnTo>
                    <a:pt x="1965575" y="0"/>
                  </a:lnTo>
                  <a:lnTo>
                    <a:pt x="1965575" y="16891"/>
                  </a:lnTo>
                  <a:lnTo>
                    <a:pt x="1965575" y="0"/>
                  </a:lnTo>
                  <a:cubicBezTo>
                    <a:pt x="2048908" y="0"/>
                    <a:pt x="2117469" y="61722"/>
                    <a:pt x="2117469" y="138811"/>
                  </a:cubicBezTo>
                  <a:lnTo>
                    <a:pt x="2099450" y="138811"/>
                  </a:lnTo>
                  <a:lnTo>
                    <a:pt x="2117469" y="138811"/>
                  </a:lnTo>
                  <a:lnTo>
                    <a:pt x="2117469" y="626491"/>
                  </a:lnTo>
                  <a:lnTo>
                    <a:pt x="2099450" y="626491"/>
                  </a:lnTo>
                  <a:lnTo>
                    <a:pt x="2117469" y="626491"/>
                  </a:lnTo>
                  <a:cubicBezTo>
                    <a:pt x="2117469" y="703580"/>
                    <a:pt x="2049043" y="765302"/>
                    <a:pt x="1965575" y="765302"/>
                  </a:cubicBezTo>
                  <a:lnTo>
                    <a:pt x="1965575" y="748411"/>
                  </a:lnTo>
                  <a:lnTo>
                    <a:pt x="1965575" y="765302"/>
                  </a:lnTo>
                  <a:lnTo>
                    <a:pt x="151896" y="765302"/>
                  </a:lnTo>
                  <a:lnTo>
                    <a:pt x="151896" y="748411"/>
                  </a:lnTo>
                  <a:lnTo>
                    <a:pt x="151896" y="765302"/>
                  </a:lnTo>
                  <a:cubicBezTo>
                    <a:pt x="68428" y="765429"/>
                    <a:pt x="0" y="703707"/>
                    <a:pt x="0" y="626491"/>
                  </a:cubicBezTo>
                  <a:lnTo>
                    <a:pt x="0" y="138811"/>
                  </a:lnTo>
                  <a:lnTo>
                    <a:pt x="18022" y="138811"/>
                  </a:lnTo>
                  <a:lnTo>
                    <a:pt x="0" y="138811"/>
                  </a:lnTo>
                  <a:moveTo>
                    <a:pt x="36179" y="138811"/>
                  </a:moveTo>
                  <a:lnTo>
                    <a:pt x="36179" y="626491"/>
                  </a:lnTo>
                  <a:lnTo>
                    <a:pt x="18022" y="626491"/>
                  </a:lnTo>
                  <a:lnTo>
                    <a:pt x="36179" y="626491"/>
                  </a:lnTo>
                  <a:cubicBezTo>
                    <a:pt x="36179" y="684022"/>
                    <a:pt x="87534" y="731520"/>
                    <a:pt x="151896" y="731520"/>
                  </a:cubicBezTo>
                  <a:lnTo>
                    <a:pt x="1965575" y="731520"/>
                  </a:lnTo>
                  <a:cubicBezTo>
                    <a:pt x="2029938" y="731520"/>
                    <a:pt x="2081292" y="684022"/>
                    <a:pt x="2081292" y="626491"/>
                  </a:cubicBezTo>
                  <a:lnTo>
                    <a:pt x="2081292" y="138811"/>
                  </a:lnTo>
                  <a:cubicBezTo>
                    <a:pt x="2081292" y="81280"/>
                    <a:pt x="2029938" y="33782"/>
                    <a:pt x="1965575" y="33782"/>
                  </a:cubicBezTo>
                  <a:lnTo>
                    <a:pt x="151896" y="33782"/>
                  </a:lnTo>
                  <a:lnTo>
                    <a:pt x="151896" y="16891"/>
                  </a:lnTo>
                  <a:lnTo>
                    <a:pt x="151896" y="33909"/>
                  </a:lnTo>
                  <a:cubicBezTo>
                    <a:pt x="87534" y="33909"/>
                    <a:pt x="36179" y="81407"/>
                    <a:pt x="36179" y="138938"/>
                  </a:cubicBezTo>
                  <a:close/>
                </a:path>
              </a:pathLst>
            </a:custGeom>
            <a:solidFill>
              <a:srgbClr val="2196F3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5715493" y="3808481"/>
            <a:ext cx="1853184" cy="694944"/>
            <a:chOff x="0" y="0"/>
            <a:chExt cx="1950720" cy="73152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950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19507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565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Documentation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5737776" y="4907605"/>
            <a:ext cx="1805887" cy="652777"/>
            <a:chOff x="0" y="0"/>
            <a:chExt cx="2117431" cy="765391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8022" y="16891"/>
              <a:ext cx="2081292" cy="731520"/>
            </a:xfrm>
            <a:custGeom>
              <a:avLst/>
              <a:gdLst/>
              <a:ahLst/>
              <a:cxnLst/>
              <a:rect r="r" b="b" t="t" l="l"/>
              <a:pathLst>
                <a:path h="731520" w="2081292">
                  <a:moveTo>
                    <a:pt x="0" y="121920"/>
                  </a:moveTo>
                  <a:cubicBezTo>
                    <a:pt x="0" y="54610"/>
                    <a:pt x="59891" y="0"/>
                    <a:pt x="133739" y="0"/>
                  </a:cubicBezTo>
                  <a:lnTo>
                    <a:pt x="1947553" y="0"/>
                  </a:lnTo>
                  <a:cubicBezTo>
                    <a:pt x="2021401" y="0"/>
                    <a:pt x="2081292" y="54610"/>
                    <a:pt x="2081292" y="121920"/>
                  </a:cubicBezTo>
                  <a:lnTo>
                    <a:pt x="2081292" y="609600"/>
                  </a:lnTo>
                  <a:cubicBezTo>
                    <a:pt x="2081292" y="676910"/>
                    <a:pt x="2021401" y="731520"/>
                    <a:pt x="1947553" y="731520"/>
                  </a:cubicBezTo>
                  <a:lnTo>
                    <a:pt x="133874" y="731520"/>
                  </a:lnTo>
                  <a:cubicBezTo>
                    <a:pt x="60026" y="731520"/>
                    <a:pt x="135" y="676910"/>
                    <a:pt x="135" y="609600"/>
                  </a:cubicBezTo>
                  <a:close/>
                </a:path>
              </a:pathLst>
            </a:custGeom>
            <a:solidFill>
              <a:srgbClr val="E3F2FD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117469" cy="765302"/>
            </a:xfrm>
            <a:custGeom>
              <a:avLst/>
              <a:gdLst/>
              <a:ahLst/>
              <a:cxnLst/>
              <a:rect r="r" b="b" t="t" l="l"/>
              <a:pathLst>
                <a:path h="765302" w="2117469">
                  <a:moveTo>
                    <a:pt x="0" y="138811"/>
                  </a:moveTo>
                  <a:cubicBezTo>
                    <a:pt x="0" y="61722"/>
                    <a:pt x="68428" y="0"/>
                    <a:pt x="151896" y="0"/>
                  </a:cubicBezTo>
                  <a:lnTo>
                    <a:pt x="1965575" y="0"/>
                  </a:lnTo>
                  <a:lnTo>
                    <a:pt x="1965575" y="16891"/>
                  </a:lnTo>
                  <a:lnTo>
                    <a:pt x="1965575" y="0"/>
                  </a:lnTo>
                  <a:cubicBezTo>
                    <a:pt x="2048908" y="0"/>
                    <a:pt x="2117469" y="61722"/>
                    <a:pt x="2117469" y="138811"/>
                  </a:cubicBezTo>
                  <a:lnTo>
                    <a:pt x="2099450" y="138811"/>
                  </a:lnTo>
                  <a:lnTo>
                    <a:pt x="2117469" y="138811"/>
                  </a:lnTo>
                  <a:lnTo>
                    <a:pt x="2117469" y="626491"/>
                  </a:lnTo>
                  <a:lnTo>
                    <a:pt x="2099450" y="626491"/>
                  </a:lnTo>
                  <a:lnTo>
                    <a:pt x="2117469" y="626491"/>
                  </a:lnTo>
                  <a:cubicBezTo>
                    <a:pt x="2117469" y="703580"/>
                    <a:pt x="2049043" y="765302"/>
                    <a:pt x="1965575" y="765302"/>
                  </a:cubicBezTo>
                  <a:lnTo>
                    <a:pt x="1965575" y="748411"/>
                  </a:lnTo>
                  <a:lnTo>
                    <a:pt x="1965575" y="765302"/>
                  </a:lnTo>
                  <a:lnTo>
                    <a:pt x="151896" y="765302"/>
                  </a:lnTo>
                  <a:lnTo>
                    <a:pt x="151896" y="748411"/>
                  </a:lnTo>
                  <a:lnTo>
                    <a:pt x="151896" y="765302"/>
                  </a:lnTo>
                  <a:cubicBezTo>
                    <a:pt x="68428" y="765429"/>
                    <a:pt x="0" y="703707"/>
                    <a:pt x="0" y="626491"/>
                  </a:cubicBezTo>
                  <a:lnTo>
                    <a:pt x="0" y="138811"/>
                  </a:lnTo>
                  <a:lnTo>
                    <a:pt x="18022" y="138811"/>
                  </a:lnTo>
                  <a:lnTo>
                    <a:pt x="0" y="138811"/>
                  </a:lnTo>
                  <a:moveTo>
                    <a:pt x="36179" y="138811"/>
                  </a:moveTo>
                  <a:lnTo>
                    <a:pt x="36179" y="626491"/>
                  </a:lnTo>
                  <a:lnTo>
                    <a:pt x="18022" y="626491"/>
                  </a:lnTo>
                  <a:lnTo>
                    <a:pt x="36179" y="626491"/>
                  </a:lnTo>
                  <a:cubicBezTo>
                    <a:pt x="36179" y="684022"/>
                    <a:pt x="87534" y="731520"/>
                    <a:pt x="151896" y="731520"/>
                  </a:cubicBezTo>
                  <a:lnTo>
                    <a:pt x="1965575" y="731520"/>
                  </a:lnTo>
                  <a:cubicBezTo>
                    <a:pt x="2029938" y="731520"/>
                    <a:pt x="2081292" y="684022"/>
                    <a:pt x="2081292" y="626491"/>
                  </a:cubicBezTo>
                  <a:lnTo>
                    <a:pt x="2081292" y="138811"/>
                  </a:lnTo>
                  <a:cubicBezTo>
                    <a:pt x="2081292" y="81280"/>
                    <a:pt x="2029938" y="33782"/>
                    <a:pt x="1965575" y="33782"/>
                  </a:cubicBezTo>
                  <a:lnTo>
                    <a:pt x="151896" y="33782"/>
                  </a:lnTo>
                  <a:lnTo>
                    <a:pt x="151896" y="16891"/>
                  </a:lnTo>
                  <a:lnTo>
                    <a:pt x="151896" y="33909"/>
                  </a:lnTo>
                  <a:cubicBezTo>
                    <a:pt x="87534" y="33909"/>
                    <a:pt x="36179" y="81407"/>
                    <a:pt x="36179" y="138938"/>
                  </a:cubicBezTo>
                  <a:close/>
                </a:path>
              </a:pathLst>
            </a:custGeom>
            <a:solidFill>
              <a:srgbClr val="2196F3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5714128" y="4886521"/>
            <a:ext cx="1853184" cy="694944"/>
            <a:chOff x="0" y="0"/>
            <a:chExt cx="1950720" cy="73152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950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19507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565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Documentation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5739141" y="5914392"/>
            <a:ext cx="1805887" cy="652777"/>
            <a:chOff x="0" y="0"/>
            <a:chExt cx="2117431" cy="765391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8022" y="16891"/>
              <a:ext cx="2081292" cy="731520"/>
            </a:xfrm>
            <a:custGeom>
              <a:avLst/>
              <a:gdLst/>
              <a:ahLst/>
              <a:cxnLst/>
              <a:rect r="r" b="b" t="t" l="l"/>
              <a:pathLst>
                <a:path h="731520" w="2081292">
                  <a:moveTo>
                    <a:pt x="0" y="121920"/>
                  </a:moveTo>
                  <a:cubicBezTo>
                    <a:pt x="0" y="54610"/>
                    <a:pt x="59891" y="0"/>
                    <a:pt x="133739" y="0"/>
                  </a:cubicBezTo>
                  <a:lnTo>
                    <a:pt x="1947553" y="0"/>
                  </a:lnTo>
                  <a:cubicBezTo>
                    <a:pt x="2021401" y="0"/>
                    <a:pt x="2081292" y="54610"/>
                    <a:pt x="2081292" y="121920"/>
                  </a:cubicBezTo>
                  <a:lnTo>
                    <a:pt x="2081292" y="609600"/>
                  </a:lnTo>
                  <a:cubicBezTo>
                    <a:pt x="2081292" y="676910"/>
                    <a:pt x="2021401" y="731520"/>
                    <a:pt x="1947553" y="731520"/>
                  </a:cubicBezTo>
                  <a:lnTo>
                    <a:pt x="133874" y="731520"/>
                  </a:lnTo>
                  <a:cubicBezTo>
                    <a:pt x="60026" y="731520"/>
                    <a:pt x="135" y="676910"/>
                    <a:pt x="135" y="609600"/>
                  </a:cubicBezTo>
                  <a:close/>
                </a:path>
              </a:pathLst>
            </a:custGeom>
            <a:solidFill>
              <a:srgbClr val="E3F2FD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117469" cy="765302"/>
            </a:xfrm>
            <a:custGeom>
              <a:avLst/>
              <a:gdLst/>
              <a:ahLst/>
              <a:cxnLst/>
              <a:rect r="r" b="b" t="t" l="l"/>
              <a:pathLst>
                <a:path h="765302" w="2117469">
                  <a:moveTo>
                    <a:pt x="0" y="138811"/>
                  </a:moveTo>
                  <a:cubicBezTo>
                    <a:pt x="0" y="61722"/>
                    <a:pt x="68428" y="0"/>
                    <a:pt x="151896" y="0"/>
                  </a:cubicBezTo>
                  <a:lnTo>
                    <a:pt x="1965575" y="0"/>
                  </a:lnTo>
                  <a:lnTo>
                    <a:pt x="1965575" y="16891"/>
                  </a:lnTo>
                  <a:lnTo>
                    <a:pt x="1965575" y="0"/>
                  </a:lnTo>
                  <a:cubicBezTo>
                    <a:pt x="2048908" y="0"/>
                    <a:pt x="2117469" y="61722"/>
                    <a:pt x="2117469" y="138811"/>
                  </a:cubicBezTo>
                  <a:lnTo>
                    <a:pt x="2099450" y="138811"/>
                  </a:lnTo>
                  <a:lnTo>
                    <a:pt x="2117469" y="138811"/>
                  </a:lnTo>
                  <a:lnTo>
                    <a:pt x="2117469" y="626491"/>
                  </a:lnTo>
                  <a:lnTo>
                    <a:pt x="2099450" y="626491"/>
                  </a:lnTo>
                  <a:lnTo>
                    <a:pt x="2117469" y="626491"/>
                  </a:lnTo>
                  <a:cubicBezTo>
                    <a:pt x="2117469" y="703580"/>
                    <a:pt x="2049043" y="765302"/>
                    <a:pt x="1965575" y="765302"/>
                  </a:cubicBezTo>
                  <a:lnTo>
                    <a:pt x="1965575" y="748411"/>
                  </a:lnTo>
                  <a:lnTo>
                    <a:pt x="1965575" y="765302"/>
                  </a:lnTo>
                  <a:lnTo>
                    <a:pt x="151896" y="765302"/>
                  </a:lnTo>
                  <a:lnTo>
                    <a:pt x="151896" y="748411"/>
                  </a:lnTo>
                  <a:lnTo>
                    <a:pt x="151896" y="765302"/>
                  </a:lnTo>
                  <a:cubicBezTo>
                    <a:pt x="68428" y="765429"/>
                    <a:pt x="0" y="703707"/>
                    <a:pt x="0" y="626491"/>
                  </a:cubicBezTo>
                  <a:lnTo>
                    <a:pt x="0" y="138811"/>
                  </a:lnTo>
                  <a:lnTo>
                    <a:pt x="18022" y="138811"/>
                  </a:lnTo>
                  <a:lnTo>
                    <a:pt x="0" y="138811"/>
                  </a:lnTo>
                  <a:moveTo>
                    <a:pt x="36179" y="138811"/>
                  </a:moveTo>
                  <a:lnTo>
                    <a:pt x="36179" y="626491"/>
                  </a:lnTo>
                  <a:lnTo>
                    <a:pt x="18022" y="626491"/>
                  </a:lnTo>
                  <a:lnTo>
                    <a:pt x="36179" y="626491"/>
                  </a:lnTo>
                  <a:cubicBezTo>
                    <a:pt x="36179" y="684022"/>
                    <a:pt x="87534" y="731520"/>
                    <a:pt x="151896" y="731520"/>
                  </a:cubicBezTo>
                  <a:lnTo>
                    <a:pt x="1965575" y="731520"/>
                  </a:lnTo>
                  <a:cubicBezTo>
                    <a:pt x="2029938" y="731520"/>
                    <a:pt x="2081292" y="684022"/>
                    <a:pt x="2081292" y="626491"/>
                  </a:cubicBezTo>
                  <a:lnTo>
                    <a:pt x="2081292" y="138811"/>
                  </a:lnTo>
                  <a:cubicBezTo>
                    <a:pt x="2081292" y="81280"/>
                    <a:pt x="2029938" y="33782"/>
                    <a:pt x="1965575" y="33782"/>
                  </a:cubicBezTo>
                  <a:lnTo>
                    <a:pt x="151896" y="33782"/>
                  </a:lnTo>
                  <a:lnTo>
                    <a:pt x="151896" y="16891"/>
                  </a:lnTo>
                  <a:lnTo>
                    <a:pt x="151896" y="33909"/>
                  </a:lnTo>
                  <a:cubicBezTo>
                    <a:pt x="87534" y="33909"/>
                    <a:pt x="36179" y="81407"/>
                    <a:pt x="36179" y="138938"/>
                  </a:cubicBezTo>
                  <a:close/>
                </a:path>
              </a:pathLst>
            </a:custGeom>
            <a:solidFill>
              <a:srgbClr val="2196F3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5715493" y="5893308"/>
            <a:ext cx="1853184" cy="694944"/>
            <a:chOff x="0" y="0"/>
            <a:chExt cx="1950720" cy="73152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950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19507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565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Documentation</a:t>
              </a:r>
            </a:p>
          </p:txBody>
        </p:sp>
      </p:grpSp>
      <p:sp>
        <p:nvSpPr>
          <p:cNvPr name="Freeform 116" id="116"/>
          <p:cNvSpPr/>
          <p:nvPr/>
        </p:nvSpPr>
        <p:spPr>
          <a:xfrm flipH="false" flipV="false" rot="0">
            <a:off x="478104" y="279391"/>
            <a:ext cx="2436829" cy="1359547"/>
          </a:xfrm>
          <a:custGeom>
            <a:avLst/>
            <a:gdLst/>
            <a:ahLst/>
            <a:cxnLst/>
            <a:rect r="r" b="b" t="t" l="l"/>
            <a:pathLst>
              <a:path h="1359547" w="2436829">
                <a:moveTo>
                  <a:pt x="0" y="0"/>
                </a:moveTo>
                <a:lnTo>
                  <a:pt x="2436829" y="0"/>
                </a:lnTo>
                <a:lnTo>
                  <a:pt x="2436829" y="1359547"/>
                </a:lnTo>
                <a:lnTo>
                  <a:pt x="0" y="13595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DAHIlhzj1DI</dc:identifier>
  <dcterms:modified xsi:type="dcterms:W3CDTF">2011-08-01T06:04:30Z</dcterms:modified>
  <cp:revision>1</cp:revision>
  <dc:title>BÁO CÁO GIỮA KỲ</dc:title>
</cp:coreProperties>
</file>